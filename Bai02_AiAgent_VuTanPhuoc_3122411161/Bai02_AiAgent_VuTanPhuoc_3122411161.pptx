
<file path=[Content_Types].xml><?xml version="1.0" encoding="utf-8"?>
<Types xmlns="http://schemas.openxmlformats.org/package/2006/content-types">
  <Default ContentType="application/x-fontdata" Extension="fntdata"/>
  <Default ContentType="image/jpeg" Extension="jpeg"/>
  <Default ContentType="image/png" Extension="png"/>
  <Default ContentType="application/vnd.openxmlformats-package.relationships+xml" Extension="rels"/>
  <Default ContentType="application/xml" Extension="xml"/>
  <Override ContentType="application/vnd.openxmlformats-officedocument.extended-properties+xml" PartName="/docProps/app.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presentationml.slideLayout+xml" PartName="/ppt/slideLayouts/slideLayout1.xml"/>
  <Override ContentType="application/vnd.openxmlformats-officedocument.presentationml.slideLayout+xml" PartName="/ppt/slideLayouts/slideLayout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6.xml"/>
  <Override ContentType="application/vnd.openxmlformats-officedocument.presentationml.slideLayout+xml" PartName="/ppt/slideLayouts/slideLayout7.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Layout+xml" PartName="/ppt/slideLayouts/slideLayout10.xml"/>
  <Override ContentType="application/vnd.openxmlformats-officedocument.presentationml.slideLayout+xml" PartName="/ppt/slideLayouts/slideLayout11.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4.xml"/>
  <Override ContentType="application/vnd.openxmlformats-officedocument.presentationml.slide+xml" PartName="/ppt/slides/slide5.xml"/>
  <Override ContentType="application/vnd.openxmlformats-officedocument.presentationml.slide+xml" PartName="/ppt/slides/slide6.xml"/>
  <Override ContentType="application/vnd.openxmlformats-officedocument.presentationml.slide+xml" PartName="/ppt/slides/slide7.xml"/>
  <Override ContentType="application/vnd.openxmlformats-officedocument.presentationml.tableStyles+xml" PartName="/ppt/tableStyles.xml"/>
  <Override ContentType="application/vnd.openxmlformats-officedocument.theme+xml" PartName="/ppt/theme/theme1.xml"/>
  <Override ContentType="application/vnd.openxmlformats-officedocument.presentationml.viewProps+xml" PartName="/ppt/viewProps.xml"/>
</Types>
</file>

<file path=_rels/.rels><?xml version="1.0" encoding="UTF-8" standalone="yes"?><Relationships xmlns="http://schemas.openxmlformats.org/package/2006/relationships"><Relationship Id="rId1" Target="ppt/presentation.xml" Type="http://schemas.openxmlformats.org/officeDocument/2006/relationships/officeDocument"/><Relationship Id="rId2" Target="docProps/thumbnail.jpeg" Type="http://schemas.openxmlformats.org/package/2006/relationships/metadata/thumbnail"/><Relationship Id="rId3" Target="docProps/core.xml" Type="http://schemas.openxmlformats.org/package/2006/relationships/metadata/core-properties"/><Relationship Id="rId4" Target="docProps/app.xml" Type="http://schemas.openxmlformats.org/officeDocument/2006/relationships/extended-properties"/></Relationships>
</file>

<file path=ppt/presentation.xml><?xml version="1.0" encoding="utf-8"?>
<p:presentation xmlns:a="http://schemas.openxmlformats.org/drawingml/2006/main" xmlns:r="http://schemas.openxmlformats.org/officeDocument/2006/relationships" xmlns:p="http://schemas.openxmlformats.org/presentationml/2006/main" saveSubsetFonts="1" embedTrueTypeFonts="true">
  <p:sldMasterIdLst>
    <p:sldMasterId id="2147483648" r:id="rId1"/>
  </p:sldMasterIdLst>
  <p:sldIdLst>
    <p:sldId id="256" r:id="rId6"/>
    <p:sldId id="257" r:id="rId7"/>
    <p:sldId id="258" r:id="rId8"/>
    <p:sldId id="259" r:id="rId9"/>
    <p:sldId id="260" r:id="rId10"/>
    <p:sldId id="261" r:id="rId11"/>
    <p:sldId id="262" r:id="rId12"/>
  </p:sldIdLst>
  <p:sldSz cx="18288000" cy="10287000"/>
  <p:notesSz cx="6858000" cy="9144000"/>
  <p:embeddedFontLst>
    <p:embeddedFont>
      <p:font typeface="Georgia Pro Light" charset="1" panose="02040302050405020303"/>
      <p:regular r:id="rId13"/>
    </p:embeddedFont>
    <p:embeddedFont>
      <p:font typeface="DM Sans" charset="1" panose="00000000000000000000"/>
      <p:regular r:id="rId14"/>
    </p:embeddedFont>
    <p:embeddedFont>
      <p:font typeface="DM Sans Bold" charset="1" panose="00000000000000000000"/>
      <p:regular r:id="rId15"/>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Relationships xmlns="http://schemas.openxmlformats.org/package/2006/relationships"><Relationship Id="rId1" Target="slideMasters/slideMaster1.xml" Type="http://schemas.openxmlformats.org/officeDocument/2006/relationships/slideMaster"/><Relationship Id="rId10" Target="slides/slide5.xml" Type="http://schemas.openxmlformats.org/officeDocument/2006/relationships/slide"/><Relationship Id="rId11" Target="slides/slide6.xml" Type="http://schemas.openxmlformats.org/officeDocument/2006/relationships/slide"/><Relationship Id="rId12" Target="slides/slide7.xml" Type="http://schemas.openxmlformats.org/officeDocument/2006/relationships/slide"/><Relationship Id="rId13" Target="fonts/font13.fntdata" Type="http://schemas.openxmlformats.org/officeDocument/2006/relationships/font"/><Relationship Id="rId14" Target="fonts/font14.fntdata" Type="http://schemas.openxmlformats.org/officeDocument/2006/relationships/font"/><Relationship Id="rId15" Target="fonts/font15.fntdata" Type="http://schemas.openxmlformats.org/officeDocument/2006/relationships/font"/><Relationship Id="rId2" Target="presProps.xml" Type="http://schemas.openxmlformats.org/officeDocument/2006/relationships/presProps"/><Relationship Id="rId3" Target="viewProps.xml" Type="http://schemas.openxmlformats.org/officeDocument/2006/relationships/viewProps"/><Relationship Id="rId4" Target="theme/theme1.xml" Type="http://schemas.openxmlformats.org/officeDocument/2006/relationships/theme"/><Relationship Id="rId5" Target="tableStyles.xml" Type="http://schemas.openxmlformats.org/officeDocument/2006/relationships/tableStyles"/><Relationship Id="rId6" Target="slides/slide1.xml" Type="http://schemas.openxmlformats.org/officeDocument/2006/relationships/slide"/><Relationship Id="rId7" Target="slides/slide2.xml" Type="http://schemas.openxmlformats.org/officeDocument/2006/relationships/slide"/><Relationship Id="rId8" Target="slides/slide3.xml" Type="http://schemas.openxmlformats.org/officeDocument/2006/relationships/slide"/><Relationship Id="rId9" Target="slides/slide4.xml" Type="http://schemas.openxmlformats.org/officeDocument/2006/relationships/slide"/></Relationships>
</file>

<file path=ppt/slideLayouts/_rels/slideLayout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2.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3.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4.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5.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6.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7.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8.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9.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0.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8/1/2011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8/1/2011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Relationships xmlns="http://schemas.openxmlformats.org/package/2006/relationships"><Relationship Id="rId1" Target="../slideLayouts/slideLayout1.xml" Type="http://schemas.openxmlformats.org/officeDocument/2006/relationships/slideLayout"/><Relationship Id="rId10" Target="../slideLayouts/slideLayout10.xml" Type="http://schemas.openxmlformats.org/officeDocument/2006/relationships/slideLayout"/><Relationship Id="rId11" Target="../slideLayouts/slideLayout11.xml" Type="http://schemas.openxmlformats.org/officeDocument/2006/relationships/slideLayout"/><Relationship Id="rId12" Target="../theme/theme1.xml" Type="http://schemas.openxmlformats.org/officeDocument/2006/relationships/theme"/><Relationship Id="rId2" Target="../slideLayouts/slideLayout2.xml" Type="http://schemas.openxmlformats.org/officeDocument/2006/relationships/slideLayout"/><Relationship Id="rId3" Target="../slideLayouts/slideLayout3.xml" Type="http://schemas.openxmlformats.org/officeDocument/2006/relationships/slideLayout"/><Relationship Id="rId4" Target="../slideLayouts/slideLayout4.xml" Type="http://schemas.openxmlformats.org/officeDocument/2006/relationships/slideLayout"/><Relationship Id="rId5" Target="../slideLayouts/slideLayout5.xml" Type="http://schemas.openxmlformats.org/officeDocument/2006/relationships/slideLayout"/><Relationship Id="rId6" Target="../slideLayouts/slideLayout6.xml" Type="http://schemas.openxmlformats.org/officeDocument/2006/relationships/slideLayout"/><Relationship Id="rId7" Target="../slideLayouts/slideLayout7.xml" Type="http://schemas.openxmlformats.org/officeDocument/2006/relationships/slideLayout"/><Relationship Id="rId8" Target="../slideLayouts/slideLayout8.xml" Type="http://schemas.openxmlformats.org/officeDocument/2006/relationships/slideLayout"/><Relationship Id="rId9" Target="../slideLayouts/slideLayout9.xml" Type="http://schemas.openxmlformats.org/officeDocument/2006/relationships/slideLayout"/></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s>
</file>

<file path=ppt/slides/_rels/slide2.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png" Type="http://schemas.openxmlformats.org/officeDocument/2006/relationships/image"/></Relationships>
</file>

<file path=ppt/slides/_rels/slide4.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5.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3.png" Type="http://schemas.openxmlformats.org/officeDocument/2006/relationships/image"/></Relationships>
</file>

<file path=ppt/slides/_rels/slide6.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4.png" Type="http://schemas.openxmlformats.org/officeDocument/2006/relationships/image"/></Relationships>
</file>

<file path=ppt/slides/_rels/slide7.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slide1.xml><?xml version="1.0" encoding="utf-8"?>
<p:sld xmlns:p="http://schemas.openxmlformats.org/presentationml/2006/main" xmlns:a="http://schemas.openxmlformats.org/drawingml/2006/main" xmlns:r="http://schemas.openxmlformats.org/officeDocument/2006/relationships">
  <p:cSld>
    <p:bg>
      <p:bgPr>
        <a:solidFill>
          <a:srgbClr val="ABC9F4"/>
        </a:solidFill>
      </p:bgPr>
    </p:bg>
    <p:spTree>
      <p:nvGrpSpPr>
        <p:cNvPr id="1" name=""/>
        <p:cNvGrpSpPr/>
        <p:nvPr/>
      </p:nvGrpSpPr>
      <p:grpSpPr>
        <a:xfrm>
          <a:off x="0" y="0"/>
          <a:ext cx="0" cy="0"/>
          <a:chOff x="0" y="0"/>
          <a:chExt cx="0" cy="0"/>
        </a:xfrm>
      </p:grpSpPr>
      <p:grpSp>
        <p:nvGrpSpPr>
          <p:cNvPr name="Group 2" id="2"/>
          <p:cNvGrpSpPr/>
          <p:nvPr/>
        </p:nvGrpSpPr>
        <p:grpSpPr>
          <a:xfrm rot="0">
            <a:off x="0" y="0"/>
            <a:ext cx="8991600" cy="10287000"/>
            <a:chOff x="0" y="0"/>
            <a:chExt cx="1035548" cy="1184737"/>
          </a:xfrm>
        </p:grpSpPr>
        <p:sp>
          <p:nvSpPr>
            <p:cNvPr name="Freeform 3" id="3"/>
            <p:cNvSpPr/>
            <p:nvPr/>
          </p:nvSpPr>
          <p:spPr>
            <a:xfrm flipH="false" flipV="false" rot="0">
              <a:off x="0" y="0"/>
              <a:ext cx="1035548" cy="1184737"/>
            </a:xfrm>
            <a:custGeom>
              <a:avLst/>
              <a:gdLst/>
              <a:ahLst/>
              <a:cxnLst/>
              <a:rect r="r" b="b" t="t" l="l"/>
              <a:pathLst>
                <a:path h="1184737" w="1035548">
                  <a:moveTo>
                    <a:pt x="0" y="0"/>
                  </a:moveTo>
                  <a:lnTo>
                    <a:pt x="1035548" y="0"/>
                  </a:lnTo>
                  <a:lnTo>
                    <a:pt x="1035548" y="1184737"/>
                  </a:lnTo>
                  <a:lnTo>
                    <a:pt x="0" y="1184737"/>
                  </a:lnTo>
                  <a:close/>
                </a:path>
              </a:pathLst>
            </a:custGeom>
            <a:blipFill>
              <a:blip r:embed="rId2"/>
              <a:stretch>
                <a:fillRect l="-7203" t="0" r="-7203" b="0"/>
              </a:stretch>
            </a:blipFill>
          </p:spPr>
        </p:sp>
      </p:grpSp>
      <p:sp>
        <p:nvSpPr>
          <p:cNvPr name="TextBox 4" id="4"/>
          <p:cNvSpPr txBox="true"/>
          <p:nvPr/>
        </p:nvSpPr>
        <p:spPr>
          <a:xfrm rot="0">
            <a:off x="11340678" y="762000"/>
            <a:ext cx="6280572" cy="489834"/>
          </a:xfrm>
          <a:prstGeom prst="rect">
            <a:avLst/>
          </a:prstGeom>
        </p:spPr>
        <p:txBody>
          <a:bodyPr anchor="t" rtlCol="false" tIns="0" lIns="0" bIns="0" rIns="0">
            <a:spAutoFit/>
          </a:bodyPr>
          <a:lstStyle/>
          <a:p>
            <a:pPr algn="l" marL="0" indent="0" lvl="0">
              <a:lnSpc>
                <a:spcPts val="3555"/>
              </a:lnSpc>
            </a:pPr>
            <a:r>
              <a:rPr lang="en-US" sz="3864" spc="-77">
                <a:solidFill>
                  <a:srgbClr val="000000"/>
                </a:solidFill>
                <a:latin typeface="Georgia Pro Light"/>
                <a:ea typeface="Georgia Pro Light"/>
                <a:cs typeface="Georgia Pro Light"/>
                <a:sym typeface="Georgia Pro Light"/>
              </a:rPr>
              <a:t>Trường Đại học Sài Gòn</a:t>
            </a:r>
          </a:p>
        </p:txBody>
      </p:sp>
      <p:grpSp>
        <p:nvGrpSpPr>
          <p:cNvPr name="Group 5" id="5"/>
          <p:cNvGrpSpPr/>
          <p:nvPr/>
        </p:nvGrpSpPr>
        <p:grpSpPr>
          <a:xfrm rot="0">
            <a:off x="10734675" y="1562100"/>
            <a:ext cx="6886575" cy="3013778"/>
            <a:chOff x="0" y="0"/>
            <a:chExt cx="9182100" cy="4018370"/>
          </a:xfrm>
        </p:grpSpPr>
        <p:sp>
          <p:nvSpPr>
            <p:cNvPr name="TextBox 6" id="6"/>
            <p:cNvSpPr txBox="true"/>
            <p:nvPr/>
          </p:nvSpPr>
          <p:spPr>
            <a:xfrm rot="0">
              <a:off x="0" y="200025"/>
              <a:ext cx="9182100" cy="1920867"/>
            </a:xfrm>
            <a:prstGeom prst="rect">
              <a:avLst/>
            </a:prstGeom>
          </p:spPr>
          <p:txBody>
            <a:bodyPr anchor="t" rtlCol="false" tIns="0" lIns="0" bIns="0" rIns="0">
              <a:spAutoFit/>
            </a:bodyPr>
            <a:lstStyle/>
            <a:p>
              <a:pPr algn="l" marL="0" indent="0" lvl="0">
                <a:lnSpc>
                  <a:spcPts val="10499"/>
                </a:lnSpc>
              </a:pPr>
              <a:r>
                <a:rPr lang="en-US" sz="10499">
                  <a:solidFill>
                    <a:srgbClr val="000000"/>
                  </a:solidFill>
                  <a:latin typeface="Georgia Pro Light"/>
                  <a:ea typeface="Georgia Pro Light"/>
                  <a:cs typeface="Georgia Pro Light"/>
                  <a:sym typeface="Georgia Pro Light"/>
                </a:rPr>
                <a:t>Trợ lý ảo</a:t>
              </a:r>
            </a:p>
          </p:txBody>
        </p:sp>
        <p:sp>
          <p:nvSpPr>
            <p:cNvPr name="TextBox 7" id="7"/>
            <p:cNvSpPr txBox="true"/>
            <p:nvPr/>
          </p:nvSpPr>
          <p:spPr>
            <a:xfrm rot="0">
              <a:off x="0" y="2371815"/>
              <a:ext cx="9172670" cy="1646555"/>
            </a:xfrm>
            <a:prstGeom prst="rect">
              <a:avLst/>
            </a:prstGeom>
          </p:spPr>
          <p:txBody>
            <a:bodyPr anchor="t" rtlCol="false" tIns="0" lIns="0" bIns="0" rIns="0">
              <a:spAutoFit/>
            </a:bodyPr>
            <a:lstStyle/>
            <a:p>
              <a:pPr algn="l" marL="0" indent="0" lvl="0">
                <a:lnSpc>
                  <a:spcPts val="5039"/>
                </a:lnSpc>
              </a:pPr>
              <a:r>
                <a:rPr lang="en-US" sz="3599">
                  <a:solidFill>
                    <a:srgbClr val="000000"/>
                  </a:solidFill>
                  <a:latin typeface="DM Sans"/>
                  <a:ea typeface="DM Sans"/>
                  <a:cs typeface="DM Sans"/>
                  <a:sym typeface="DM Sans"/>
                </a:rPr>
                <a:t>Hệ thống quản trị tài chính tích hợp</a:t>
              </a:r>
            </a:p>
          </p:txBody>
        </p:sp>
      </p:grpSp>
      <p:grpSp>
        <p:nvGrpSpPr>
          <p:cNvPr name="Group 8" id="8"/>
          <p:cNvGrpSpPr/>
          <p:nvPr/>
        </p:nvGrpSpPr>
        <p:grpSpPr>
          <a:xfrm rot="0">
            <a:off x="10744200" y="8740903"/>
            <a:ext cx="5743575" cy="888872"/>
            <a:chOff x="0" y="0"/>
            <a:chExt cx="7658100" cy="1185162"/>
          </a:xfrm>
        </p:grpSpPr>
        <p:sp>
          <p:nvSpPr>
            <p:cNvPr name="TextBox 9" id="9"/>
            <p:cNvSpPr txBox="true"/>
            <p:nvPr/>
          </p:nvSpPr>
          <p:spPr>
            <a:xfrm rot="0">
              <a:off x="0" y="691344"/>
              <a:ext cx="7658100" cy="493818"/>
            </a:xfrm>
            <a:prstGeom prst="rect">
              <a:avLst/>
            </a:prstGeom>
          </p:spPr>
          <p:txBody>
            <a:bodyPr anchor="t" rtlCol="false" tIns="0" lIns="0" bIns="0" rIns="0">
              <a:spAutoFit/>
            </a:bodyPr>
            <a:lstStyle/>
            <a:p>
              <a:pPr algn="l" marL="0" indent="0" lvl="0">
                <a:lnSpc>
                  <a:spcPts val="3080"/>
                </a:lnSpc>
                <a:spcBef>
                  <a:spcPct val="0"/>
                </a:spcBef>
              </a:pPr>
              <a:r>
                <a:rPr lang="en-US" sz="2200">
                  <a:solidFill>
                    <a:srgbClr val="000000"/>
                  </a:solidFill>
                  <a:latin typeface="DM Sans"/>
                  <a:ea typeface="DM Sans"/>
                  <a:cs typeface="DM Sans"/>
                  <a:sym typeface="DM Sans"/>
                </a:rPr>
                <a:t>Vũ Tấn Phước</a:t>
              </a:r>
            </a:p>
          </p:txBody>
        </p:sp>
        <p:sp>
          <p:nvSpPr>
            <p:cNvPr name="TextBox 10" id="10"/>
            <p:cNvSpPr txBox="true"/>
            <p:nvPr/>
          </p:nvSpPr>
          <p:spPr>
            <a:xfrm rot="0">
              <a:off x="0" y="-47625"/>
              <a:ext cx="7658100" cy="569172"/>
            </a:xfrm>
            <a:prstGeom prst="rect">
              <a:avLst/>
            </a:prstGeom>
          </p:spPr>
          <p:txBody>
            <a:bodyPr anchor="t" rtlCol="false" tIns="0" lIns="0" bIns="0" rIns="0">
              <a:spAutoFit/>
            </a:bodyPr>
            <a:lstStyle/>
            <a:p>
              <a:pPr algn="l" marL="0" indent="0" lvl="0">
                <a:lnSpc>
                  <a:spcPts val="3640"/>
                </a:lnSpc>
                <a:spcBef>
                  <a:spcPct val="0"/>
                </a:spcBef>
              </a:pPr>
              <a:r>
                <a:rPr lang="en-US" b="true" sz="2600">
                  <a:solidFill>
                    <a:srgbClr val="000000"/>
                  </a:solidFill>
                  <a:latin typeface="DM Sans Bold"/>
                  <a:ea typeface="DM Sans Bold"/>
                  <a:cs typeface="DM Sans Bold"/>
                  <a:sym typeface="DM Sans Bold"/>
                </a:rPr>
                <a:t>TRÌNH BÀY BỞI</a:t>
              </a:r>
            </a:p>
          </p:txBody>
        </p:sp>
      </p:grpSp>
    </p:spTree>
  </p:cSld>
  <p:clrMapOvr>
    <a:masterClrMapping/>
  </p:clrMapOvr>
</p:sld>
</file>

<file path=ppt/slides/slide2.xml><?xml version="1.0" encoding="utf-8"?>
<p:sld xmlns:p="http://schemas.openxmlformats.org/presentationml/2006/main" xmlns:a="http://schemas.openxmlformats.org/drawingml/2006/main">
  <p:cSld>
    <p:bg>
      <p:bgPr>
        <a:solidFill>
          <a:srgbClr val="ABC9F4"/>
        </a:solidFill>
      </p:bgPr>
    </p:bg>
    <p:spTree>
      <p:nvGrpSpPr>
        <p:cNvPr id="1" name=""/>
        <p:cNvGrpSpPr/>
        <p:nvPr/>
      </p:nvGrpSpPr>
      <p:grpSpPr>
        <a:xfrm>
          <a:off x="0" y="0"/>
          <a:ext cx="0" cy="0"/>
          <a:chOff x="0" y="0"/>
          <a:chExt cx="0" cy="0"/>
        </a:xfrm>
      </p:grpSpPr>
      <p:sp>
        <p:nvSpPr>
          <p:cNvPr name="TextBox 2" id="2"/>
          <p:cNvSpPr txBox="true"/>
          <p:nvPr/>
        </p:nvSpPr>
        <p:spPr>
          <a:xfrm rot="0">
            <a:off x="666750" y="733425"/>
            <a:ext cx="5753100" cy="2263778"/>
          </a:xfrm>
          <a:prstGeom prst="rect">
            <a:avLst/>
          </a:prstGeom>
        </p:spPr>
        <p:txBody>
          <a:bodyPr anchor="t" rtlCol="false" tIns="0" lIns="0" bIns="0" rIns="0">
            <a:spAutoFit/>
          </a:bodyPr>
          <a:lstStyle/>
          <a:p>
            <a:pPr algn="l" marL="0" indent="0" lvl="0">
              <a:lnSpc>
                <a:spcPts val="8800"/>
              </a:lnSpc>
              <a:spcBef>
                <a:spcPct val="0"/>
              </a:spcBef>
            </a:pPr>
            <a:r>
              <a:rPr lang="en-US" sz="8000">
                <a:solidFill>
                  <a:srgbClr val="000000"/>
                </a:solidFill>
                <a:latin typeface="Georgia Pro Light"/>
                <a:ea typeface="Georgia Pro Light"/>
                <a:cs typeface="Georgia Pro Light"/>
                <a:sym typeface="Georgia Pro Light"/>
              </a:rPr>
              <a:t>Bối cảnh và tính cấp thiết</a:t>
            </a:r>
          </a:p>
        </p:txBody>
      </p:sp>
      <p:sp>
        <p:nvSpPr>
          <p:cNvPr name="TextBox 3" id="3"/>
          <p:cNvSpPr txBox="true"/>
          <p:nvPr/>
        </p:nvSpPr>
        <p:spPr>
          <a:xfrm rot="0">
            <a:off x="9296400" y="2409825"/>
            <a:ext cx="7191375" cy="1108710"/>
          </a:xfrm>
          <a:prstGeom prst="rect">
            <a:avLst/>
          </a:prstGeom>
        </p:spPr>
        <p:txBody>
          <a:bodyPr anchor="t" rtlCol="false" tIns="0" lIns="0" bIns="0" rIns="0">
            <a:spAutoFit/>
          </a:bodyPr>
          <a:lstStyle/>
          <a:p>
            <a:pPr algn="l" marL="0" indent="0" lvl="0">
              <a:lnSpc>
                <a:spcPts val="2940"/>
              </a:lnSpc>
            </a:pPr>
            <a:r>
              <a:rPr lang="en-US" sz="2100">
                <a:solidFill>
                  <a:srgbClr val="000000"/>
                </a:solidFill>
                <a:latin typeface="DM Sans"/>
                <a:ea typeface="DM Sans"/>
                <a:cs typeface="DM Sans"/>
                <a:sym typeface="DM Sans"/>
              </a:rPr>
              <a:t>Quản lý tài chính thủ công dẫn đến </a:t>
            </a:r>
            <a:r>
              <a:rPr lang="en-US" b="true" sz="2100">
                <a:solidFill>
                  <a:srgbClr val="000000"/>
                </a:solidFill>
                <a:latin typeface="DM Sans Bold"/>
                <a:ea typeface="DM Sans Bold"/>
                <a:cs typeface="DM Sans Bold"/>
                <a:sym typeface="DM Sans Bold"/>
              </a:rPr>
              <a:t>mất thời gian</a:t>
            </a:r>
            <a:r>
              <a:rPr lang="en-US" sz="2100">
                <a:solidFill>
                  <a:srgbClr val="000000"/>
                </a:solidFill>
                <a:latin typeface="DM Sans"/>
                <a:ea typeface="DM Sans"/>
                <a:cs typeface="DM Sans"/>
                <a:sym typeface="DM Sans"/>
              </a:rPr>
              <a:t> và </a:t>
            </a:r>
            <a:r>
              <a:rPr lang="en-US" b="true" sz="2100">
                <a:solidFill>
                  <a:srgbClr val="000000"/>
                </a:solidFill>
                <a:latin typeface="DM Sans Bold"/>
                <a:ea typeface="DM Sans Bold"/>
                <a:cs typeface="DM Sans Bold"/>
                <a:sym typeface="DM Sans Bold"/>
              </a:rPr>
              <a:t>dễ sai sót</a:t>
            </a:r>
            <a:r>
              <a:rPr lang="en-US" sz="2100">
                <a:solidFill>
                  <a:srgbClr val="000000"/>
                </a:solidFill>
                <a:latin typeface="DM Sans"/>
                <a:ea typeface="DM Sans"/>
                <a:cs typeface="DM Sans"/>
                <a:sym typeface="DM Sans"/>
              </a:rPr>
              <a:t>. Người dùng thường cảm thấy khó khăn trong việc theo dõi các khoản chi tiêu hàng ngày.</a:t>
            </a:r>
          </a:p>
        </p:txBody>
      </p:sp>
      <p:sp>
        <p:nvSpPr>
          <p:cNvPr name="TextBox 4" id="4"/>
          <p:cNvSpPr txBox="true"/>
          <p:nvPr/>
        </p:nvSpPr>
        <p:spPr>
          <a:xfrm rot="0">
            <a:off x="9296400" y="1514475"/>
            <a:ext cx="7191375" cy="438785"/>
          </a:xfrm>
          <a:prstGeom prst="rect">
            <a:avLst/>
          </a:prstGeom>
        </p:spPr>
        <p:txBody>
          <a:bodyPr anchor="t" rtlCol="false" tIns="0" lIns="0" bIns="0" rIns="0">
            <a:spAutoFit/>
          </a:bodyPr>
          <a:lstStyle/>
          <a:p>
            <a:pPr algn="l" marL="0" indent="0" lvl="0">
              <a:lnSpc>
                <a:spcPts val="3640"/>
              </a:lnSpc>
            </a:pPr>
            <a:r>
              <a:rPr lang="en-US" b="true" sz="2600">
                <a:solidFill>
                  <a:srgbClr val="000000"/>
                </a:solidFill>
                <a:latin typeface="DM Sans Bold"/>
                <a:ea typeface="DM Sans Bold"/>
                <a:cs typeface="DM Sans Bold"/>
                <a:sym typeface="DM Sans Bold"/>
              </a:rPr>
              <a:t>THÁCH THỨC</a:t>
            </a:r>
          </a:p>
        </p:txBody>
      </p:sp>
      <p:sp>
        <p:nvSpPr>
          <p:cNvPr name="TextBox 5" id="5"/>
          <p:cNvSpPr txBox="true"/>
          <p:nvPr/>
        </p:nvSpPr>
        <p:spPr>
          <a:xfrm rot="0">
            <a:off x="9296400" y="5095875"/>
            <a:ext cx="7191375" cy="1108710"/>
          </a:xfrm>
          <a:prstGeom prst="rect">
            <a:avLst/>
          </a:prstGeom>
        </p:spPr>
        <p:txBody>
          <a:bodyPr anchor="t" rtlCol="false" tIns="0" lIns="0" bIns="0" rIns="0">
            <a:spAutoFit/>
          </a:bodyPr>
          <a:lstStyle/>
          <a:p>
            <a:pPr algn="l" marL="0" indent="0" lvl="0">
              <a:lnSpc>
                <a:spcPts val="2940"/>
              </a:lnSpc>
            </a:pPr>
            <a:r>
              <a:rPr lang="en-US" sz="2100">
                <a:solidFill>
                  <a:srgbClr val="000000"/>
                </a:solidFill>
                <a:latin typeface="DM Sans"/>
                <a:ea typeface="DM Sans"/>
                <a:cs typeface="DM Sans"/>
                <a:sym typeface="DM Sans"/>
              </a:rPr>
              <a:t>Có nhu cầu </a:t>
            </a:r>
            <a:r>
              <a:rPr lang="en-US" b="true" sz="2100">
                <a:solidFill>
                  <a:srgbClr val="000000"/>
                </a:solidFill>
                <a:latin typeface="DM Sans Bold"/>
                <a:ea typeface="DM Sans Bold"/>
                <a:cs typeface="DM Sans Bold"/>
                <a:sym typeface="DM Sans Bold"/>
              </a:rPr>
              <a:t>tự động hóa</a:t>
            </a:r>
            <a:r>
              <a:rPr lang="en-US" sz="2100">
                <a:solidFill>
                  <a:srgbClr val="000000"/>
                </a:solidFill>
                <a:latin typeface="DM Sans"/>
                <a:ea typeface="DM Sans"/>
                <a:cs typeface="DM Sans"/>
                <a:sym typeface="DM Sans"/>
              </a:rPr>
              <a:t> nhập liệu để giảm ma sát thao tác người dùng, từ đó cải thiện trải nghiệm trong việc ghi chép và quản lý tài chính cá nhân.</a:t>
            </a:r>
          </a:p>
        </p:txBody>
      </p:sp>
      <p:sp>
        <p:nvSpPr>
          <p:cNvPr name="TextBox 6" id="6"/>
          <p:cNvSpPr txBox="true"/>
          <p:nvPr/>
        </p:nvSpPr>
        <p:spPr>
          <a:xfrm rot="0">
            <a:off x="9296400" y="4200525"/>
            <a:ext cx="7191375" cy="438785"/>
          </a:xfrm>
          <a:prstGeom prst="rect">
            <a:avLst/>
          </a:prstGeom>
        </p:spPr>
        <p:txBody>
          <a:bodyPr anchor="t" rtlCol="false" tIns="0" lIns="0" bIns="0" rIns="0">
            <a:spAutoFit/>
          </a:bodyPr>
          <a:lstStyle/>
          <a:p>
            <a:pPr algn="l" marL="0" indent="0" lvl="0">
              <a:lnSpc>
                <a:spcPts val="3640"/>
              </a:lnSpc>
            </a:pPr>
            <a:r>
              <a:rPr lang="en-US" b="true" sz="2600">
                <a:solidFill>
                  <a:srgbClr val="000000"/>
                </a:solidFill>
                <a:latin typeface="DM Sans Bold"/>
                <a:ea typeface="DM Sans Bold"/>
                <a:cs typeface="DM Sans Bold"/>
                <a:sym typeface="DM Sans Bold"/>
              </a:rPr>
              <a:t>NHU CẦU</a:t>
            </a:r>
          </a:p>
        </p:txBody>
      </p:sp>
    </p:spTree>
  </p:cSld>
  <p:clrMapOvr>
    <a:masterClrMapping/>
  </p:clrMapOvr>
</p:sld>
</file>

<file path=ppt/slides/slide3.xml><?xml version="1.0" encoding="utf-8"?>
<p:sld xmlns:p="http://schemas.openxmlformats.org/presentationml/2006/main" xmlns:a="http://schemas.openxmlformats.org/drawingml/2006/main" xmlns:r="http://schemas.openxmlformats.org/officeDocument/2006/relationships">
  <p:cSld>
    <p:bg>
      <p:bgPr>
        <a:solidFill>
          <a:srgbClr val="ABC9F4"/>
        </a:solidFill>
      </p:bgPr>
    </p:bg>
    <p:spTree>
      <p:nvGrpSpPr>
        <p:cNvPr id="1" name=""/>
        <p:cNvGrpSpPr/>
        <p:nvPr/>
      </p:nvGrpSpPr>
      <p:grpSpPr>
        <a:xfrm>
          <a:off x="0" y="0"/>
          <a:ext cx="0" cy="0"/>
          <a:chOff x="0" y="0"/>
          <a:chExt cx="0" cy="0"/>
        </a:xfrm>
      </p:grpSpPr>
      <p:grpSp>
        <p:nvGrpSpPr>
          <p:cNvPr name="Group 2" id="2"/>
          <p:cNvGrpSpPr/>
          <p:nvPr/>
        </p:nvGrpSpPr>
        <p:grpSpPr>
          <a:xfrm rot="0">
            <a:off x="10702875" y="1292556"/>
            <a:ext cx="6556425" cy="6242551"/>
            <a:chOff x="0" y="0"/>
            <a:chExt cx="1673858" cy="1593725"/>
          </a:xfrm>
        </p:grpSpPr>
        <p:sp>
          <p:nvSpPr>
            <p:cNvPr name="Freeform 3" id="3"/>
            <p:cNvSpPr/>
            <p:nvPr/>
          </p:nvSpPr>
          <p:spPr>
            <a:xfrm flipH="false" flipV="false" rot="0">
              <a:off x="0" y="0"/>
              <a:ext cx="1673858" cy="1593725"/>
            </a:xfrm>
            <a:custGeom>
              <a:avLst/>
              <a:gdLst/>
              <a:ahLst/>
              <a:cxnLst/>
              <a:rect r="r" b="b" t="t" l="l"/>
              <a:pathLst>
                <a:path h="1593725" w="1673858">
                  <a:moveTo>
                    <a:pt x="0" y="0"/>
                  </a:moveTo>
                  <a:lnTo>
                    <a:pt x="1673858" y="0"/>
                  </a:lnTo>
                  <a:lnTo>
                    <a:pt x="1673858" y="1593725"/>
                  </a:lnTo>
                  <a:lnTo>
                    <a:pt x="0" y="1593725"/>
                  </a:lnTo>
                  <a:close/>
                </a:path>
              </a:pathLst>
            </a:custGeom>
            <a:blipFill>
              <a:blip r:embed="rId2"/>
              <a:stretch>
                <a:fillRect l="0" t="-2513" r="0" b="-2513"/>
              </a:stretch>
            </a:blipFill>
          </p:spPr>
        </p:sp>
      </p:grpSp>
      <p:grpSp>
        <p:nvGrpSpPr>
          <p:cNvPr name="Group 4" id="4"/>
          <p:cNvGrpSpPr/>
          <p:nvPr/>
        </p:nvGrpSpPr>
        <p:grpSpPr>
          <a:xfrm rot="0">
            <a:off x="666750" y="666750"/>
            <a:ext cx="8324850" cy="3747081"/>
            <a:chOff x="0" y="0"/>
            <a:chExt cx="11099800" cy="4996108"/>
          </a:xfrm>
        </p:grpSpPr>
        <p:sp>
          <p:nvSpPr>
            <p:cNvPr name="TextBox 5" id="5"/>
            <p:cNvSpPr txBox="true"/>
            <p:nvPr/>
          </p:nvSpPr>
          <p:spPr>
            <a:xfrm rot="0">
              <a:off x="0" y="66675"/>
              <a:ext cx="11099800" cy="3040596"/>
            </a:xfrm>
            <a:prstGeom prst="rect">
              <a:avLst/>
            </a:prstGeom>
          </p:spPr>
          <p:txBody>
            <a:bodyPr anchor="t" rtlCol="false" tIns="0" lIns="0" bIns="0" rIns="0">
              <a:spAutoFit/>
            </a:bodyPr>
            <a:lstStyle/>
            <a:p>
              <a:pPr algn="l" marL="0" indent="0" lvl="0">
                <a:lnSpc>
                  <a:spcPts val="8800"/>
                </a:lnSpc>
              </a:pPr>
              <a:r>
                <a:rPr lang="en-US" sz="8000">
                  <a:solidFill>
                    <a:srgbClr val="000000"/>
                  </a:solidFill>
                  <a:latin typeface="Georgia Pro Light"/>
                  <a:ea typeface="Georgia Pro Light"/>
                  <a:cs typeface="Georgia Pro Light"/>
                  <a:sym typeface="Georgia Pro Light"/>
                </a:rPr>
                <a:t>Mục tiêu và phạm vi</a:t>
              </a:r>
            </a:p>
          </p:txBody>
        </p:sp>
        <p:sp>
          <p:nvSpPr>
            <p:cNvPr name="TextBox 6" id="6"/>
            <p:cNvSpPr txBox="true"/>
            <p:nvPr/>
          </p:nvSpPr>
          <p:spPr>
            <a:xfrm rot="0">
              <a:off x="0" y="3533703"/>
              <a:ext cx="11099800" cy="1462405"/>
            </a:xfrm>
            <a:prstGeom prst="rect">
              <a:avLst/>
            </a:prstGeom>
          </p:spPr>
          <p:txBody>
            <a:bodyPr anchor="t" rtlCol="false" tIns="0" lIns="0" bIns="0" rIns="0">
              <a:spAutoFit/>
            </a:bodyPr>
            <a:lstStyle/>
            <a:p>
              <a:pPr algn="l" marL="0" indent="0" lvl="0">
                <a:lnSpc>
                  <a:spcPts val="2940"/>
                </a:lnSpc>
              </a:pPr>
              <a:r>
                <a:rPr lang="en-US" sz="2100">
                  <a:solidFill>
                    <a:srgbClr val="000000"/>
                  </a:solidFill>
                  <a:latin typeface="DM Sans"/>
                  <a:ea typeface="DM Sans"/>
                  <a:cs typeface="DM Sans"/>
                  <a:sym typeface="DM Sans"/>
                </a:rPr>
                <a:t>Mục tiêu nghiên cứu là xây dựng một </a:t>
              </a:r>
              <a:r>
                <a:rPr lang="en-US" b="true" sz="2100">
                  <a:solidFill>
                    <a:srgbClr val="000000"/>
                  </a:solidFill>
                  <a:latin typeface="DM Sans Bold"/>
                  <a:ea typeface="DM Sans Bold"/>
                  <a:cs typeface="DM Sans Bold"/>
                  <a:sym typeface="DM Sans Bold"/>
                </a:rPr>
                <a:t>chatbot Telegram</a:t>
              </a:r>
              <a:r>
                <a:rPr lang="en-US" sz="2100">
                  <a:solidFill>
                    <a:srgbClr val="000000"/>
                  </a:solidFill>
                  <a:latin typeface="DM Sans"/>
                  <a:ea typeface="DM Sans"/>
                  <a:cs typeface="DM Sans"/>
                  <a:sym typeface="DM Sans"/>
                </a:rPr>
                <a:t> hỗ trợ ghi chép chi tiêu tự động, với phạm vi bao gồm xử lý ngôn ngữ tự nhiên tiếng Việt và lưu trữ trên Google Sheets.</a:t>
              </a:r>
            </a:p>
          </p:txBody>
        </p:sp>
      </p:grpSp>
    </p:spTree>
  </p:cSld>
  <p:clrMapOvr>
    <a:masterClrMapping/>
  </p:clrMapOvr>
</p:sld>
</file>

<file path=ppt/slides/slide4.xml><?xml version="1.0" encoding="utf-8"?>
<p:sld xmlns:p="http://schemas.openxmlformats.org/presentationml/2006/main" xmlns:a="http://schemas.openxmlformats.org/drawingml/2006/main">
  <p:cSld>
    <p:bg>
      <p:bgPr>
        <a:solidFill>
          <a:srgbClr val="ABC9F4"/>
        </a:solidFill>
      </p:bgPr>
    </p:bg>
    <p:spTree>
      <p:nvGrpSpPr>
        <p:cNvPr id="1" name=""/>
        <p:cNvGrpSpPr/>
        <p:nvPr/>
      </p:nvGrpSpPr>
      <p:grpSpPr>
        <a:xfrm>
          <a:off x="0" y="0"/>
          <a:ext cx="0" cy="0"/>
          <a:chOff x="0" y="0"/>
          <a:chExt cx="0" cy="0"/>
        </a:xfrm>
      </p:grpSpPr>
      <p:sp>
        <p:nvSpPr>
          <p:cNvPr name="TextBox 2" id="2"/>
          <p:cNvSpPr txBox="true"/>
          <p:nvPr/>
        </p:nvSpPr>
        <p:spPr>
          <a:xfrm rot="0">
            <a:off x="9296400" y="2406015"/>
            <a:ext cx="7191375" cy="1108710"/>
          </a:xfrm>
          <a:prstGeom prst="rect">
            <a:avLst/>
          </a:prstGeom>
        </p:spPr>
        <p:txBody>
          <a:bodyPr anchor="t" rtlCol="false" tIns="0" lIns="0" bIns="0" rIns="0">
            <a:spAutoFit/>
          </a:bodyPr>
          <a:lstStyle/>
          <a:p>
            <a:pPr algn="l" marL="0" indent="0" lvl="0">
              <a:lnSpc>
                <a:spcPts val="2940"/>
              </a:lnSpc>
            </a:pPr>
            <a:r>
              <a:rPr lang="en-US" sz="2100">
                <a:solidFill>
                  <a:srgbClr val="000000"/>
                </a:solidFill>
                <a:latin typeface="DM Sans"/>
                <a:ea typeface="DM Sans"/>
                <a:cs typeface="DM Sans"/>
                <a:sym typeface="DM Sans"/>
              </a:rPr>
              <a:t>Groq API sử dụng mô hình Llama 3.3 70B, cung cấp khả năng </a:t>
            </a:r>
            <a:r>
              <a:rPr lang="en-US" b="true" sz="2100">
                <a:solidFill>
                  <a:srgbClr val="000000"/>
                </a:solidFill>
                <a:latin typeface="DM Sans Bold"/>
                <a:ea typeface="DM Sans Bold"/>
                <a:cs typeface="DM Sans Bold"/>
                <a:sym typeface="DM Sans Bold"/>
              </a:rPr>
              <a:t>xử lý ngôn ngữ tự nhiên</a:t>
            </a:r>
            <a:r>
              <a:rPr lang="en-US" sz="2100">
                <a:solidFill>
                  <a:srgbClr val="000000"/>
                </a:solidFill>
                <a:latin typeface="DM Sans"/>
                <a:ea typeface="DM Sans"/>
                <a:cs typeface="DM Sans"/>
                <a:sym typeface="DM Sans"/>
              </a:rPr>
              <a:t> mạnh mẽ cho hệ thống tài chính cá nhân.</a:t>
            </a:r>
          </a:p>
        </p:txBody>
      </p:sp>
      <p:sp>
        <p:nvSpPr>
          <p:cNvPr name="TextBox 3" id="3"/>
          <p:cNvSpPr txBox="true"/>
          <p:nvPr/>
        </p:nvSpPr>
        <p:spPr>
          <a:xfrm rot="0">
            <a:off x="9296400" y="1510665"/>
            <a:ext cx="7191375" cy="438785"/>
          </a:xfrm>
          <a:prstGeom prst="rect">
            <a:avLst/>
          </a:prstGeom>
        </p:spPr>
        <p:txBody>
          <a:bodyPr anchor="t" rtlCol="false" tIns="0" lIns="0" bIns="0" rIns="0">
            <a:spAutoFit/>
          </a:bodyPr>
          <a:lstStyle/>
          <a:p>
            <a:pPr algn="l" marL="0" indent="0" lvl="0">
              <a:lnSpc>
                <a:spcPts val="3640"/>
              </a:lnSpc>
            </a:pPr>
            <a:r>
              <a:rPr lang="en-US" b="true" sz="2600">
                <a:solidFill>
                  <a:srgbClr val="000000"/>
                </a:solidFill>
                <a:latin typeface="DM Sans Bold"/>
                <a:ea typeface="DM Sans Bold"/>
                <a:cs typeface="DM Sans Bold"/>
                <a:sym typeface="DM Sans Bold"/>
              </a:rPr>
              <a:t>GROQ API</a:t>
            </a:r>
          </a:p>
        </p:txBody>
      </p:sp>
      <p:sp>
        <p:nvSpPr>
          <p:cNvPr name="TextBox 4" id="4"/>
          <p:cNvSpPr txBox="true"/>
          <p:nvPr/>
        </p:nvSpPr>
        <p:spPr>
          <a:xfrm rot="0">
            <a:off x="9296400" y="5095875"/>
            <a:ext cx="7191375" cy="1108710"/>
          </a:xfrm>
          <a:prstGeom prst="rect">
            <a:avLst/>
          </a:prstGeom>
        </p:spPr>
        <p:txBody>
          <a:bodyPr anchor="t" rtlCol="false" tIns="0" lIns="0" bIns="0" rIns="0">
            <a:spAutoFit/>
          </a:bodyPr>
          <a:lstStyle/>
          <a:p>
            <a:pPr algn="l" marL="0" indent="0" lvl="0">
              <a:lnSpc>
                <a:spcPts val="2940"/>
              </a:lnSpc>
            </a:pPr>
            <a:r>
              <a:rPr lang="en-US" sz="2100">
                <a:solidFill>
                  <a:srgbClr val="000000"/>
                </a:solidFill>
                <a:latin typeface="DM Sans"/>
                <a:ea typeface="DM Sans"/>
                <a:cs typeface="DM Sans"/>
                <a:sym typeface="DM Sans"/>
              </a:rPr>
              <a:t>n8n là nền tảng tự động hóa quy trình, giúp </a:t>
            </a:r>
            <a:r>
              <a:rPr lang="en-US" b="true" sz="2100">
                <a:solidFill>
                  <a:srgbClr val="000000"/>
                </a:solidFill>
                <a:latin typeface="DM Sans Bold"/>
                <a:ea typeface="DM Sans Bold"/>
                <a:cs typeface="DM Sans Bold"/>
                <a:sym typeface="DM Sans Bold"/>
              </a:rPr>
              <a:t>tích hợp và quản lý</a:t>
            </a:r>
            <a:r>
              <a:rPr lang="en-US" sz="2100">
                <a:solidFill>
                  <a:srgbClr val="000000"/>
                </a:solidFill>
                <a:latin typeface="DM Sans"/>
                <a:ea typeface="DM Sans"/>
                <a:cs typeface="DM Sans"/>
                <a:sym typeface="DM Sans"/>
              </a:rPr>
              <a:t> các nhiệm vụ một cách hiệu quả, từ nhập liệu đến ghi chép tài chính.</a:t>
            </a:r>
          </a:p>
        </p:txBody>
      </p:sp>
      <p:sp>
        <p:nvSpPr>
          <p:cNvPr name="TextBox 5" id="5"/>
          <p:cNvSpPr txBox="true"/>
          <p:nvPr/>
        </p:nvSpPr>
        <p:spPr>
          <a:xfrm rot="0">
            <a:off x="9296400" y="4200525"/>
            <a:ext cx="7191375" cy="438785"/>
          </a:xfrm>
          <a:prstGeom prst="rect">
            <a:avLst/>
          </a:prstGeom>
        </p:spPr>
        <p:txBody>
          <a:bodyPr anchor="t" rtlCol="false" tIns="0" lIns="0" bIns="0" rIns="0">
            <a:spAutoFit/>
          </a:bodyPr>
          <a:lstStyle/>
          <a:p>
            <a:pPr algn="l" marL="0" indent="0" lvl="0">
              <a:lnSpc>
                <a:spcPts val="3640"/>
              </a:lnSpc>
            </a:pPr>
            <a:r>
              <a:rPr lang="en-US" b="true" sz="2600">
                <a:solidFill>
                  <a:srgbClr val="000000"/>
                </a:solidFill>
                <a:latin typeface="DM Sans Bold"/>
                <a:ea typeface="DM Sans Bold"/>
                <a:cs typeface="DM Sans Bold"/>
                <a:sym typeface="DM Sans Bold"/>
              </a:rPr>
              <a:t>N8N</a:t>
            </a:r>
          </a:p>
        </p:txBody>
      </p:sp>
      <p:sp>
        <p:nvSpPr>
          <p:cNvPr name="TextBox 6" id="6"/>
          <p:cNvSpPr txBox="true"/>
          <p:nvPr/>
        </p:nvSpPr>
        <p:spPr>
          <a:xfrm rot="0">
            <a:off x="9296400" y="7778115"/>
            <a:ext cx="7191375" cy="1108710"/>
          </a:xfrm>
          <a:prstGeom prst="rect">
            <a:avLst/>
          </a:prstGeom>
        </p:spPr>
        <p:txBody>
          <a:bodyPr anchor="t" rtlCol="false" tIns="0" lIns="0" bIns="0" rIns="0">
            <a:spAutoFit/>
          </a:bodyPr>
          <a:lstStyle/>
          <a:p>
            <a:pPr algn="l" marL="0" indent="0" lvl="0">
              <a:lnSpc>
                <a:spcPts val="2940"/>
              </a:lnSpc>
            </a:pPr>
            <a:r>
              <a:rPr lang="en-US" sz="2100">
                <a:solidFill>
                  <a:srgbClr val="000000"/>
                </a:solidFill>
                <a:latin typeface="DM Sans"/>
                <a:ea typeface="DM Sans"/>
                <a:cs typeface="DM Sans"/>
                <a:sym typeface="DM Sans"/>
              </a:rPr>
              <a:t>Docker cung cấp </a:t>
            </a:r>
            <a:r>
              <a:rPr lang="en-US" b="true" sz="2100">
                <a:solidFill>
                  <a:srgbClr val="000000"/>
                </a:solidFill>
                <a:latin typeface="DM Sans Bold"/>
                <a:ea typeface="DM Sans Bold"/>
                <a:cs typeface="DM Sans Bold"/>
                <a:sym typeface="DM Sans Bold"/>
              </a:rPr>
              <a:t>môi trường triển khai ổn định</a:t>
            </a:r>
            <a:r>
              <a:rPr lang="en-US" sz="2100">
                <a:solidFill>
                  <a:srgbClr val="000000"/>
                </a:solidFill>
                <a:latin typeface="DM Sans"/>
                <a:ea typeface="DM Sans"/>
                <a:cs typeface="DM Sans"/>
                <a:sym typeface="DM Sans"/>
              </a:rPr>
              <a:t>, cho phép quản lý và cấu hình các dịch vụ cần thiết cho hệ thống.</a:t>
            </a:r>
          </a:p>
        </p:txBody>
      </p:sp>
      <p:sp>
        <p:nvSpPr>
          <p:cNvPr name="TextBox 7" id="7"/>
          <p:cNvSpPr txBox="true"/>
          <p:nvPr/>
        </p:nvSpPr>
        <p:spPr>
          <a:xfrm rot="0">
            <a:off x="9296400" y="6887795"/>
            <a:ext cx="7191375" cy="438785"/>
          </a:xfrm>
          <a:prstGeom prst="rect">
            <a:avLst/>
          </a:prstGeom>
        </p:spPr>
        <p:txBody>
          <a:bodyPr anchor="t" rtlCol="false" tIns="0" lIns="0" bIns="0" rIns="0">
            <a:spAutoFit/>
          </a:bodyPr>
          <a:lstStyle/>
          <a:p>
            <a:pPr algn="l" marL="0" indent="0" lvl="0">
              <a:lnSpc>
                <a:spcPts val="3640"/>
              </a:lnSpc>
            </a:pPr>
            <a:r>
              <a:rPr lang="en-US" b="true" sz="2600">
                <a:solidFill>
                  <a:srgbClr val="000000"/>
                </a:solidFill>
                <a:latin typeface="DM Sans Bold"/>
                <a:ea typeface="DM Sans Bold"/>
                <a:cs typeface="DM Sans Bold"/>
                <a:sym typeface="DM Sans Bold"/>
              </a:rPr>
              <a:t>DOCKER </a:t>
            </a:r>
          </a:p>
        </p:txBody>
      </p:sp>
      <p:sp>
        <p:nvSpPr>
          <p:cNvPr name="TextBox 8" id="8"/>
          <p:cNvSpPr txBox="true"/>
          <p:nvPr/>
        </p:nvSpPr>
        <p:spPr>
          <a:xfrm rot="0">
            <a:off x="666750" y="733425"/>
            <a:ext cx="5753100" cy="2263778"/>
          </a:xfrm>
          <a:prstGeom prst="rect">
            <a:avLst/>
          </a:prstGeom>
        </p:spPr>
        <p:txBody>
          <a:bodyPr anchor="t" rtlCol="false" tIns="0" lIns="0" bIns="0" rIns="0">
            <a:spAutoFit/>
          </a:bodyPr>
          <a:lstStyle/>
          <a:p>
            <a:pPr algn="l" marL="0" indent="0" lvl="0">
              <a:lnSpc>
                <a:spcPts val="8800"/>
              </a:lnSpc>
              <a:spcBef>
                <a:spcPct val="0"/>
              </a:spcBef>
            </a:pPr>
            <a:r>
              <a:rPr lang="en-US" sz="8000">
                <a:solidFill>
                  <a:srgbClr val="000000"/>
                </a:solidFill>
                <a:latin typeface="Georgia Pro Light"/>
                <a:ea typeface="Georgia Pro Light"/>
                <a:cs typeface="Georgia Pro Light"/>
                <a:sym typeface="Georgia Pro Light"/>
              </a:rPr>
              <a:t>Công nghệ sử dụng</a:t>
            </a:r>
          </a:p>
        </p:txBody>
      </p:sp>
    </p:spTree>
  </p:cSld>
  <p:clrMapOvr>
    <a:masterClrMapping/>
  </p:clrMapOvr>
</p:sld>
</file>

<file path=ppt/slides/slide5.xml><?xml version="1.0" encoding="utf-8"?>
<p:sld xmlns:p="http://schemas.openxmlformats.org/presentationml/2006/main" xmlns:a="http://schemas.openxmlformats.org/drawingml/2006/main" xmlns:r="http://schemas.openxmlformats.org/officeDocument/2006/relationships">
  <p:cSld>
    <p:bg>
      <p:bgPr>
        <a:solidFill>
          <a:srgbClr val="ABC9F4"/>
        </a:solidFill>
      </p:bgPr>
    </p:bg>
    <p:spTree>
      <p:nvGrpSpPr>
        <p:cNvPr id="1" name=""/>
        <p:cNvGrpSpPr/>
        <p:nvPr/>
      </p:nvGrpSpPr>
      <p:grpSpPr>
        <a:xfrm>
          <a:off x="0" y="0"/>
          <a:ext cx="0" cy="0"/>
          <a:chOff x="0" y="0"/>
          <a:chExt cx="0" cy="0"/>
        </a:xfrm>
      </p:grpSpPr>
      <p:grpSp>
        <p:nvGrpSpPr>
          <p:cNvPr name="Group 2" id="2"/>
          <p:cNvGrpSpPr/>
          <p:nvPr/>
        </p:nvGrpSpPr>
        <p:grpSpPr>
          <a:xfrm rot="0">
            <a:off x="8409207" y="0"/>
            <a:ext cx="9878793" cy="10287000"/>
            <a:chOff x="0" y="0"/>
            <a:chExt cx="1530484" cy="1593725"/>
          </a:xfrm>
        </p:grpSpPr>
        <p:sp>
          <p:nvSpPr>
            <p:cNvPr name="Freeform 3" id="3"/>
            <p:cNvSpPr/>
            <p:nvPr/>
          </p:nvSpPr>
          <p:spPr>
            <a:xfrm flipH="false" flipV="false" rot="0">
              <a:off x="0" y="0"/>
              <a:ext cx="1530484" cy="1593725"/>
            </a:xfrm>
            <a:custGeom>
              <a:avLst/>
              <a:gdLst/>
              <a:ahLst/>
              <a:cxnLst/>
              <a:rect r="r" b="b" t="t" l="l"/>
              <a:pathLst>
                <a:path h="1593725" w="1530484">
                  <a:moveTo>
                    <a:pt x="0" y="0"/>
                  </a:moveTo>
                  <a:lnTo>
                    <a:pt x="1530484" y="0"/>
                  </a:lnTo>
                  <a:lnTo>
                    <a:pt x="1530484" y="1593725"/>
                  </a:lnTo>
                  <a:lnTo>
                    <a:pt x="0" y="1593725"/>
                  </a:lnTo>
                  <a:close/>
                </a:path>
              </a:pathLst>
            </a:custGeom>
            <a:blipFill>
              <a:blip r:embed="rId2"/>
              <a:stretch>
                <a:fillRect l="0" t="-826" r="-118256" b="-826"/>
              </a:stretch>
            </a:blipFill>
          </p:spPr>
        </p:sp>
      </p:grpSp>
      <p:grpSp>
        <p:nvGrpSpPr>
          <p:cNvPr name="Group 4" id="4"/>
          <p:cNvGrpSpPr/>
          <p:nvPr/>
        </p:nvGrpSpPr>
        <p:grpSpPr>
          <a:xfrm rot="0">
            <a:off x="666750" y="666750"/>
            <a:ext cx="7742457" cy="2632656"/>
            <a:chOff x="0" y="0"/>
            <a:chExt cx="10323276" cy="3510208"/>
          </a:xfrm>
        </p:grpSpPr>
        <p:sp>
          <p:nvSpPr>
            <p:cNvPr name="TextBox 5" id="5"/>
            <p:cNvSpPr txBox="true"/>
            <p:nvPr/>
          </p:nvSpPr>
          <p:spPr>
            <a:xfrm rot="0">
              <a:off x="0" y="66675"/>
              <a:ext cx="10323276" cy="1554696"/>
            </a:xfrm>
            <a:prstGeom prst="rect">
              <a:avLst/>
            </a:prstGeom>
          </p:spPr>
          <p:txBody>
            <a:bodyPr anchor="t" rtlCol="false" tIns="0" lIns="0" bIns="0" rIns="0">
              <a:spAutoFit/>
            </a:bodyPr>
            <a:lstStyle/>
            <a:p>
              <a:pPr algn="l" marL="0" indent="0" lvl="0">
                <a:lnSpc>
                  <a:spcPts val="8800"/>
                </a:lnSpc>
              </a:pPr>
              <a:r>
                <a:rPr lang="en-US" sz="8000">
                  <a:solidFill>
                    <a:srgbClr val="000000"/>
                  </a:solidFill>
                  <a:latin typeface="Georgia Pro Light"/>
                  <a:ea typeface="Georgia Pro Light"/>
                  <a:cs typeface="Georgia Pro Light"/>
                  <a:sym typeface="Georgia Pro Light"/>
                </a:rPr>
                <a:t>Thiết kế dữ liệu</a:t>
              </a:r>
            </a:p>
          </p:txBody>
        </p:sp>
        <p:sp>
          <p:nvSpPr>
            <p:cNvPr name="TextBox 6" id="6"/>
            <p:cNvSpPr txBox="true"/>
            <p:nvPr/>
          </p:nvSpPr>
          <p:spPr>
            <a:xfrm rot="0">
              <a:off x="0" y="2047803"/>
              <a:ext cx="10323276" cy="1462405"/>
            </a:xfrm>
            <a:prstGeom prst="rect">
              <a:avLst/>
            </a:prstGeom>
          </p:spPr>
          <p:txBody>
            <a:bodyPr anchor="t" rtlCol="false" tIns="0" lIns="0" bIns="0" rIns="0">
              <a:spAutoFit/>
            </a:bodyPr>
            <a:lstStyle/>
            <a:p>
              <a:pPr algn="l" marL="0" indent="0" lvl="0">
                <a:lnSpc>
                  <a:spcPts val="2940"/>
                </a:lnSpc>
              </a:pPr>
              <a:r>
                <a:rPr lang="en-US" sz="2100">
                  <a:solidFill>
                    <a:srgbClr val="000000"/>
                  </a:solidFill>
                  <a:latin typeface="DM Sans"/>
                  <a:ea typeface="DM Sans"/>
                  <a:cs typeface="DM Sans"/>
                  <a:sym typeface="DM Sans"/>
                </a:rPr>
                <a:t>Bảng dữ liệu trên Google Sheets được thiết kế để tối ưu hóa việc </a:t>
              </a:r>
              <a:r>
                <a:rPr lang="en-US" b="true" sz="2100">
                  <a:solidFill>
                    <a:srgbClr val="000000"/>
                  </a:solidFill>
                  <a:latin typeface="DM Sans Bold"/>
                  <a:ea typeface="DM Sans Bold"/>
                  <a:cs typeface="DM Sans Bold"/>
                  <a:sym typeface="DM Sans Bold"/>
                </a:rPr>
                <a:t>quản lý thông tin chi tiêu</a:t>
              </a:r>
              <a:r>
                <a:rPr lang="en-US" sz="2100">
                  <a:solidFill>
                    <a:srgbClr val="000000"/>
                  </a:solidFill>
                  <a:latin typeface="DM Sans"/>
                  <a:ea typeface="DM Sans"/>
                  <a:cs typeface="DM Sans"/>
                  <a:sym typeface="DM Sans"/>
                </a:rPr>
                <a:t>. Mỗi cột giữ vai trò quan trọng trong việc ghi chép và phân tích dữ liệu.</a:t>
              </a:r>
            </a:p>
          </p:txBody>
        </p:sp>
      </p:grpSp>
    </p:spTree>
  </p:cSld>
  <p:clrMapOvr>
    <a:masterClrMapping/>
  </p:clrMapOvr>
</p:sld>
</file>

<file path=ppt/slides/slide6.xml><?xml version="1.0" encoding="utf-8"?>
<p:sld xmlns:p="http://schemas.openxmlformats.org/presentationml/2006/main" xmlns:a="http://schemas.openxmlformats.org/drawingml/2006/main" xmlns:r="http://schemas.openxmlformats.org/officeDocument/2006/relationships">
  <p:cSld>
    <p:bg>
      <p:bgPr>
        <a:solidFill>
          <a:srgbClr val="ABC9F4"/>
        </a:solidFill>
      </p:bgPr>
    </p:bg>
    <p:spTree>
      <p:nvGrpSpPr>
        <p:cNvPr id="1" name=""/>
        <p:cNvGrpSpPr/>
        <p:nvPr/>
      </p:nvGrpSpPr>
      <p:grpSpPr>
        <a:xfrm>
          <a:off x="0" y="0"/>
          <a:ext cx="0" cy="0"/>
          <a:chOff x="0" y="0"/>
          <a:chExt cx="0" cy="0"/>
        </a:xfrm>
      </p:grpSpPr>
      <p:grpSp>
        <p:nvGrpSpPr>
          <p:cNvPr name="Group 2" id="2"/>
          <p:cNvGrpSpPr/>
          <p:nvPr/>
        </p:nvGrpSpPr>
        <p:grpSpPr>
          <a:xfrm rot="0">
            <a:off x="0" y="5722480"/>
            <a:ext cx="18288000" cy="4564520"/>
            <a:chOff x="0" y="0"/>
            <a:chExt cx="2833290" cy="707164"/>
          </a:xfrm>
        </p:grpSpPr>
        <p:sp>
          <p:nvSpPr>
            <p:cNvPr name="Freeform 3" id="3"/>
            <p:cNvSpPr/>
            <p:nvPr/>
          </p:nvSpPr>
          <p:spPr>
            <a:xfrm flipH="false" flipV="false" rot="0">
              <a:off x="0" y="0"/>
              <a:ext cx="2833290" cy="707164"/>
            </a:xfrm>
            <a:custGeom>
              <a:avLst/>
              <a:gdLst/>
              <a:ahLst/>
              <a:cxnLst/>
              <a:rect r="r" b="b" t="t" l="l"/>
              <a:pathLst>
                <a:path h="707164" w="2833290">
                  <a:moveTo>
                    <a:pt x="0" y="0"/>
                  </a:moveTo>
                  <a:lnTo>
                    <a:pt x="2833290" y="0"/>
                  </a:lnTo>
                  <a:lnTo>
                    <a:pt x="2833290" y="707164"/>
                  </a:lnTo>
                  <a:lnTo>
                    <a:pt x="0" y="707164"/>
                  </a:lnTo>
                  <a:close/>
                </a:path>
              </a:pathLst>
            </a:custGeom>
            <a:blipFill>
              <a:blip r:embed="rId2"/>
              <a:stretch>
                <a:fillRect l="0" t="-1333" r="0" b="-1333"/>
              </a:stretch>
            </a:blipFill>
          </p:spPr>
        </p:sp>
      </p:grpSp>
      <p:grpSp>
        <p:nvGrpSpPr>
          <p:cNvPr name="Group 4" id="4"/>
          <p:cNvGrpSpPr/>
          <p:nvPr/>
        </p:nvGrpSpPr>
        <p:grpSpPr>
          <a:xfrm rot="0">
            <a:off x="666750" y="666750"/>
            <a:ext cx="8324850" cy="2632656"/>
            <a:chOff x="0" y="0"/>
            <a:chExt cx="11099800" cy="3510208"/>
          </a:xfrm>
        </p:grpSpPr>
        <p:sp>
          <p:nvSpPr>
            <p:cNvPr name="TextBox 5" id="5"/>
            <p:cNvSpPr txBox="true"/>
            <p:nvPr/>
          </p:nvSpPr>
          <p:spPr>
            <a:xfrm rot="0">
              <a:off x="0" y="66675"/>
              <a:ext cx="11099800" cy="1554696"/>
            </a:xfrm>
            <a:prstGeom prst="rect">
              <a:avLst/>
            </a:prstGeom>
          </p:spPr>
          <p:txBody>
            <a:bodyPr anchor="t" rtlCol="false" tIns="0" lIns="0" bIns="0" rIns="0">
              <a:spAutoFit/>
            </a:bodyPr>
            <a:lstStyle/>
            <a:p>
              <a:pPr algn="l" marL="0" indent="0" lvl="0">
                <a:lnSpc>
                  <a:spcPts val="8800"/>
                </a:lnSpc>
              </a:pPr>
              <a:r>
                <a:rPr lang="en-US" sz="8000">
                  <a:solidFill>
                    <a:srgbClr val="000000"/>
                  </a:solidFill>
                  <a:latin typeface="Georgia Pro Light"/>
                  <a:ea typeface="Georgia Pro Light"/>
                  <a:cs typeface="Georgia Pro Light"/>
                  <a:sym typeface="Georgia Pro Light"/>
                </a:rPr>
                <a:t>Workflow n8n</a:t>
              </a:r>
            </a:p>
          </p:txBody>
        </p:sp>
        <p:sp>
          <p:nvSpPr>
            <p:cNvPr name="TextBox 6" id="6"/>
            <p:cNvSpPr txBox="true"/>
            <p:nvPr/>
          </p:nvSpPr>
          <p:spPr>
            <a:xfrm rot="0">
              <a:off x="0" y="2047803"/>
              <a:ext cx="11099800" cy="1462405"/>
            </a:xfrm>
            <a:prstGeom prst="rect">
              <a:avLst/>
            </a:prstGeom>
          </p:spPr>
          <p:txBody>
            <a:bodyPr anchor="t" rtlCol="false" tIns="0" lIns="0" bIns="0" rIns="0">
              <a:spAutoFit/>
            </a:bodyPr>
            <a:lstStyle/>
            <a:p>
              <a:pPr algn="l" marL="0" indent="0" lvl="0">
                <a:lnSpc>
                  <a:spcPts val="2940"/>
                </a:lnSpc>
              </a:pPr>
              <a:r>
                <a:rPr lang="en-US" sz="2100">
                  <a:solidFill>
                    <a:srgbClr val="000000"/>
                  </a:solidFill>
                  <a:latin typeface="DM Sans"/>
                  <a:ea typeface="DM Sans"/>
                  <a:cs typeface="DM Sans"/>
                  <a:sym typeface="DM Sans"/>
                </a:rPr>
                <a:t>Luồng làm việc trong n8n tích hợp Groq API cho phép tự động hóa quy trình ghi chép tài chính, giúp nâng cao hiệu quả quản lý và tiết kiệm thời gian cho người dùng.</a:t>
              </a:r>
            </a:p>
          </p:txBody>
        </p:sp>
      </p:grpSp>
    </p:spTree>
  </p:cSld>
  <p:clrMapOvr>
    <a:masterClrMapping/>
  </p:clrMapOvr>
</p:sld>
</file>

<file path=ppt/slides/slide7.xml><?xml version="1.0" encoding="utf-8"?>
<p:sld xmlns:p="http://schemas.openxmlformats.org/presentationml/2006/main" xmlns:a="http://schemas.openxmlformats.org/drawingml/2006/main">
  <p:cSld>
    <p:bg>
      <p:bgPr>
        <a:solidFill>
          <a:srgbClr val="ABC9F4"/>
        </a:solidFill>
      </p:bgPr>
    </p:bg>
    <p:spTree>
      <p:nvGrpSpPr>
        <p:cNvPr id="1" name=""/>
        <p:cNvGrpSpPr/>
        <p:nvPr/>
      </p:nvGrpSpPr>
      <p:grpSpPr>
        <a:xfrm>
          <a:off x="0" y="0"/>
          <a:ext cx="0" cy="0"/>
          <a:chOff x="0" y="0"/>
          <a:chExt cx="0" cy="0"/>
        </a:xfrm>
      </p:grpSpPr>
      <p:grpSp>
        <p:nvGrpSpPr>
          <p:cNvPr name="Group 2" id="2"/>
          <p:cNvGrpSpPr/>
          <p:nvPr/>
        </p:nvGrpSpPr>
        <p:grpSpPr>
          <a:xfrm rot="0">
            <a:off x="4981575" y="4012910"/>
            <a:ext cx="8324850" cy="2261181"/>
            <a:chOff x="0" y="0"/>
            <a:chExt cx="11099800" cy="3014908"/>
          </a:xfrm>
        </p:grpSpPr>
        <p:sp>
          <p:nvSpPr>
            <p:cNvPr name="TextBox 3" id="3"/>
            <p:cNvSpPr txBox="true"/>
            <p:nvPr/>
          </p:nvSpPr>
          <p:spPr>
            <a:xfrm rot="0">
              <a:off x="0" y="66675"/>
              <a:ext cx="11099800" cy="1554696"/>
            </a:xfrm>
            <a:prstGeom prst="rect">
              <a:avLst/>
            </a:prstGeom>
          </p:spPr>
          <p:txBody>
            <a:bodyPr anchor="t" rtlCol="false" tIns="0" lIns="0" bIns="0" rIns="0">
              <a:spAutoFit/>
            </a:bodyPr>
            <a:lstStyle/>
            <a:p>
              <a:pPr algn="l" marL="0" indent="0" lvl="0">
                <a:lnSpc>
                  <a:spcPts val="8800"/>
                </a:lnSpc>
              </a:pPr>
              <a:r>
                <a:rPr lang="en-US" sz="8000">
                  <a:solidFill>
                    <a:srgbClr val="000000"/>
                  </a:solidFill>
                  <a:latin typeface="Georgia Pro Light"/>
                  <a:ea typeface="Georgia Pro Light"/>
                  <a:cs typeface="Georgia Pro Light"/>
                  <a:sym typeface="Georgia Pro Light"/>
                </a:rPr>
                <a:t>Cảm ơn &amp; Hỏi đáp</a:t>
              </a:r>
            </a:p>
          </p:txBody>
        </p:sp>
        <p:sp>
          <p:nvSpPr>
            <p:cNvPr name="TextBox 4" id="4"/>
            <p:cNvSpPr txBox="true"/>
            <p:nvPr/>
          </p:nvSpPr>
          <p:spPr>
            <a:xfrm rot="0">
              <a:off x="0" y="2047803"/>
              <a:ext cx="11099800" cy="967105"/>
            </a:xfrm>
            <a:prstGeom prst="rect">
              <a:avLst/>
            </a:prstGeom>
          </p:spPr>
          <p:txBody>
            <a:bodyPr anchor="t" rtlCol="false" tIns="0" lIns="0" bIns="0" rIns="0">
              <a:spAutoFit/>
            </a:bodyPr>
            <a:lstStyle/>
            <a:p>
              <a:pPr algn="l" marL="0" indent="0" lvl="0">
                <a:lnSpc>
                  <a:spcPts val="2940"/>
                </a:lnSpc>
              </a:pPr>
              <a:r>
                <a:rPr lang="en-US" b="true" sz="2100">
                  <a:solidFill>
                    <a:srgbClr val="000000"/>
                  </a:solidFill>
                  <a:latin typeface="DM Sans Bold"/>
                  <a:ea typeface="DM Sans Bold"/>
                  <a:cs typeface="DM Sans Bold"/>
                  <a:sym typeface="DM Sans Bold"/>
                </a:rPr>
                <a:t>Chúng tôi xin chân thành cảm ơn</a:t>
              </a:r>
              <a:r>
                <a:rPr lang="en-US" sz="2100">
                  <a:solidFill>
                    <a:srgbClr val="000000"/>
                  </a:solidFill>
                  <a:latin typeface="DM Sans"/>
                  <a:ea typeface="DM Sans"/>
                  <a:cs typeface="DM Sans"/>
                  <a:sym typeface="DM Sans"/>
                </a:rPr>
                <a:t> giảng viên và các bạn đã tham dự. Hãy đặt câu hỏi nếu có bất kỳ thắc mắc nào nhé!</a:t>
              </a:r>
            </a:p>
          </p:txBody>
        </p:sp>
      </p:gr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2006-08-16T00:00:00Z</dcterms:created>
  <dc:description>Bài thuyết trình - Trợ lý ảo</dc:description>
  <dc:identifier>DAHAdjNBuAY</dc:identifier>
  <dcterms:modified xsi:type="dcterms:W3CDTF">2011-08-01T06:04:30Z</dcterms:modified>
  <cp:revision>1</cp:revision>
  <dc:title>Bài thuyết trình - Trợ lý ảo</dc:title>
</cp:coreProperties>
</file>