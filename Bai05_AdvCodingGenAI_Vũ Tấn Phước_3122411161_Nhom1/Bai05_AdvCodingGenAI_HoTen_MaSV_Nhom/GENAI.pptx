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18288000" cy="10287000"/>
  <p:notesSz cx="6858000" cy="9144000"/>
  <p:embeddedFontLst>
    <p:embeddedFont>
      <p:font typeface="Tomorrow Bold" charset="1" panose="00000000000000000000"/>
      <p:regular r:id="rId49"/>
    </p:embeddedFont>
    <p:embeddedFont>
      <p:font typeface="Tomorrow" charset="1" panose="00000000000000000000"/>
      <p:regular r:id="rId50"/>
    </p:embeddedFont>
    <p:embeddedFont>
      <p:font typeface="Rokkitt" charset="1" panose="00000500000000000000"/>
      <p:regular r:id="rId51"/>
    </p:embeddedFont>
    <p:embeddedFont>
      <p:font typeface="Rokkitt Bold" charset="1" panose="00000800000000000000"/>
      <p:regular r:id="rId52"/>
    </p:embeddedFont>
    <p:embeddedFont>
      <p:font typeface="Tomorrow Bold Italics" charset="1" panose="00000000000000000000"/>
      <p:regular r:id="rId53"/>
    </p:embeddedFont>
    <p:embeddedFont>
      <p:font typeface="Tomorrow Italics" charset="1" panose="00000000000000000000"/>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028099" y="1539161"/>
            <a:ext cx="7719139" cy="771913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5596960" y="1539161"/>
            <a:ext cx="7719139" cy="771913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8" id="8"/>
          <p:cNvSpPr/>
          <p:nvPr/>
        </p:nvSpPr>
        <p:spPr>
          <a:xfrm flipH="false" flipV="false" rot="0">
            <a:off x="736630" y="6009010"/>
            <a:ext cx="2469284" cy="4409435"/>
          </a:xfrm>
          <a:custGeom>
            <a:avLst/>
            <a:gdLst/>
            <a:ahLst/>
            <a:cxnLst/>
            <a:rect r="r" b="b" t="t" l="l"/>
            <a:pathLst>
              <a:path h="4409435" w="2469284">
                <a:moveTo>
                  <a:pt x="0" y="0"/>
                </a:moveTo>
                <a:lnTo>
                  <a:pt x="2469283" y="0"/>
                </a:lnTo>
                <a:lnTo>
                  <a:pt x="2469283" y="4409435"/>
                </a:lnTo>
                <a:lnTo>
                  <a:pt x="0" y="4409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5082087" y="6009010"/>
            <a:ext cx="2469284" cy="4409435"/>
          </a:xfrm>
          <a:custGeom>
            <a:avLst/>
            <a:gdLst/>
            <a:ahLst/>
            <a:cxnLst/>
            <a:rect r="r" b="b" t="t" l="l"/>
            <a:pathLst>
              <a:path h="4409435" w="2469284">
                <a:moveTo>
                  <a:pt x="2469283" y="0"/>
                </a:moveTo>
                <a:lnTo>
                  <a:pt x="0" y="0"/>
                </a:lnTo>
                <a:lnTo>
                  <a:pt x="0" y="4409435"/>
                </a:lnTo>
                <a:lnTo>
                  <a:pt x="2469283" y="4409435"/>
                </a:lnTo>
                <a:lnTo>
                  <a:pt x="24692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1165251" y="5204470"/>
            <a:ext cx="1285489" cy="1285489"/>
          </a:xfrm>
          <a:custGeom>
            <a:avLst/>
            <a:gdLst/>
            <a:ahLst/>
            <a:cxnLst/>
            <a:rect r="r" b="b" t="t" l="l"/>
            <a:pathLst>
              <a:path h="1285489" w="1285489">
                <a:moveTo>
                  <a:pt x="0" y="0"/>
                </a:moveTo>
                <a:lnTo>
                  <a:pt x="1285489" y="0"/>
                </a:lnTo>
                <a:lnTo>
                  <a:pt x="1285489" y="1285489"/>
                </a:lnTo>
                <a:lnTo>
                  <a:pt x="0" y="1285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3132116" y="3925271"/>
            <a:ext cx="12023767" cy="1409992"/>
          </a:xfrm>
          <a:prstGeom prst="rect">
            <a:avLst/>
          </a:prstGeom>
        </p:spPr>
        <p:txBody>
          <a:bodyPr anchor="t" rtlCol="false" tIns="0" lIns="0" bIns="0" rIns="0">
            <a:spAutoFit/>
          </a:bodyPr>
          <a:lstStyle/>
          <a:p>
            <a:pPr algn="ctr">
              <a:lnSpc>
                <a:spcPts val="11536"/>
              </a:lnSpc>
              <a:spcBef>
                <a:spcPct val="0"/>
              </a:spcBef>
            </a:pPr>
            <a:r>
              <a:rPr lang="en-US" b="true" sz="8240">
                <a:solidFill>
                  <a:srgbClr val="000000"/>
                </a:solidFill>
                <a:latin typeface="Tomorrow Bold"/>
                <a:ea typeface="Tomorrow Bold"/>
                <a:cs typeface="Tomorrow Bold"/>
                <a:sym typeface="Tomorrow Bold"/>
              </a:rPr>
              <a:t>NÂNG CAO LẬP TRÌNH</a:t>
            </a:r>
          </a:p>
        </p:txBody>
      </p:sp>
      <p:sp>
        <p:nvSpPr>
          <p:cNvPr name="TextBox 12" id="12"/>
          <p:cNvSpPr txBox="true"/>
          <p:nvPr/>
        </p:nvSpPr>
        <p:spPr>
          <a:xfrm rot="0">
            <a:off x="3415430" y="5274905"/>
            <a:ext cx="10942267" cy="1020792"/>
          </a:xfrm>
          <a:prstGeom prst="rect">
            <a:avLst/>
          </a:prstGeom>
        </p:spPr>
        <p:txBody>
          <a:bodyPr anchor="t" rtlCol="false" tIns="0" lIns="0" bIns="0" rIns="0">
            <a:spAutoFit/>
          </a:bodyPr>
          <a:lstStyle/>
          <a:p>
            <a:pPr algn="ctr">
              <a:lnSpc>
                <a:spcPts val="8310"/>
              </a:lnSpc>
              <a:spcBef>
                <a:spcPct val="0"/>
              </a:spcBef>
            </a:pPr>
            <a:r>
              <a:rPr lang="en-US" sz="5936" spc="706">
                <a:solidFill>
                  <a:srgbClr val="3E4095"/>
                </a:solidFill>
                <a:latin typeface="Tomorrow"/>
                <a:ea typeface="Tomorrow"/>
                <a:cs typeface="Tomorrow"/>
                <a:sym typeface="Tomorrow"/>
              </a:rPr>
              <a:t>DÙNG GEN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047" y="1590211"/>
            <a:ext cx="8358149" cy="1971232"/>
            <a:chOff x="0" y="0"/>
            <a:chExt cx="2142977" cy="505412"/>
          </a:xfrm>
        </p:grpSpPr>
        <p:sp>
          <p:nvSpPr>
            <p:cNvPr name="Freeform 3" id="3"/>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4" id="4"/>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5" id="5"/>
          <p:cNvGrpSpPr/>
          <p:nvPr/>
        </p:nvGrpSpPr>
        <p:grpSpPr>
          <a:xfrm rot="0">
            <a:off x="458047" y="1590211"/>
            <a:ext cx="8358149" cy="877144"/>
            <a:chOff x="0" y="0"/>
            <a:chExt cx="2142977" cy="224894"/>
          </a:xfrm>
        </p:grpSpPr>
        <p:sp>
          <p:nvSpPr>
            <p:cNvPr name="Freeform 6" id="6"/>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7" id="7"/>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8" id="8"/>
          <p:cNvSpPr txBox="true"/>
          <p:nvPr/>
        </p:nvSpPr>
        <p:spPr>
          <a:xfrm rot="0">
            <a:off x="618184" y="2499627"/>
            <a:ext cx="8198013" cy="883289"/>
          </a:xfrm>
          <a:prstGeom prst="rect">
            <a:avLst/>
          </a:prstGeom>
        </p:spPr>
        <p:txBody>
          <a:bodyPr anchor="t" rtlCol="false" tIns="0" lIns="0" bIns="0" rIns="0">
            <a:spAutoFit/>
          </a:bodyPr>
          <a:lstStyle/>
          <a:p>
            <a:pPr algn="ctr">
              <a:lnSpc>
                <a:spcPts val="3567"/>
              </a:lnSpc>
            </a:pPr>
            <a:r>
              <a:rPr lang="en-US" b="true" sz="2362" spc="120">
                <a:solidFill>
                  <a:srgbClr val="000000"/>
                </a:solidFill>
                <a:latin typeface="Tomorrow Bold"/>
                <a:ea typeface="Tomorrow Bold"/>
                <a:cs typeface="Tomorrow Bold"/>
                <a:sym typeface="Tomorrow Bold"/>
              </a:rPr>
              <a:t>ĐẰNG SAU HẬU TRƯỜNG: CÁCH CHATGPT, GITHUB COPILOT &amp; CÁC LLM KHÁC HOẠT ĐỘNG </a:t>
            </a:r>
          </a:p>
        </p:txBody>
      </p:sp>
      <p:sp>
        <p:nvSpPr>
          <p:cNvPr name="TextBox 9" id="9"/>
          <p:cNvSpPr txBox="true"/>
          <p:nvPr/>
        </p:nvSpPr>
        <p:spPr>
          <a:xfrm rot="0">
            <a:off x="3932832" y="1369221"/>
            <a:ext cx="1408581" cy="1159329"/>
          </a:xfrm>
          <a:prstGeom prst="rect">
            <a:avLst/>
          </a:prstGeom>
        </p:spPr>
        <p:txBody>
          <a:bodyPr anchor="t" rtlCol="false" tIns="0" lIns="0" bIns="0" rIns="0">
            <a:spAutoFit/>
          </a:bodyPr>
          <a:lstStyle/>
          <a:p>
            <a:pPr algn="ctr">
              <a:lnSpc>
                <a:spcPts val="9507"/>
              </a:lnSpc>
            </a:pPr>
            <a:r>
              <a:rPr lang="en-US" b="true" sz="6467">
                <a:solidFill>
                  <a:srgbClr val="000000"/>
                </a:solidFill>
                <a:latin typeface="Tomorrow Bold"/>
                <a:ea typeface="Tomorrow Bold"/>
                <a:cs typeface="Tomorrow Bold"/>
                <a:sym typeface="Tomorrow Bold"/>
              </a:rPr>
              <a:t>06</a:t>
            </a:r>
          </a:p>
        </p:txBody>
      </p:sp>
      <p:grpSp>
        <p:nvGrpSpPr>
          <p:cNvPr name="Group 10" id="10"/>
          <p:cNvGrpSpPr/>
          <p:nvPr/>
        </p:nvGrpSpPr>
        <p:grpSpPr>
          <a:xfrm rot="0">
            <a:off x="458047" y="3966269"/>
            <a:ext cx="8358149" cy="1971232"/>
            <a:chOff x="0" y="0"/>
            <a:chExt cx="2142977" cy="505412"/>
          </a:xfrm>
        </p:grpSpPr>
        <p:sp>
          <p:nvSpPr>
            <p:cNvPr name="Freeform 11" id="11"/>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12" id="12"/>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13" id="13"/>
          <p:cNvGrpSpPr/>
          <p:nvPr/>
        </p:nvGrpSpPr>
        <p:grpSpPr>
          <a:xfrm rot="0">
            <a:off x="458047" y="3966269"/>
            <a:ext cx="8358149" cy="877144"/>
            <a:chOff x="0" y="0"/>
            <a:chExt cx="2142977" cy="224894"/>
          </a:xfrm>
        </p:grpSpPr>
        <p:sp>
          <p:nvSpPr>
            <p:cNvPr name="Freeform 14" id="14"/>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15" id="15"/>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16" id="16"/>
          <p:cNvSpPr txBox="true"/>
          <p:nvPr/>
        </p:nvSpPr>
        <p:spPr>
          <a:xfrm rot="0">
            <a:off x="618184" y="5100711"/>
            <a:ext cx="8198013" cy="433236"/>
          </a:xfrm>
          <a:prstGeom prst="rect">
            <a:avLst/>
          </a:prstGeom>
        </p:spPr>
        <p:txBody>
          <a:bodyPr anchor="t" rtlCol="false" tIns="0" lIns="0" bIns="0" rIns="0">
            <a:spAutoFit/>
          </a:bodyPr>
          <a:lstStyle/>
          <a:p>
            <a:pPr algn="ctr">
              <a:lnSpc>
                <a:spcPts val="3567"/>
              </a:lnSpc>
            </a:pPr>
            <a:r>
              <a:rPr lang="en-US" b="true" sz="2362" spc="120">
                <a:solidFill>
                  <a:srgbClr val="000000"/>
                </a:solidFill>
                <a:latin typeface="Tomorrow Bold"/>
                <a:ea typeface="Tomorrow Bold"/>
                <a:cs typeface="Tomorrow Bold"/>
                <a:sym typeface="Tomorrow Bold"/>
              </a:rPr>
              <a:t>ĐỌC VÀ HIỂU CƠ SỞ MÃ VỚI GENAI </a:t>
            </a:r>
          </a:p>
        </p:txBody>
      </p:sp>
      <p:sp>
        <p:nvSpPr>
          <p:cNvPr name="TextBox 17" id="17"/>
          <p:cNvSpPr txBox="true"/>
          <p:nvPr/>
        </p:nvSpPr>
        <p:spPr>
          <a:xfrm rot="0">
            <a:off x="3932832" y="3745279"/>
            <a:ext cx="1408581" cy="1159329"/>
          </a:xfrm>
          <a:prstGeom prst="rect">
            <a:avLst/>
          </a:prstGeom>
        </p:spPr>
        <p:txBody>
          <a:bodyPr anchor="t" rtlCol="false" tIns="0" lIns="0" bIns="0" rIns="0">
            <a:spAutoFit/>
          </a:bodyPr>
          <a:lstStyle/>
          <a:p>
            <a:pPr algn="ctr">
              <a:lnSpc>
                <a:spcPts val="9507"/>
              </a:lnSpc>
            </a:pPr>
            <a:r>
              <a:rPr lang="en-US" b="true" sz="6467">
                <a:solidFill>
                  <a:srgbClr val="000000"/>
                </a:solidFill>
                <a:latin typeface="Tomorrow Bold"/>
                <a:ea typeface="Tomorrow Bold"/>
                <a:cs typeface="Tomorrow Bold"/>
                <a:sym typeface="Tomorrow Bold"/>
              </a:rPr>
              <a:t>07</a:t>
            </a:r>
          </a:p>
        </p:txBody>
      </p:sp>
      <p:grpSp>
        <p:nvGrpSpPr>
          <p:cNvPr name="Group 18" id="18"/>
          <p:cNvGrpSpPr/>
          <p:nvPr/>
        </p:nvGrpSpPr>
        <p:grpSpPr>
          <a:xfrm rot="0">
            <a:off x="458047" y="6342326"/>
            <a:ext cx="8358149" cy="1971232"/>
            <a:chOff x="0" y="0"/>
            <a:chExt cx="2142977" cy="505412"/>
          </a:xfrm>
        </p:grpSpPr>
        <p:sp>
          <p:nvSpPr>
            <p:cNvPr name="Freeform 19" id="19"/>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20" id="20"/>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21" id="21"/>
          <p:cNvGrpSpPr/>
          <p:nvPr/>
        </p:nvGrpSpPr>
        <p:grpSpPr>
          <a:xfrm rot="0">
            <a:off x="458047" y="6342326"/>
            <a:ext cx="8358149" cy="877144"/>
            <a:chOff x="0" y="0"/>
            <a:chExt cx="2142977" cy="224894"/>
          </a:xfrm>
        </p:grpSpPr>
        <p:sp>
          <p:nvSpPr>
            <p:cNvPr name="Freeform 22" id="22"/>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23" id="23"/>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24" id="24"/>
          <p:cNvSpPr txBox="true"/>
          <p:nvPr/>
        </p:nvSpPr>
        <p:spPr>
          <a:xfrm rot="0">
            <a:off x="618184" y="7476769"/>
            <a:ext cx="8198013" cy="433236"/>
          </a:xfrm>
          <a:prstGeom prst="rect">
            <a:avLst/>
          </a:prstGeom>
        </p:spPr>
        <p:txBody>
          <a:bodyPr anchor="t" rtlCol="false" tIns="0" lIns="0" bIns="0" rIns="0">
            <a:spAutoFit/>
          </a:bodyPr>
          <a:lstStyle/>
          <a:p>
            <a:pPr algn="ctr">
              <a:lnSpc>
                <a:spcPts val="3567"/>
              </a:lnSpc>
            </a:pPr>
            <a:r>
              <a:rPr lang="en-US" b="true" sz="2362" spc="120">
                <a:solidFill>
                  <a:srgbClr val="000000"/>
                </a:solidFill>
                <a:latin typeface="Tomorrow Bold"/>
                <a:ea typeface="Tomorrow Bold"/>
                <a:cs typeface="Tomorrow Bold"/>
                <a:sym typeface="Tomorrow Bold"/>
              </a:rPr>
              <a:t>GIỚI THIỆU VỀ KỸ THUẬT GỢI Ý </a:t>
            </a:r>
          </a:p>
        </p:txBody>
      </p:sp>
      <p:sp>
        <p:nvSpPr>
          <p:cNvPr name="TextBox 25" id="25"/>
          <p:cNvSpPr txBox="true"/>
          <p:nvPr/>
        </p:nvSpPr>
        <p:spPr>
          <a:xfrm rot="0">
            <a:off x="3932832" y="6121336"/>
            <a:ext cx="1408581" cy="1159329"/>
          </a:xfrm>
          <a:prstGeom prst="rect">
            <a:avLst/>
          </a:prstGeom>
        </p:spPr>
        <p:txBody>
          <a:bodyPr anchor="t" rtlCol="false" tIns="0" lIns="0" bIns="0" rIns="0">
            <a:spAutoFit/>
          </a:bodyPr>
          <a:lstStyle/>
          <a:p>
            <a:pPr algn="ctr">
              <a:lnSpc>
                <a:spcPts val="9507"/>
              </a:lnSpc>
            </a:pPr>
            <a:r>
              <a:rPr lang="en-US" b="true" sz="6467">
                <a:solidFill>
                  <a:srgbClr val="000000"/>
                </a:solidFill>
                <a:latin typeface="Tomorrow Bold"/>
                <a:ea typeface="Tomorrow Bold"/>
                <a:cs typeface="Tomorrow Bold"/>
                <a:sym typeface="Tomorrow Bold"/>
              </a:rPr>
              <a:t>08</a:t>
            </a:r>
          </a:p>
        </p:txBody>
      </p:sp>
      <p:grpSp>
        <p:nvGrpSpPr>
          <p:cNvPr name="Group 26" id="26"/>
          <p:cNvGrpSpPr/>
          <p:nvPr/>
        </p:nvGrpSpPr>
        <p:grpSpPr>
          <a:xfrm rot="0">
            <a:off x="9471803" y="1590211"/>
            <a:ext cx="8358149" cy="1971232"/>
            <a:chOff x="0" y="0"/>
            <a:chExt cx="2142977" cy="505412"/>
          </a:xfrm>
        </p:grpSpPr>
        <p:sp>
          <p:nvSpPr>
            <p:cNvPr name="Freeform 27" id="27"/>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28" id="28"/>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29" id="29"/>
          <p:cNvGrpSpPr/>
          <p:nvPr/>
        </p:nvGrpSpPr>
        <p:grpSpPr>
          <a:xfrm rot="0">
            <a:off x="9471803" y="1590211"/>
            <a:ext cx="8358149" cy="877144"/>
            <a:chOff x="0" y="0"/>
            <a:chExt cx="2142977" cy="224894"/>
          </a:xfrm>
        </p:grpSpPr>
        <p:sp>
          <p:nvSpPr>
            <p:cNvPr name="Freeform 30" id="30"/>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31" id="31"/>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32" id="32"/>
          <p:cNvSpPr txBox="true"/>
          <p:nvPr/>
        </p:nvSpPr>
        <p:spPr>
          <a:xfrm rot="0">
            <a:off x="9631940" y="2499627"/>
            <a:ext cx="8198013" cy="883289"/>
          </a:xfrm>
          <a:prstGeom prst="rect">
            <a:avLst/>
          </a:prstGeom>
        </p:spPr>
        <p:txBody>
          <a:bodyPr anchor="t" rtlCol="false" tIns="0" lIns="0" bIns="0" rIns="0">
            <a:spAutoFit/>
          </a:bodyPr>
          <a:lstStyle/>
          <a:p>
            <a:pPr algn="ctr">
              <a:lnSpc>
                <a:spcPts val="3567"/>
              </a:lnSpc>
            </a:pPr>
            <a:r>
              <a:rPr lang="en-US" b="true" sz="2362" spc="120">
                <a:solidFill>
                  <a:srgbClr val="000000"/>
                </a:solidFill>
                <a:latin typeface="Tomorrow Bold"/>
                <a:ea typeface="Tomorrow Bold"/>
                <a:cs typeface="Tomorrow Bold"/>
                <a:sym typeface="Tomorrow Bold"/>
              </a:rPr>
              <a:t>KỸ THUẬT GỢI Ý NÂNG CAO CHO CÁC TÁC VỤ LIÊN QUAN ĐẾN LẬP TRÌNH </a:t>
            </a:r>
          </a:p>
        </p:txBody>
      </p:sp>
      <p:sp>
        <p:nvSpPr>
          <p:cNvPr name="Freeform 33" id="33"/>
          <p:cNvSpPr/>
          <p:nvPr/>
        </p:nvSpPr>
        <p:spPr>
          <a:xfrm flipH="false" flipV="false" rot="0">
            <a:off x="8077435" y="154650"/>
            <a:ext cx="2133130" cy="2087801"/>
          </a:xfrm>
          <a:custGeom>
            <a:avLst/>
            <a:gdLst/>
            <a:ahLst/>
            <a:cxnLst/>
            <a:rect r="r" b="b" t="t" l="l"/>
            <a:pathLst>
              <a:path h="2087801" w="2133130">
                <a:moveTo>
                  <a:pt x="0" y="0"/>
                </a:moveTo>
                <a:lnTo>
                  <a:pt x="2133130" y="0"/>
                </a:lnTo>
                <a:lnTo>
                  <a:pt x="2133130" y="2087802"/>
                </a:lnTo>
                <a:lnTo>
                  <a:pt x="0" y="2087802"/>
                </a:lnTo>
                <a:lnTo>
                  <a:pt x="0" y="0"/>
                </a:lnTo>
                <a:close/>
              </a:path>
            </a:pathLst>
          </a:custGeom>
          <a:blipFill>
            <a:blip r:embed="rId2"/>
            <a:stretch>
              <a:fillRect l="0" t="0" r="0" b="0"/>
            </a:stretch>
          </a:blipFill>
        </p:spPr>
      </p:sp>
      <p:sp>
        <p:nvSpPr>
          <p:cNvPr name="TextBox 34" id="34"/>
          <p:cNvSpPr txBox="true"/>
          <p:nvPr/>
        </p:nvSpPr>
        <p:spPr>
          <a:xfrm rot="0">
            <a:off x="12946588" y="1369221"/>
            <a:ext cx="1408581" cy="1159329"/>
          </a:xfrm>
          <a:prstGeom prst="rect">
            <a:avLst/>
          </a:prstGeom>
        </p:spPr>
        <p:txBody>
          <a:bodyPr anchor="t" rtlCol="false" tIns="0" lIns="0" bIns="0" rIns="0">
            <a:spAutoFit/>
          </a:bodyPr>
          <a:lstStyle/>
          <a:p>
            <a:pPr algn="ctr">
              <a:lnSpc>
                <a:spcPts val="9507"/>
              </a:lnSpc>
            </a:pPr>
            <a:r>
              <a:rPr lang="en-US" b="true" sz="6467">
                <a:solidFill>
                  <a:srgbClr val="000000"/>
                </a:solidFill>
                <a:latin typeface="Tomorrow Bold"/>
                <a:ea typeface="Tomorrow Bold"/>
                <a:cs typeface="Tomorrow Bold"/>
                <a:sym typeface="Tomorrow Bold"/>
              </a:rPr>
              <a:t>09</a:t>
            </a:r>
          </a:p>
        </p:txBody>
      </p:sp>
      <p:grpSp>
        <p:nvGrpSpPr>
          <p:cNvPr name="Group 35" id="35"/>
          <p:cNvGrpSpPr/>
          <p:nvPr/>
        </p:nvGrpSpPr>
        <p:grpSpPr>
          <a:xfrm rot="0">
            <a:off x="9471803" y="3966269"/>
            <a:ext cx="8358149" cy="1971232"/>
            <a:chOff x="0" y="0"/>
            <a:chExt cx="2142977" cy="505412"/>
          </a:xfrm>
        </p:grpSpPr>
        <p:sp>
          <p:nvSpPr>
            <p:cNvPr name="Freeform 36" id="36"/>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37" id="37"/>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38" id="38"/>
          <p:cNvGrpSpPr/>
          <p:nvPr/>
        </p:nvGrpSpPr>
        <p:grpSpPr>
          <a:xfrm rot="0">
            <a:off x="9471803" y="3966269"/>
            <a:ext cx="8358149" cy="877144"/>
            <a:chOff x="0" y="0"/>
            <a:chExt cx="2142977" cy="224894"/>
          </a:xfrm>
        </p:grpSpPr>
        <p:sp>
          <p:nvSpPr>
            <p:cNvPr name="Freeform 39" id="39"/>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40" id="40"/>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41" id="41"/>
          <p:cNvSpPr txBox="true"/>
          <p:nvPr/>
        </p:nvSpPr>
        <p:spPr>
          <a:xfrm rot="0">
            <a:off x="9631940" y="5100711"/>
            <a:ext cx="8198013" cy="433236"/>
          </a:xfrm>
          <a:prstGeom prst="rect">
            <a:avLst/>
          </a:prstGeom>
        </p:spPr>
        <p:txBody>
          <a:bodyPr anchor="t" rtlCol="false" tIns="0" lIns="0" bIns="0" rIns="0">
            <a:spAutoFit/>
          </a:bodyPr>
          <a:lstStyle/>
          <a:p>
            <a:pPr algn="ctr">
              <a:lnSpc>
                <a:spcPts val="3567"/>
              </a:lnSpc>
            </a:pPr>
            <a:r>
              <a:rPr lang="en-US" b="true" sz="2362" spc="120">
                <a:solidFill>
                  <a:srgbClr val="000000"/>
                </a:solidFill>
                <a:latin typeface="Tomorrow Bold"/>
                <a:ea typeface="Tomorrow Bold"/>
                <a:cs typeface="Tomorrow Bold"/>
                <a:sym typeface="Tomorrow Bold"/>
              </a:rPr>
              <a:t>TÁI CẤU TRÚC MÃ VỚI GENAI</a:t>
            </a:r>
          </a:p>
        </p:txBody>
      </p:sp>
      <p:sp>
        <p:nvSpPr>
          <p:cNvPr name="TextBox 42" id="42"/>
          <p:cNvSpPr txBox="true"/>
          <p:nvPr/>
        </p:nvSpPr>
        <p:spPr>
          <a:xfrm rot="0">
            <a:off x="12946588" y="3745279"/>
            <a:ext cx="1408581" cy="1159329"/>
          </a:xfrm>
          <a:prstGeom prst="rect">
            <a:avLst/>
          </a:prstGeom>
        </p:spPr>
        <p:txBody>
          <a:bodyPr anchor="t" rtlCol="false" tIns="0" lIns="0" bIns="0" rIns="0">
            <a:spAutoFit/>
          </a:bodyPr>
          <a:lstStyle/>
          <a:p>
            <a:pPr algn="ctr">
              <a:lnSpc>
                <a:spcPts val="9507"/>
              </a:lnSpc>
            </a:pPr>
            <a:r>
              <a:rPr lang="en-US" b="true" sz="6467">
                <a:solidFill>
                  <a:srgbClr val="000000"/>
                </a:solidFill>
                <a:latin typeface="Tomorrow Bold"/>
                <a:ea typeface="Tomorrow Bold"/>
                <a:cs typeface="Tomorrow Bold"/>
                <a:sym typeface="Tomorrow Bold"/>
              </a:rPr>
              <a:t>10</a:t>
            </a:r>
          </a:p>
        </p:txBody>
      </p:sp>
      <p:grpSp>
        <p:nvGrpSpPr>
          <p:cNvPr name="Group 43" id="43"/>
          <p:cNvGrpSpPr/>
          <p:nvPr/>
        </p:nvGrpSpPr>
        <p:grpSpPr>
          <a:xfrm rot="0">
            <a:off x="9471803" y="6342326"/>
            <a:ext cx="8358149" cy="1971232"/>
            <a:chOff x="0" y="0"/>
            <a:chExt cx="2142977" cy="505412"/>
          </a:xfrm>
        </p:grpSpPr>
        <p:sp>
          <p:nvSpPr>
            <p:cNvPr name="Freeform 44" id="44"/>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45" id="45"/>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46" id="46"/>
          <p:cNvGrpSpPr/>
          <p:nvPr/>
        </p:nvGrpSpPr>
        <p:grpSpPr>
          <a:xfrm rot="0">
            <a:off x="9471803" y="6342326"/>
            <a:ext cx="8358149" cy="877144"/>
            <a:chOff x="0" y="0"/>
            <a:chExt cx="2142977" cy="224894"/>
          </a:xfrm>
        </p:grpSpPr>
        <p:sp>
          <p:nvSpPr>
            <p:cNvPr name="Freeform 47" id="47"/>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48" id="48"/>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49" id="49"/>
          <p:cNvSpPr txBox="true"/>
          <p:nvPr/>
        </p:nvSpPr>
        <p:spPr>
          <a:xfrm rot="0">
            <a:off x="9811428" y="7251742"/>
            <a:ext cx="7678900" cy="883289"/>
          </a:xfrm>
          <a:prstGeom prst="rect">
            <a:avLst/>
          </a:prstGeom>
        </p:spPr>
        <p:txBody>
          <a:bodyPr anchor="t" rtlCol="false" tIns="0" lIns="0" bIns="0" rIns="0">
            <a:spAutoFit/>
          </a:bodyPr>
          <a:lstStyle/>
          <a:p>
            <a:pPr algn="ctr">
              <a:lnSpc>
                <a:spcPts val="3567"/>
              </a:lnSpc>
            </a:pPr>
            <a:r>
              <a:rPr lang="en-US" b="true" sz="2362" spc="120">
                <a:solidFill>
                  <a:srgbClr val="000000"/>
                </a:solidFill>
                <a:latin typeface="Tomorrow Bold"/>
                <a:ea typeface="Tomorrow Bold"/>
                <a:cs typeface="Tomorrow Bold"/>
                <a:sym typeface="Tomorrow Bold"/>
              </a:rPr>
              <a:t>TINH CHỈNH MÔ HÌNH VỚI OPENAI+ TÓM TẮT LÝ THUYẾT VÀ LAB MINH HỌA</a:t>
            </a:r>
          </a:p>
        </p:txBody>
      </p:sp>
      <p:sp>
        <p:nvSpPr>
          <p:cNvPr name="TextBox 50" id="50"/>
          <p:cNvSpPr txBox="true"/>
          <p:nvPr/>
        </p:nvSpPr>
        <p:spPr>
          <a:xfrm rot="0">
            <a:off x="12946588" y="6121336"/>
            <a:ext cx="1408581" cy="1159329"/>
          </a:xfrm>
          <a:prstGeom prst="rect">
            <a:avLst/>
          </a:prstGeom>
        </p:spPr>
        <p:txBody>
          <a:bodyPr anchor="t" rtlCol="false" tIns="0" lIns="0" bIns="0" rIns="0">
            <a:spAutoFit/>
          </a:bodyPr>
          <a:lstStyle/>
          <a:p>
            <a:pPr algn="ctr">
              <a:lnSpc>
                <a:spcPts val="9507"/>
              </a:lnSpc>
            </a:pPr>
            <a:r>
              <a:rPr lang="en-US" b="true" sz="6467">
                <a:solidFill>
                  <a:srgbClr val="000000"/>
                </a:solidFill>
                <a:latin typeface="Tomorrow Bold"/>
                <a:ea typeface="Tomorrow Bold"/>
                <a:cs typeface="Tomorrow Bold"/>
                <a:sym typeface="Tomorrow Bold"/>
              </a:rPr>
              <a:t>11</a:t>
            </a:r>
          </a:p>
        </p:txBody>
      </p:sp>
      <p:sp>
        <p:nvSpPr>
          <p:cNvPr name="TextBox 51" id="51"/>
          <p:cNvSpPr txBox="true"/>
          <p:nvPr/>
        </p:nvSpPr>
        <p:spPr>
          <a:xfrm rot="0">
            <a:off x="2692680" y="8596444"/>
            <a:ext cx="12902640" cy="1390387"/>
          </a:xfrm>
          <a:prstGeom prst="rect">
            <a:avLst/>
          </a:prstGeom>
        </p:spPr>
        <p:txBody>
          <a:bodyPr anchor="t" rtlCol="false" tIns="0" lIns="0" bIns="0" rIns="0">
            <a:spAutoFit/>
          </a:bodyPr>
          <a:lstStyle/>
          <a:p>
            <a:pPr algn="ctr">
              <a:lnSpc>
                <a:spcPts val="10859"/>
              </a:lnSpc>
            </a:pPr>
            <a:r>
              <a:rPr lang="en-US" b="true" sz="9610">
                <a:solidFill>
                  <a:srgbClr val="111924"/>
                </a:solidFill>
                <a:latin typeface="Tomorrow Bold"/>
                <a:ea typeface="Tomorrow Bold"/>
                <a:cs typeface="Tomorrow Bold"/>
                <a:sym typeface="Tomorrow Bold"/>
              </a:rPr>
              <a:t>NỘI DUNG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39985" y="3224791"/>
            <a:ext cx="16608030" cy="3916929"/>
            <a:chOff x="0" y="0"/>
            <a:chExt cx="2142977" cy="505412"/>
          </a:xfrm>
        </p:grpSpPr>
        <p:sp>
          <p:nvSpPr>
            <p:cNvPr name="Freeform 3" id="3"/>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4" id="4"/>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5" id="5"/>
          <p:cNvGrpSpPr/>
          <p:nvPr/>
        </p:nvGrpSpPr>
        <p:grpSpPr>
          <a:xfrm rot="0">
            <a:off x="839985" y="3224791"/>
            <a:ext cx="16608030" cy="1742925"/>
            <a:chOff x="0" y="0"/>
            <a:chExt cx="2142977" cy="224894"/>
          </a:xfrm>
        </p:grpSpPr>
        <p:sp>
          <p:nvSpPr>
            <p:cNvPr name="Freeform 6" id="6"/>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7" id="7"/>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8" id="8"/>
          <p:cNvSpPr txBox="true"/>
          <p:nvPr/>
        </p:nvSpPr>
        <p:spPr>
          <a:xfrm rot="0">
            <a:off x="1158183" y="5040381"/>
            <a:ext cx="16289832" cy="1746598"/>
          </a:xfrm>
          <a:prstGeom prst="rect">
            <a:avLst/>
          </a:prstGeom>
        </p:spPr>
        <p:txBody>
          <a:bodyPr anchor="t" rtlCol="false" tIns="0" lIns="0" bIns="0" rIns="0">
            <a:spAutoFit/>
          </a:bodyPr>
          <a:lstStyle/>
          <a:p>
            <a:pPr algn="ctr">
              <a:lnSpc>
                <a:spcPts val="7088"/>
              </a:lnSpc>
            </a:pPr>
            <a:r>
              <a:rPr lang="en-US" b="true" sz="4694" spc="239">
                <a:solidFill>
                  <a:srgbClr val="000000"/>
                </a:solidFill>
                <a:latin typeface="Tomorrow Bold"/>
                <a:ea typeface="Tomorrow Bold"/>
                <a:cs typeface="Tomorrow Bold"/>
                <a:sym typeface="Tomorrow Bold"/>
              </a:rPr>
              <a:t>ĐẰNG SAU HẬU TRƯỜNG: CÁCH CHATGPT, GITHUB COPILOT &amp; CÁC LLM KHÁC HOẠT ĐỘNG </a:t>
            </a:r>
          </a:p>
        </p:txBody>
      </p:sp>
      <p:sp>
        <p:nvSpPr>
          <p:cNvPr name="TextBox 9" id="9"/>
          <p:cNvSpPr txBox="true"/>
          <p:nvPr/>
        </p:nvSpPr>
        <p:spPr>
          <a:xfrm rot="0">
            <a:off x="7744542" y="2690307"/>
            <a:ext cx="2798915" cy="2277410"/>
          </a:xfrm>
          <a:prstGeom prst="rect">
            <a:avLst/>
          </a:prstGeom>
        </p:spPr>
        <p:txBody>
          <a:bodyPr anchor="t" rtlCol="false" tIns="0" lIns="0" bIns="0" rIns="0">
            <a:spAutoFit/>
          </a:bodyPr>
          <a:lstStyle/>
          <a:p>
            <a:pPr algn="ctr">
              <a:lnSpc>
                <a:spcPts val="18891"/>
              </a:lnSpc>
            </a:pPr>
            <a:r>
              <a:rPr lang="en-US" b="true" sz="12851">
                <a:solidFill>
                  <a:srgbClr val="000000"/>
                </a:solidFill>
                <a:latin typeface="Tomorrow Bold"/>
                <a:ea typeface="Tomorrow Bold"/>
                <a:cs typeface="Tomorrow Bold"/>
                <a:sym typeface="Tomorrow Bold"/>
              </a:rPr>
              <a:t>06</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74928" y="2583114"/>
            <a:ext cx="7938145" cy="1343591"/>
            <a:chOff x="0" y="0"/>
            <a:chExt cx="10584193" cy="1791455"/>
          </a:xfrm>
        </p:grpSpPr>
        <p:grpSp>
          <p:nvGrpSpPr>
            <p:cNvPr name="Group 3" id="3"/>
            <p:cNvGrpSpPr/>
            <p:nvPr/>
          </p:nvGrpSpPr>
          <p:grpSpPr>
            <a:xfrm rot="0">
              <a:off x="186011" y="0"/>
              <a:ext cx="10212171" cy="1791455"/>
              <a:chOff x="0" y="0"/>
              <a:chExt cx="595635" cy="104488"/>
            </a:xfrm>
          </p:grpSpPr>
          <p:sp>
            <p:nvSpPr>
              <p:cNvPr name="Freeform 4" id="4"/>
              <p:cNvSpPr/>
              <p:nvPr/>
            </p:nvSpPr>
            <p:spPr>
              <a:xfrm flipH="false" flipV="false" rot="0">
                <a:off x="0" y="0"/>
                <a:ext cx="595635" cy="104488"/>
              </a:xfrm>
              <a:custGeom>
                <a:avLst/>
                <a:gdLst/>
                <a:ahLst/>
                <a:cxnLst/>
                <a:rect r="r" b="b" t="t" l="l"/>
                <a:pathLst>
                  <a:path h="104488" w="595635">
                    <a:moveTo>
                      <a:pt x="0" y="0"/>
                    </a:moveTo>
                    <a:lnTo>
                      <a:pt x="595635" y="0"/>
                    </a:lnTo>
                    <a:lnTo>
                      <a:pt x="5956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5956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10584193" cy="1511733"/>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6.1. Giới thiệu</a:t>
              </a:r>
            </a:p>
          </p:txBody>
        </p:sp>
      </p:grpSp>
      <p:sp>
        <p:nvSpPr>
          <p:cNvPr name="TextBox 7" id="7"/>
          <p:cNvSpPr txBox="true"/>
          <p:nvPr/>
        </p:nvSpPr>
        <p:spPr>
          <a:xfrm rot="0">
            <a:off x="405874" y="4084273"/>
            <a:ext cx="17476252" cy="3128525"/>
          </a:xfrm>
          <a:prstGeom prst="rect">
            <a:avLst/>
          </a:prstGeom>
        </p:spPr>
        <p:txBody>
          <a:bodyPr anchor="t" rtlCol="false" tIns="0" lIns="0" bIns="0" rIns="0">
            <a:spAutoFit/>
          </a:bodyPr>
          <a:lstStyle/>
          <a:p>
            <a:pPr algn="l" marL="771757" indent="-385879" lvl="1">
              <a:lnSpc>
                <a:spcPts val="5004"/>
              </a:lnSpc>
              <a:buFont typeface="Arial"/>
              <a:buChar char="•"/>
            </a:pPr>
            <a:r>
              <a:rPr lang="en-US" sz="3574">
                <a:solidFill>
                  <a:srgbClr val="000000"/>
                </a:solidFill>
                <a:latin typeface="Rokkitt"/>
                <a:ea typeface="Rokkitt"/>
                <a:cs typeface="Rokkitt"/>
                <a:sym typeface="Rokkitt"/>
              </a:rPr>
              <a:t>Trình bày cơ chế hoạt động của các mô hình ngôn ngữ lớn (LLMs) dưới góc độ kỹ thuật &amp; thống kê.</a:t>
            </a:r>
          </a:p>
          <a:p>
            <a:pPr algn="l" marL="771757" indent="-385879" lvl="1">
              <a:lnSpc>
                <a:spcPts val="5004"/>
              </a:lnSpc>
              <a:buFont typeface="Arial"/>
              <a:buChar char="•"/>
            </a:pPr>
            <a:r>
              <a:rPr lang="en-US" sz="3574">
                <a:solidFill>
                  <a:srgbClr val="000000"/>
                </a:solidFill>
                <a:latin typeface="Rokkitt"/>
                <a:ea typeface="Rokkitt"/>
                <a:cs typeface="Rokkitt"/>
                <a:sym typeface="Rokkitt"/>
              </a:rPr>
              <a:t>Giải thích cách mô hình xử lý dữ liệu và sinh văn bản, mã nguồn.</a:t>
            </a:r>
          </a:p>
          <a:p>
            <a:pPr algn="l" marL="771757" indent="-385879" lvl="1">
              <a:lnSpc>
                <a:spcPts val="5004"/>
              </a:lnSpc>
              <a:buFont typeface="Arial"/>
              <a:buChar char="•"/>
            </a:pPr>
            <a:r>
              <a:rPr lang="en-US" sz="3574">
                <a:solidFill>
                  <a:srgbClr val="000000"/>
                </a:solidFill>
                <a:latin typeface="Rokkitt"/>
                <a:ea typeface="Rokkitt"/>
                <a:cs typeface="Rokkitt"/>
                <a:sym typeface="Rokkitt"/>
              </a:rPr>
              <a:t>Đề cập các phương pháp cải thiện hiệu suất.</a:t>
            </a:r>
          </a:p>
          <a:p>
            <a:pPr algn="l" marL="771757" indent="-385879" lvl="1">
              <a:lnSpc>
                <a:spcPts val="5004"/>
              </a:lnSpc>
              <a:buFont typeface="Arial"/>
              <a:buChar char="•"/>
            </a:pPr>
            <a:r>
              <a:rPr lang="en-US" sz="3574">
                <a:solidFill>
                  <a:srgbClr val="000000"/>
                </a:solidFill>
                <a:latin typeface="Rokkitt"/>
                <a:ea typeface="Rokkitt"/>
                <a:cs typeface="Rokkitt"/>
                <a:sym typeface="Rokkitt"/>
              </a:rPr>
              <a:t>Phân tích những hạn chế còn tồn tại trong thực tế.</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84572" y="2438124"/>
            <a:ext cx="10560481" cy="1343591"/>
            <a:chOff x="0" y="0"/>
            <a:chExt cx="14080641" cy="1791455"/>
          </a:xfrm>
        </p:grpSpPr>
        <p:grpSp>
          <p:nvGrpSpPr>
            <p:cNvPr name="Group 3" id="3"/>
            <p:cNvGrpSpPr/>
            <p:nvPr/>
          </p:nvGrpSpPr>
          <p:grpSpPr>
            <a:xfrm rot="0">
              <a:off x="186011" y="0"/>
              <a:ext cx="13894630" cy="1791455"/>
              <a:chOff x="0" y="0"/>
              <a:chExt cx="810418" cy="104488"/>
            </a:xfrm>
          </p:grpSpPr>
          <p:sp>
            <p:nvSpPr>
              <p:cNvPr name="Freeform 4" id="4"/>
              <p:cNvSpPr/>
              <p:nvPr/>
            </p:nvSpPr>
            <p:spPr>
              <a:xfrm flipH="false" flipV="false" rot="0">
                <a:off x="0" y="0"/>
                <a:ext cx="810418" cy="104488"/>
              </a:xfrm>
              <a:custGeom>
                <a:avLst/>
                <a:gdLst/>
                <a:ahLst/>
                <a:cxnLst/>
                <a:rect r="r" b="b" t="t" l="l"/>
                <a:pathLst>
                  <a:path h="104488" w="810418">
                    <a:moveTo>
                      <a:pt x="0" y="0"/>
                    </a:moveTo>
                    <a:lnTo>
                      <a:pt x="810418" y="0"/>
                    </a:lnTo>
                    <a:lnTo>
                      <a:pt x="810418"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810418"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14080641" cy="1511733"/>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6.2. Yêu cầu kỹ thuật</a:t>
              </a:r>
            </a:p>
          </p:txBody>
        </p:sp>
      </p:grpSp>
      <p:sp>
        <p:nvSpPr>
          <p:cNvPr name="TextBox 7" id="7"/>
          <p:cNvSpPr txBox="true"/>
          <p:nvPr/>
        </p:nvSpPr>
        <p:spPr>
          <a:xfrm rot="0">
            <a:off x="469439" y="3960652"/>
            <a:ext cx="17972163" cy="2490493"/>
          </a:xfrm>
          <a:prstGeom prst="rect">
            <a:avLst/>
          </a:prstGeom>
        </p:spPr>
        <p:txBody>
          <a:bodyPr anchor="t" rtlCol="false" tIns="0" lIns="0" bIns="0" rIns="0">
            <a:spAutoFit/>
          </a:bodyPr>
          <a:lstStyle/>
          <a:p>
            <a:pPr algn="l">
              <a:lnSpc>
                <a:spcPts val="4998"/>
              </a:lnSpc>
              <a:spcBef>
                <a:spcPct val="0"/>
              </a:spcBef>
            </a:pPr>
            <a:r>
              <a:rPr lang="en-US" b="true" sz="3570">
                <a:solidFill>
                  <a:srgbClr val="000000"/>
                </a:solidFill>
                <a:latin typeface="Rokkitt Bold"/>
                <a:ea typeface="Rokkitt Bold"/>
                <a:cs typeface="Rokkitt Bold"/>
                <a:sym typeface="Rokkitt Bold"/>
              </a:rPr>
              <a:t>X</a:t>
            </a:r>
            <a:r>
              <a:rPr lang="en-US" b="true" sz="3570">
                <a:solidFill>
                  <a:srgbClr val="000000"/>
                </a:solidFill>
                <a:latin typeface="Rokkitt Bold"/>
                <a:ea typeface="Rokkitt Bold"/>
                <a:cs typeface="Rokkitt Bold"/>
                <a:sym typeface="Rokkitt Bold"/>
              </a:rPr>
              <a:t>ây dựng và vận hành các mô hình LLM, cần đáp ứng một số yêu cầu kỹ thuật quan trọng: </a:t>
            </a:r>
          </a:p>
          <a:p>
            <a:pPr algn="l" marL="770763" indent="-385382" lvl="1">
              <a:lnSpc>
                <a:spcPts val="4998"/>
              </a:lnSpc>
              <a:buAutoNum type="arabicPeriod" startAt="1"/>
            </a:pPr>
            <a:r>
              <a:rPr lang="en-US" sz="3570">
                <a:solidFill>
                  <a:srgbClr val="000000"/>
                </a:solidFill>
                <a:latin typeface="Rokkitt"/>
                <a:ea typeface="Rokkitt"/>
                <a:cs typeface="Rokkitt"/>
                <a:sym typeface="Rokkitt"/>
              </a:rPr>
              <a:t>Tập dữ liệu huấn luyện quy mô lớn, bao gồm văn bản và mã nguồn. </a:t>
            </a:r>
          </a:p>
          <a:p>
            <a:pPr algn="l" marL="770763" indent="-385382" lvl="1">
              <a:lnSpc>
                <a:spcPts val="4998"/>
              </a:lnSpc>
              <a:buAutoNum type="arabicPeriod" startAt="1"/>
            </a:pPr>
            <a:r>
              <a:rPr lang="en-US" sz="3570">
                <a:solidFill>
                  <a:srgbClr val="000000"/>
                </a:solidFill>
                <a:latin typeface="Rokkitt"/>
                <a:ea typeface="Rokkitt"/>
                <a:cs typeface="Rokkitt"/>
                <a:sym typeface="Rokkitt"/>
              </a:rPr>
              <a:t>Hạ tầng tính toán hiệu năng cao, đặc biệt là GPU hoặc TPU.</a:t>
            </a:r>
          </a:p>
          <a:p>
            <a:pPr algn="l" marL="770763" indent="-385382" lvl="1">
              <a:lnSpc>
                <a:spcPts val="4998"/>
              </a:lnSpc>
              <a:buAutoNum type="arabicPeriod" startAt="1"/>
            </a:pPr>
            <a:r>
              <a:rPr lang="en-US" sz="3570">
                <a:solidFill>
                  <a:srgbClr val="000000"/>
                </a:solidFill>
                <a:latin typeface="Rokkitt"/>
                <a:ea typeface="Rokkitt"/>
                <a:cs typeface="Rokkitt"/>
                <a:sym typeface="Rokkitt"/>
              </a:rPr>
              <a:t>Hệ thống lưu trữ và xử lý dữ liệu có khả năng mở rộng.</a:t>
            </a:r>
          </a:p>
        </p:txBody>
      </p:sp>
      <p:sp>
        <p:nvSpPr>
          <p:cNvPr name="TextBox 8" id="8"/>
          <p:cNvSpPr txBox="true"/>
          <p:nvPr/>
        </p:nvSpPr>
        <p:spPr>
          <a:xfrm rot="0">
            <a:off x="855574" y="6641645"/>
            <a:ext cx="17199893" cy="513775"/>
          </a:xfrm>
          <a:prstGeom prst="rect">
            <a:avLst/>
          </a:prstGeom>
        </p:spPr>
        <p:txBody>
          <a:bodyPr anchor="t" rtlCol="false" tIns="0" lIns="0" bIns="0" rIns="0">
            <a:spAutoFit/>
          </a:bodyPr>
          <a:lstStyle/>
          <a:p>
            <a:pPr algn="l">
              <a:lnSpc>
                <a:spcPts val="4230"/>
              </a:lnSpc>
              <a:spcBef>
                <a:spcPct val="0"/>
              </a:spcBef>
            </a:pPr>
            <a:r>
              <a:rPr lang="en-US" b="true" sz="3021" i="true" strike="noStrike" u="none">
                <a:solidFill>
                  <a:srgbClr val="000000"/>
                </a:solidFill>
                <a:latin typeface="Tomorrow Bold Italics"/>
                <a:ea typeface="Tomorrow Bold Italics"/>
                <a:cs typeface="Tomorrow Bold Italics"/>
                <a:sym typeface="Tomorrow Bold Italics"/>
              </a:rPr>
              <a:t>→ Việc phát triển LLM phụ thuộc mạnh vào quy mô dữ liệu và tài nguyên tính toán.</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8276" y="2167565"/>
            <a:ext cx="16991448" cy="1343591"/>
            <a:chOff x="0" y="0"/>
            <a:chExt cx="22655264" cy="1791455"/>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1511733"/>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6.3. Phương pháp tiếp cận thống kê</a:t>
              </a:r>
            </a:p>
          </p:txBody>
        </p:sp>
      </p:grpSp>
      <p:sp>
        <p:nvSpPr>
          <p:cNvPr name="TextBox 7" id="7"/>
          <p:cNvSpPr txBox="true"/>
          <p:nvPr/>
        </p:nvSpPr>
        <p:spPr>
          <a:xfrm rot="0">
            <a:off x="1028700" y="3876151"/>
            <a:ext cx="16997572" cy="3757149"/>
          </a:xfrm>
          <a:prstGeom prst="rect">
            <a:avLst/>
          </a:prstGeom>
        </p:spPr>
        <p:txBody>
          <a:bodyPr anchor="t" rtlCol="false" tIns="0" lIns="0" bIns="0" rIns="0">
            <a:spAutoFit/>
          </a:bodyPr>
          <a:lstStyle/>
          <a:p>
            <a:pPr algn="l" marL="771757" indent="-385879" lvl="1">
              <a:lnSpc>
                <a:spcPts val="5004"/>
              </a:lnSpc>
              <a:buFont typeface="Arial"/>
              <a:buChar char="•"/>
            </a:pPr>
            <a:r>
              <a:rPr lang="en-US" sz="3574">
                <a:solidFill>
                  <a:srgbClr val="000000"/>
                </a:solidFill>
                <a:latin typeface="Rokkitt"/>
                <a:ea typeface="Rokkitt"/>
                <a:cs typeface="Rokkitt"/>
                <a:sym typeface="Rokkitt"/>
              </a:rPr>
              <a:t>LLMs được xây dựng dựa trên phương pháp thống kê.</a:t>
            </a:r>
          </a:p>
          <a:p>
            <a:pPr algn="l" marL="771757" indent="-385879" lvl="1">
              <a:lnSpc>
                <a:spcPts val="5004"/>
              </a:lnSpc>
              <a:buFont typeface="Arial"/>
              <a:buChar char="•"/>
            </a:pPr>
            <a:r>
              <a:rPr lang="en-US" sz="3574">
                <a:solidFill>
                  <a:srgbClr val="000000"/>
                </a:solidFill>
                <a:latin typeface="Rokkitt"/>
                <a:ea typeface="Rokkitt"/>
                <a:cs typeface="Rokkitt"/>
                <a:sym typeface="Rokkitt"/>
              </a:rPr>
              <a:t>Mục tiêu chính: ước lượng xác suất xuất hiện của một từ dựa trên các từ trước đó trong chuỗi.</a:t>
            </a:r>
          </a:p>
          <a:p>
            <a:pPr algn="l">
              <a:lnSpc>
                <a:spcPts val="5004"/>
              </a:lnSpc>
            </a:pPr>
            <a:r>
              <a:rPr lang="en-US" sz="3574">
                <a:solidFill>
                  <a:srgbClr val="000000"/>
                </a:solidFill>
                <a:latin typeface="Rokkitt"/>
                <a:ea typeface="Rokkitt"/>
                <a:cs typeface="Rokkitt"/>
                <a:sym typeface="Rokkitt"/>
              </a:rPr>
              <a:t>    </a:t>
            </a:r>
            <a:r>
              <a:rPr lang="en-US" sz="3574">
                <a:solidFill>
                  <a:srgbClr val="3E4095"/>
                </a:solidFill>
                <a:latin typeface="Rokkitt"/>
                <a:ea typeface="Rokkitt"/>
                <a:cs typeface="Rokkitt"/>
                <a:sym typeface="Rokkitt"/>
              </a:rPr>
              <a:t>  P(w_n \mid w_1, w_2, \dots, w_{n-1})</a:t>
            </a:r>
          </a:p>
          <a:p>
            <a:pPr algn="l" marL="771757" indent="-385879" lvl="1">
              <a:lnSpc>
                <a:spcPts val="5004"/>
              </a:lnSpc>
              <a:buFont typeface="Arial"/>
              <a:buChar char="•"/>
            </a:pPr>
            <a:r>
              <a:rPr lang="en-US" sz="3574">
                <a:solidFill>
                  <a:srgbClr val="000000"/>
                </a:solidFill>
                <a:latin typeface="Rokkitt"/>
                <a:ea typeface="Rokkitt"/>
                <a:cs typeface="Rokkitt"/>
                <a:sym typeface="Rokkitt"/>
              </a:rPr>
              <a:t>Mô hình không thực sự hiểu ngôn ngữ theo nghĩa ngữ nghĩa, mà học các quy luật phân bố xác suất từ dữ liệu huấn luyện.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95211" y="2126683"/>
            <a:ext cx="11897579" cy="4714415"/>
          </a:xfrm>
          <a:custGeom>
            <a:avLst/>
            <a:gdLst/>
            <a:ahLst/>
            <a:cxnLst/>
            <a:rect r="r" b="b" t="t" l="l"/>
            <a:pathLst>
              <a:path h="4714415" w="11897579">
                <a:moveTo>
                  <a:pt x="0" y="0"/>
                </a:moveTo>
                <a:lnTo>
                  <a:pt x="11897578" y="0"/>
                </a:lnTo>
                <a:lnTo>
                  <a:pt x="11897578" y="4714415"/>
                </a:lnTo>
                <a:lnTo>
                  <a:pt x="0" y="4714415"/>
                </a:lnTo>
                <a:lnTo>
                  <a:pt x="0" y="0"/>
                </a:lnTo>
                <a:close/>
              </a:path>
            </a:pathLst>
          </a:custGeom>
          <a:blipFill>
            <a:blip r:embed="rId2"/>
            <a:stretch>
              <a:fillRect l="0" t="0" r="0" b="0"/>
            </a:stretch>
          </a:blipFill>
        </p:spPr>
      </p:sp>
      <p:grpSp>
        <p:nvGrpSpPr>
          <p:cNvPr name="Group 3" id="3"/>
          <p:cNvGrpSpPr/>
          <p:nvPr/>
        </p:nvGrpSpPr>
        <p:grpSpPr>
          <a:xfrm rot="0">
            <a:off x="648276" y="532187"/>
            <a:ext cx="16991448" cy="2407190"/>
            <a:chOff x="0" y="0"/>
            <a:chExt cx="22655264" cy="3209586"/>
          </a:xfrm>
        </p:grpSpPr>
        <p:grpSp>
          <p:nvGrpSpPr>
            <p:cNvPr name="Group 4" id="4"/>
            <p:cNvGrpSpPr/>
            <p:nvPr/>
          </p:nvGrpSpPr>
          <p:grpSpPr>
            <a:xfrm rot="0">
              <a:off x="299286" y="0"/>
              <a:ext cx="22355978" cy="1791455"/>
              <a:chOff x="0" y="0"/>
              <a:chExt cx="1303935" cy="104488"/>
            </a:xfrm>
          </p:grpSpPr>
          <p:sp>
            <p:nvSpPr>
              <p:cNvPr name="Freeform 5" id="5"/>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6" id="6"/>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7" id="7"/>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6.4. Mở rộng mô hình sang cấp độ từ</a:t>
              </a:r>
            </a:p>
            <a:p>
              <a:pPr algn="ctr">
                <a:lnSpc>
                  <a:spcPts val="9756"/>
                </a:lnSpc>
              </a:pPr>
            </a:p>
          </p:txBody>
        </p:sp>
      </p:grpSp>
      <p:sp>
        <p:nvSpPr>
          <p:cNvPr name="TextBox 8" id="8"/>
          <p:cNvSpPr txBox="true"/>
          <p:nvPr/>
        </p:nvSpPr>
        <p:spPr>
          <a:xfrm rot="0">
            <a:off x="1028700" y="6764898"/>
            <a:ext cx="16997572" cy="3757149"/>
          </a:xfrm>
          <a:prstGeom prst="rect">
            <a:avLst/>
          </a:prstGeom>
        </p:spPr>
        <p:txBody>
          <a:bodyPr anchor="t" rtlCol="false" tIns="0" lIns="0" bIns="0" rIns="0">
            <a:spAutoFit/>
          </a:bodyPr>
          <a:lstStyle/>
          <a:p>
            <a:pPr algn="l" marL="771757" indent="-385879" lvl="1">
              <a:lnSpc>
                <a:spcPts val="5004"/>
              </a:lnSpc>
              <a:buFont typeface="Arial"/>
              <a:buChar char="•"/>
            </a:pPr>
            <a:r>
              <a:rPr lang="en-US" sz="3574">
                <a:solidFill>
                  <a:srgbClr val="000000"/>
                </a:solidFill>
                <a:latin typeface="Rokkitt"/>
                <a:ea typeface="Rokkitt"/>
                <a:cs typeface="Rokkitt"/>
                <a:sym typeface="Rokkitt"/>
              </a:rPr>
              <a:t>Ban</a:t>
            </a:r>
            <a:r>
              <a:rPr lang="en-US" sz="3574">
                <a:solidFill>
                  <a:srgbClr val="000000"/>
                </a:solidFill>
                <a:latin typeface="Rokkitt"/>
                <a:ea typeface="Rokkitt"/>
                <a:cs typeface="Rokkitt"/>
                <a:sym typeface="Rokkitt"/>
              </a:rPr>
              <a:t> đầu, mô hình ngôn ngữ hoạt động ở cấp độ ký tự.</a:t>
            </a:r>
          </a:p>
          <a:p>
            <a:pPr algn="l" marL="771757" indent="-385879" lvl="1">
              <a:lnSpc>
                <a:spcPts val="5004"/>
              </a:lnSpc>
              <a:buFont typeface="Arial"/>
              <a:buChar char="•"/>
            </a:pPr>
            <a:r>
              <a:rPr lang="en-US" sz="3574">
                <a:solidFill>
                  <a:srgbClr val="000000"/>
                </a:solidFill>
                <a:latin typeface="Rokkitt"/>
                <a:ea typeface="Rokkitt"/>
                <a:cs typeface="Rokkitt"/>
                <a:sym typeface="Rokkitt"/>
              </a:rPr>
              <a:t>Sau đó mở rộng sang cấp độ từ để cả</a:t>
            </a:r>
            <a:r>
              <a:rPr lang="en-US" sz="3574">
                <a:solidFill>
                  <a:srgbClr val="000000"/>
                </a:solidFill>
                <a:latin typeface="Rokkitt"/>
                <a:ea typeface="Rokkitt"/>
                <a:cs typeface="Rokkitt"/>
                <a:sym typeface="Rokkitt"/>
              </a:rPr>
              <a:t>i t</a:t>
            </a:r>
            <a:r>
              <a:rPr lang="en-US" sz="3574">
                <a:solidFill>
                  <a:srgbClr val="000000"/>
                </a:solidFill>
                <a:latin typeface="Rokkitt"/>
                <a:ea typeface="Rokkitt"/>
                <a:cs typeface="Rokkitt"/>
                <a:sym typeface="Rokkitt"/>
              </a:rPr>
              <a:t>hiện hiệu quả và biểu diễn ngữ nghĩa.</a:t>
            </a:r>
          </a:p>
          <a:p>
            <a:pPr algn="l" marL="771757" indent="-385879" lvl="1">
              <a:lnSpc>
                <a:spcPts val="5004"/>
              </a:lnSpc>
              <a:buFont typeface="Arial"/>
              <a:buChar char="•"/>
            </a:pPr>
            <a:r>
              <a:rPr lang="en-US" sz="3574">
                <a:solidFill>
                  <a:srgbClr val="000000"/>
                </a:solidFill>
                <a:latin typeface="Rokkitt"/>
                <a:ea typeface="Rokkitt"/>
                <a:cs typeface="Rokkitt"/>
                <a:sym typeface="Rokkitt"/>
              </a:rPr>
              <a:t>V</a:t>
            </a:r>
            <a:r>
              <a:rPr lang="en-US" sz="3574">
                <a:solidFill>
                  <a:srgbClr val="000000"/>
                </a:solidFill>
                <a:latin typeface="Rokkitt"/>
                <a:ea typeface="Rokkitt"/>
                <a:cs typeface="Rokkitt"/>
                <a:sym typeface="Rokkitt"/>
              </a:rPr>
              <a:t>iệc sử dụng từ làm đơn vị xử lý giúp:</a:t>
            </a:r>
          </a:p>
          <a:p>
            <a:pPr algn="l" marL="771757" indent="-385879" lvl="1">
              <a:lnSpc>
                <a:spcPts val="5004"/>
              </a:lnSpc>
              <a:buAutoNum type="arabicPeriod" startAt="1"/>
            </a:pPr>
            <a:r>
              <a:rPr lang="en-US" sz="3574">
                <a:solidFill>
                  <a:srgbClr val="000000"/>
                </a:solidFill>
                <a:latin typeface="Rokkitt"/>
                <a:ea typeface="Rokkitt"/>
                <a:cs typeface="Rokkitt"/>
                <a:sym typeface="Rokkitt"/>
              </a:rPr>
              <a:t>Giảm độ phức tạp tính toán.</a:t>
            </a:r>
          </a:p>
          <a:p>
            <a:pPr algn="l" marL="771757" indent="-385879" lvl="1">
              <a:lnSpc>
                <a:spcPts val="5004"/>
              </a:lnSpc>
              <a:buAutoNum type="arabicPeriod" startAt="1"/>
            </a:pPr>
            <a:r>
              <a:rPr lang="en-US" sz="3574">
                <a:solidFill>
                  <a:srgbClr val="000000"/>
                </a:solidFill>
                <a:latin typeface="Rokkitt"/>
                <a:ea typeface="Rokkitt"/>
                <a:cs typeface="Rokkitt"/>
                <a:sym typeface="Rokkitt"/>
              </a:rPr>
              <a:t>Tăng khả năng biểu diễn ý nghĩa.</a:t>
            </a:r>
          </a:p>
          <a:p>
            <a:pPr algn="l">
              <a:lnSpc>
                <a:spcPts val="5004"/>
              </a:lnSpc>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8276" y="2155538"/>
            <a:ext cx="16991448" cy="2407190"/>
            <a:chOff x="0" y="0"/>
            <a:chExt cx="22655264" cy="3209586"/>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6.5. Mô hình ngôn ngữ nhỏ và lớn</a:t>
              </a:r>
            </a:p>
            <a:p>
              <a:pPr algn="ctr">
                <a:lnSpc>
                  <a:spcPts val="9756"/>
                </a:lnSpc>
              </a:pPr>
            </a:p>
          </p:txBody>
        </p:sp>
      </p:grpSp>
      <p:sp>
        <p:nvSpPr>
          <p:cNvPr name="TextBox 7" id="7"/>
          <p:cNvSpPr txBox="true"/>
          <p:nvPr/>
        </p:nvSpPr>
        <p:spPr>
          <a:xfrm rot="0">
            <a:off x="577494" y="7057889"/>
            <a:ext cx="17710506" cy="1047149"/>
          </a:xfrm>
          <a:prstGeom prst="rect">
            <a:avLst/>
          </a:prstGeom>
        </p:spPr>
        <p:txBody>
          <a:bodyPr anchor="t" rtlCol="false" tIns="0" lIns="0" bIns="0" rIns="0">
            <a:spAutoFit/>
          </a:bodyPr>
          <a:lstStyle/>
          <a:p>
            <a:pPr algn="l">
              <a:lnSpc>
                <a:spcPts val="4230"/>
              </a:lnSpc>
              <a:spcBef>
                <a:spcPct val="0"/>
              </a:spcBef>
            </a:pPr>
            <a:r>
              <a:rPr lang="en-US" b="true" sz="3021" i="true" strike="noStrike" u="none">
                <a:solidFill>
                  <a:srgbClr val="000000"/>
                </a:solidFill>
                <a:latin typeface="Tomorrow Bold Italics"/>
                <a:ea typeface="Tomorrow Bold Italics"/>
                <a:cs typeface="Tomorrow Bold Italics"/>
                <a:sym typeface="Tomorrow Bold Italics"/>
              </a:rPr>
              <a:t>→ Kế</a:t>
            </a:r>
            <a:r>
              <a:rPr lang="en-US" b="true" sz="3021" i="true" strike="noStrike" u="none">
                <a:solidFill>
                  <a:srgbClr val="000000"/>
                </a:solidFill>
                <a:latin typeface="Tomorrow Bold Italics"/>
                <a:ea typeface="Tomorrow Bold Italics"/>
                <a:cs typeface="Tomorrow Bold Italics"/>
                <a:sym typeface="Tomorrow Bold Italics"/>
              </a:rPr>
              <a:t>t quả:</a:t>
            </a:r>
            <a:r>
              <a:rPr lang="en-US" b="true" sz="3021" i="true" strike="noStrike" u="none">
                <a:solidFill>
                  <a:srgbClr val="000000"/>
                </a:solidFill>
                <a:latin typeface="Tomorrow Bold Italics"/>
                <a:ea typeface="Tomorrow Bold Italics"/>
                <a:cs typeface="Tomorrow Bold Italics"/>
                <a:sym typeface="Tomorrow Bold Italics"/>
              </a:rPr>
              <a:t> </a:t>
            </a:r>
            <a:r>
              <a:rPr lang="en-US" sz="3021" i="true" strike="noStrike" u="none">
                <a:solidFill>
                  <a:srgbClr val="000000"/>
                </a:solidFill>
                <a:latin typeface="Tomorrow Italics"/>
                <a:ea typeface="Tomorrow Italics"/>
                <a:cs typeface="Tomorrow Italics"/>
                <a:sym typeface="Tomorrow Italics"/>
              </a:rPr>
              <a:t>việ</a:t>
            </a:r>
            <a:r>
              <a:rPr lang="en-US" sz="3021" i="true" strike="noStrike" u="none">
                <a:solidFill>
                  <a:srgbClr val="000000"/>
                </a:solidFill>
                <a:latin typeface="Tomorrow Italics"/>
                <a:ea typeface="Tomorrow Italics"/>
                <a:cs typeface="Tomorrow Italics"/>
                <a:sym typeface="Tomorrow Italics"/>
              </a:rPr>
              <a:t>c m</a:t>
            </a:r>
            <a:r>
              <a:rPr lang="en-US" sz="3021" i="true" strike="noStrike" u="none">
                <a:solidFill>
                  <a:srgbClr val="000000"/>
                </a:solidFill>
                <a:latin typeface="Tomorrow Italics"/>
                <a:ea typeface="Tomorrow Italics"/>
                <a:cs typeface="Tomorrow Italics"/>
                <a:sym typeface="Tomorrow Italics"/>
              </a:rPr>
              <a:t>ở rộ</a:t>
            </a:r>
            <a:r>
              <a:rPr lang="en-US" sz="3021" i="true" strike="noStrike" u="none">
                <a:solidFill>
                  <a:srgbClr val="000000"/>
                </a:solidFill>
                <a:latin typeface="Tomorrow Italics"/>
                <a:ea typeface="Tomorrow Italics"/>
                <a:cs typeface="Tomorrow Italics"/>
                <a:sym typeface="Tomorrow Italics"/>
              </a:rPr>
              <a:t>n</a:t>
            </a:r>
            <a:r>
              <a:rPr lang="en-US" sz="3021" i="true" strike="noStrike" u="none">
                <a:solidFill>
                  <a:srgbClr val="000000"/>
                </a:solidFill>
                <a:latin typeface="Tomorrow Italics"/>
                <a:ea typeface="Tomorrow Italics"/>
                <a:cs typeface="Tomorrow Italics"/>
                <a:sym typeface="Tomorrow Italics"/>
              </a:rPr>
              <a:t>g</a:t>
            </a:r>
            <a:r>
              <a:rPr lang="en-US" sz="3021" i="true" strike="noStrike" u="none">
                <a:solidFill>
                  <a:srgbClr val="000000"/>
                </a:solidFill>
                <a:latin typeface="Tomorrow Italics"/>
                <a:ea typeface="Tomorrow Italics"/>
                <a:cs typeface="Tomorrow Italics"/>
                <a:sym typeface="Tomorrow Italics"/>
              </a:rPr>
              <a:t> quy</a:t>
            </a:r>
            <a:r>
              <a:rPr lang="en-US" sz="3021" i="true" strike="noStrike" u="none">
                <a:solidFill>
                  <a:srgbClr val="000000"/>
                </a:solidFill>
                <a:latin typeface="Tomorrow Italics"/>
                <a:ea typeface="Tomorrow Italics"/>
                <a:cs typeface="Tomorrow Italics"/>
                <a:sym typeface="Tomorrow Italics"/>
              </a:rPr>
              <a:t> mô</a:t>
            </a:r>
            <a:r>
              <a:rPr lang="en-US" sz="3021" i="true" strike="noStrike" u="none">
                <a:solidFill>
                  <a:srgbClr val="000000"/>
                </a:solidFill>
                <a:latin typeface="Tomorrow Italics"/>
                <a:ea typeface="Tomorrow Italics"/>
                <a:cs typeface="Tomorrow Italics"/>
                <a:sym typeface="Tomorrow Italics"/>
              </a:rPr>
              <a:t> mô </a:t>
            </a:r>
            <a:r>
              <a:rPr lang="en-US" sz="3021" i="true" strike="noStrike" u="none">
                <a:solidFill>
                  <a:srgbClr val="000000"/>
                </a:solidFill>
                <a:latin typeface="Tomorrow Italics"/>
                <a:ea typeface="Tomorrow Italics"/>
                <a:cs typeface="Tomorrow Italics"/>
                <a:sym typeface="Tomorrow Italics"/>
              </a:rPr>
              <a:t>hình và </a:t>
            </a:r>
            <a:r>
              <a:rPr lang="en-US" sz="3021" i="true" strike="noStrike" u="none">
                <a:solidFill>
                  <a:srgbClr val="000000"/>
                </a:solidFill>
                <a:latin typeface="Tomorrow Italics"/>
                <a:ea typeface="Tomorrow Italics"/>
                <a:cs typeface="Tomorrow Italics"/>
                <a:sym typeface="Tomorrow Italics"/>
              </a:rPr>
              <a:t>dữ liệu</a:t>
            </a:r>
            <a:r>
              <a:rPr lang="en-US" sz="3021" i="true" strike="noStrike" u="none">
                <a:solidFill>
                  <a:srgbClr val="000000"/>
                </a:solidFill>
                <a:latin typeface="Tomorrow Italics"/>
                <a:ea typeface="Tomorrow Italics"/>
                <a:cs typeface="Tomorrow Italics"/>
                <a:sym typeface="Tomorrow Italics"/>
              </a:rPr>
              <a:t> đóng</a:t>
            </a:r>
            <a:r>
              <a:rPr lang="en-US" sz="3021" i="true" strike="noStrike" u="none">
                <a:solidFill>
                  <a:srgbClr val="000000"/>
                </a:solidFill>
                <a:latin typeface="Tomorrow Italics"/>
                <a:ea typeface="Tomorrow Italics"/>
                <a:cs typeface="Tomorrow Italics"/>
                <a:sym typeface="Tomorrow Italics"/>
              </a:rPr>
              <a:t> v</a:t>
            </a:r>
            <a:r>
              <a:rPr lang="en-US" sz="3021" i="true" strike="noStrike" u="none">
                <a:solidFill>
                  <a:srgbClr val="000000"/>
                </a:solidFill>
                <a:latin typeface="Tomorrow Italics"/>
                <a:ea typeface="Tomorrow Italics"/>
                <a:cs typeface="Tomorrow Italics"/>
                <a:sym typeface="Tomorrow Italics"/>
              </a:rPr>
              <a:t>ai</a:t>
            </a:r>
            <a:r>
              <a:rPr lang="en-US" sz="3021" i="true" strike="noStrike" u="none">
                <a:solidFill>
                  <a:srgbClr val="000000"/>
                </a:solidFill>
                <a:latin typeface="Tomorrow Italics"/>
                <a:ea typeface="Tomorrow Italics"/>
                <a:cs typeface="Tomorrow Italics"/>
                <a:sym typeface="Tomorrow Italics"/>
              </a:rPr>
              <a:t> t</a:t>
            </a:r>
            <a:r>
              <a:rPr lang="en-US" sz="3021" i="true" strike="noStrike" u="none">
                <a:solidFill>
                  <a:srgbClr val="000000"/>
                </a:solidFill>
                <a:latin typeface="Tomorrow Italics"/>
                <a:ea typeface="Tomorrow Italics"/>
                <a:cs typeface="Tomorrow Italics"/>
                <a:sym typeface="Tomorrow Italics"/>
              </a:rPr>
              <a:t>rò</a:t>
            </a:r>
            <a:r>
              <a:rPr lang="en-US" sz="3021" i="true" strike="noStrike" u="none">
                <a:solidFill>
                  <a:srgbClr val="000000"/>
                </a:solidFill>
                <a:latin typeface="Tomorrow Italics"/>
                <a:ea typeface="Tomorrow Italics"/>
                <a:cs typeface="Tomorrow Italics"/>
                <a:sym typeface="Tomorrow Italics"/>
              </a:rPr>
              <a:t> </a:t>
            </a:r>
            <a:r>
              <a:rPr lang="en-US" sz="3021" i="true" strike="noStrike" u="none">
                <a:solidFill>
                  <a:srgbClr val="000000"/>
                </a:solidFill>
                <a:latin typeface="Tomorrow Italics"/>
                <a:ea typeface="Tomorrow Italics"/>
                <a:cs typeface="Tomorrow Italics"/>
                <a:sym typeface="Tomorrow Italics"/>
              </a:rPr>
              <a:t>q</a:t>
            </a:r>
            <a:r>
              <a:rPr lang="en-US" sz="3021" i="true" strike="noStrike" u="none">
                <a:solidFill>
                  <a:srgbClr val="000000"/>
                </a:solidFill>
                <a:latin typeface="Tomorrow Italics"/>
                <a:ea typeface="Tomorrow Italics"/>
                <a:cs typeface="Tomorrow Italics"/>
                <a:sym typeface="Tomorrow Italics"/>
              </a:rPr>
              <a:t>u</a:t>
            </a:r>
            <a:r>
              <a:rPr lang="en-US" sz="3021" i="true" strike="noStrike" u="none">
                <a:solidFill>
                  <a:srgbClr val="000000"/>
                </a:solidFill>
                <a:latin typeface="Tomorrow Italics"/>
                <a:ea typeface="Tomorrow Italics"/>
                <a:cs typeface="Tomorrow Italics"/>
                <a:sym typeface="Tomorrow Italics"/>
              </a:rPr>
              <a:t>a</a:t>
            </a:r>
            <a:r>
              <a:rPr lang="en-US" sz="3021" i="true" strike="noStrike" u="none">
                <a:solidFill>
                  <a:srgbClr val="000000"/>
                </a:solidFill>
                <a:latin typeface="Tomorrow Italics"/>
                <a:ea typeface="Tomorrow Italics"/>
                <a:cs typeface="Tomorrow Italics"/>
                <a:sym typeface="Tomorrow Italics"/>
              </a:rPr>
              <a:t>n t</a:t>
            </a:r>
            <a:r>
              <a:rPr lang="en-US" sz="3021" i="true" strike="noStrike" u="none">
                <a:solidFill>
                  <a:srgbClr val="000000"/>
                </a:solidFill>
                <a:latin typeface="Tomorrow Italics"/>
                <a:ea typeface="Tomorrow Italics"/>
                <a:cs typeface="Tomorrow Italics"/>
                <a:sym typeface="Tomorrow Italics"/>
              </a:rPr>
              <a:t>rọ</a:t>
            </a:r>
            <a:r>
              <a:rPr lang="en-US" sz="3021" i="true" strike="noStrike" u="none">
                <a:solidFill>
                  <a:srgbClr val="000000"/>
                </a:solidFill>
                <a:latin typeface="Tomorrow Italics"/>
                <a:ea typeface="Tomorrow Italics"/>
                <a:cs typeface="Tomorrow Italics"/>
                <a:sym typeface="Tomorrow Italics"/>
              </a:rPr>
              <a:t>n</a:t>
            </a:r>
            <a:r>
              <a:rPr lang="en-US" sz="3021" i="true" strike="noStrike" u="none">
                <a:solidFill>
                  <a:srgbClr val="000000"/>
                </a:solidFill>
                <a:latin typeface="Tomorrow Italics"/>
                <a:ea typeface="Tomorrow Italics"/>
                <a:cs typeface="Tomorrow Italics"/>
                <a:sym typeface="Tomorrow Italics"/>
              </a:rPr>
              <a:t>g</a:t>
            </a:r>
            <a:r>
              <a:rPr lang="en-US" sz="3021" i="true" strike="noStrike" u="none">
                <a:solidFill>
                  <a:srgbClr val="000000"/>
                </a:solidFill>
                <a:latin typeface="Tomorrow Italics"/>
                <a:ea typeface="Tomorrow Italics"/>
                <a:cs typeface="Tomorrow Italics"/>
                <a:sym typeface="Tomorrow Italics"/>
              </a:rPr>
              <a:t> t</a:t>
            </a:r>
            <a:r>
              <a:rPr lang="en-US" sz="3021" i="true" strike="noStrike" u="none">
                <a:solidFill>
                  <a:srgbClr val="000000"/>
                </a:solidFill>
                <a:latin typeface="Tomorrow Italics"/>
                <a:ea typeface="Tomorrow Italics"/>
                <a:cs typeface="Tomorrow Italics"/>
                <a:sym typeface="Tomorrow Italics"/>
              </a:rPr>
              <a:t>r</a:t>
            </a:r>
            <a:r>
              <a:rPr lang="en-US" sz="3021" i="true" strike="noStrike" u="none">
                <a:solidFill>
                  <a:srgbClr val="000000"/>
                </a:solidFill>
                <a:latin typeface="Tomorrow Italics"/>
                <a:ea typeface="Tomorrow Italics"/>
                <a:cs typeface="Tomorrow Italics"/>
                <a:sym typeface="Tomorrow Italics"/>
              </a:rPr>
              <a:t>on</a:t>
            </a:r>
            <a:r>
              <a:rPr lang="en-US" sz="3021" i="true" strike="noStrike" u="none">
                <a:solidFill>
                  <a:srgbClr val="000000"/>
                </a:solidFill>
                <a:latin typeface="Tomorrow Italics"/>
                <a:ea typeface="Tomorrow Italics"/>
                <a:cs typeface="Tomorrow Italics"/>
                <a:sym typeface="Tomorrow Italics"/>
              </a:rPr>
              <a:t>g việc cải thiện hiệu năng.</a:t>
            </a:r>
          </a:p>
        </p:txBody>
      </p:sp>
      <p:sp>
        <p:nvSpPr>
          <p:cNvPr name="TextBox 8" id="8"/>
          <p:cNvSpPr txBox="true"/>
          <p:nvPr/>
        </p:nvSpPr>
        <p:spPr>
          <a:xfrm rot="0">
            <a:off x="777593" y="3811696"/>
            <a:ext cx="16862131" cy="3128525"/>
          </a:xfrm>
          <a:prstGeom prst="rect">
            <a:avLst/>
          </a:prstGeom>
        </p:spPr>
        <p:txBody>
          <a:bodyPr anchor="t" rtlCol="false" tIns="0" lIns="0" bIns="0" rIns="0">
            <a:spAutoFit/>
          </a:bodyPr>
          <a:lstStyle/>
          <a:p>
            <a:pPr algn="l">
              <a:lnSpc>
                <a:spcPts val="5004"/>
              </a:lnSpc>
            </a:pPr>
            <a:r>
              <a:rPr lang="en-US" sz="3574">
                <a:solidFill>
                  <a:srgbClr val="000000"/>
                </a:solidFill>
                <a:latin typeface="Rokkitt"/>
                <a:ea typeface="Rokkitt"/>
                <a:cs typeface="Rokkitt"/>
                <a:sym typeface="Rokkitt"/>
              </a:rPr>
              <a:t>P</a:t>
            </a:r>
            <a:r>
              <a:rPr lang="en-US" sz="3574">
                <a:solidFill>
                  <a:srgbClr val="000000"/>
                </a:solidFill>
                <a:latin typeface="Rokkitt"/>
                <a:ea typeface="Rokkitt"/>
                <a:cs typeface="Rokkitt"/>
                <a:sym typeface="Rokkitt"/>
              </a:rPr>
              <a:t>hân biệt giữa các</a:t>
            </a:r>
            <a:r>
              <a:rPr lang="en-US" sz="3574">
                <a:solidFill>
                  <a:srgbClr val="000000"/>
                </a:solidFill>
                <a:latin typeface="Rokkitt"/>
                <a:ea typeface="Rokkitt"/>
                <a:cs typeface="Rokkitt"/>
                <a:sym typeface="Rokkitt"/>
              </a:rPr>
              <a:t> mô</a:t>
            </a:r>
            <a:r>
              <a:rPr lang="en-US" sz="3574">
                <a:solidFill>
                  <a:srgbClr val="000000"/>
                </a:solidFill>
                <a:latin typeface="Rokkitt"/>
                <a:ea typeface="Rokkitt"/>
                <a:cs typeface="Rokkitt"/>
                <a:sym typeface="Rokkitt"/>
              </a:rPr>
              <a:t> hình ngôn ngữ nhỏ và </a:t>
            </a:r>
            <a:r>
              <a:rPr lang="en-US" sz="3574">
                <a:solidFill>
                  <a:srgbClr val="000000"/>
                </a:solidFill>
                <a:latin typeface="Rokkitt"/>
                <a:ea typeface="Rokkitt"/>
                <a:cs typeface="Rokkitt"/>
                <a:sym typeface="Rokkitt"/>
              </a:rPr>
              <a:t>mô hình ngôn ngữ lớn:</a:t>
            </a:r>
          </a:p>
          <a:p>
            <a:pPr algn="l" marL="771757" indent="-385879" lvl="1">
              <a:lnSpc>
                <a:spcPts val="5004"/>
              </a:lnSpc>
              <a:buFont typeface="Arial"/>
              <a:buChar char="•"/>
            </a:pPr>
            <a:r>
              <a:rPr lang="en-US" sz="3574">
                <a:solidFill>
                  <a:srgbClr val="000000"/>
                </a:solidFill>
                <a:latin typeface="Rokkitt"/>
                <a:ea typeface="Rokkitt"/>
                <a:cs typeface="Rokkitt"/>
                <a:sym typeface="Rokkitt"/>
              </a:rPr>
              <a:t>Mô hình nhỏ có số lượng tham số và dữ liệu huấn luyện hạn chế, do đó khả năng tổng quát hóa thấp.</a:t>
            </a:r>
          </a:p>
          <a:p>
            <a:pPr algn="l" marL="771757" indent="-385879" lvl="1">
              <a:lnSpc>
                <a:spcPts val="5004"/>
              </a:lnSpc>
              <a:buFont typeface="Arial"/>
              <a:buChar char="•"/>
            </a:pPr>
            <a:r>
              <a:rPr lang="en-US" sz="3574">
                <a:solidFill>
                  <a:srgbClr val="000000"/>
                </a:solidFill>
                <a:latin typeface="Rokkitt"/>
                <a:ea typeface="Rokkitt"/>
                <a:cs typeface="Rokkitt"/>
                <a:sym typeface="Rokkitt"/>
              </a:rPr>
              <a:t>Mô hình lớn (LLMs) được huấn luyện trên dữ liệu quy mô lớn, cho phép đạt hiệu suất cao hơn trong nhiều tác vụ.</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8276" y="2155538"/>
            <a:ext cx="16991448" cy="2407190"/>
            <a:chOff x="0" y="0"/>
            <a:chExt cx="22655264" cy="3209586"/>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6.6. Biểu diễn từ bằng Word2Vec</a:t>
              </a:r>
            </a:p>
            <a:p>
              <a:pPr algn="ctr">
                <a:lnSpc>
                  <a:spcPts val="9756"/>
                </a:lnSpc>
              </a:pPr>
            </a:p>
          </p:txBody>
        </p:sp>
      </p:grpSp>
      <p:sp>
        <p:nvSpPr>
          <p:cNvPr name="TextBox 7" id="7"/>
          <p:cNvSpPr txBox="true"/>
          <p:nvPr/>
        </p:nvSpPr>
        <p:spPr>
          <a:xfrm rot="0">
            <a:off x="894924" y="3723358"/>
            <a:ext cx="16498152" cy="2499901"/>
          </a:xfrm>
          <a:prstGeom prst="rect">
            <a:avLst/>
          </a:prstGeom>
        </p:spPr>
        <p:txBody>
          <a:bodyPr anchor="t" rtlCol="false" tIns="0" lIns="0" bIns="0" rIns="0">
            <a:spAutoFit/>
          </a:bodyPr>
          <a:lstStyle/>
          <a:p>
            <a:pPr algn="l">
              <a:lnSpc>
                <a:spcPts val="5004"/>
              </a:lnSpc>
              <a:spcBef>
                <a:spcPct val="0"/>
              </a:spcBef>
            </a:pPr>
            <a:r>
              <a:rPr lang="en-US" b="true" sz="3574" strike="noStrike" u="none">
                <a:solidFill>
                  <a:srgbClr val="000000"/>
                </a:solidFill>
                <a:latin typeface="Rokkitt Bold"/>
                <a:ea typeface="Rokkitt Bold"/>
                <a:cs typeface="Rokkitt Bold"/>
                <a:sym typeface="Rokkitt Bold"/>
              </a:rPr>
              <a:t>Word2Vec:</a:t>
            </a:r>
            <a:r>
              <a:rPr lang="en-US" sz="3574" strike="noStrike" u="none">
                <a:solidFill>
                  <a:srgbClr val="000000"/>
                </a:solidFill>
                <a:latin typeface="Rokkitt"/>
                <a:ea typeface="Rokkitt"/>
                <a:cs typeface="Rokkitt"/>
                <a:sym typeface="Rokkitt"/>
              </a:rPr>
              <a:t> phương pháp biểu diễn từ dưới dạng vector trong không gian nhiều chiều. Các từ có ngữ nghĩa tương tự sẽ có vị trí gần nhau trong không gian vector.</a:t>
            </a:r>
          </a:p>
          <a:p>
            <a:pPr algn="l">
              <a:lnSpc>
                <a:spcPts val="5004"/>
              </a:lnSpc>
              <a:spcBef>
                <a:spcPct val="0"/>
              </a:spcBef>
            </a:pPr>
            <a:r>
              <a:rPr lang="en-US" sz="3574" strike="noStrike" u="none">
                <a:solidFill>
                  <a:srgbClr val="3E4095"/>
                </a:solidFill>
                <a:latin typeface="Rokkitt"/>
                <a:ea typeface="Rokkitt"/>
                <a:cs typeface="Rokkitt"/>
                <a:sym typeface="Rokkitt"/>
              </a:rPr>
              <a:t>\text{king} - \text{man} + \text{woman} \approx \text{queen}</a:t>
            </a:r>
          </a:p>
          <a:p>
            <a:pPr algn="l">
              <a:lnSpc>
                <a:spcPts val="5004"/>
              </a:lnSpc>
              <a:spcBef>
                <a:spcPct val="0"/>
              </a:spcBef>
            </a:pPr>
          </a:p>
        </p:txBody>
      </p:sp>
      <p:sp>
        <p:nvSpPr>
          <p:cNvPr name="TextBox 8" id="8"/>
          <p:cNvSpPr txBox="true"/>
          <p:nvPr/>
        </p:nvSpPr>
        <p:spPr>
          <a:xfrm rot="0">
            <a:off x="894924" y="5623982"/>
            <a:ext cx="16498152" cy="1871277"/>
          </a:xfrm>
          <a:prstGeom prst="rect">
            <a:avLst/>
          </a:prstGeom>
        </p:spPr>
        <p:txBody>
          <a:bodyPr anchor="t" rtlCol="false" tIns="0" lIns="0" bIns="0" rIns="0">
            <a:spAutoFit/>
          </a:bodyPr>
          <a:lstStyle/>
          <a:p>
            <a:pPr algn="l">
              <a:lnSpc>
                <a:spcPts val="5004"/>
              </a:lnSpc>
              <a:spcBef>
                <a:spcPct val="0"/>
              </a:spcBef>
            </a:pPr>
            <a:r>
              <a:rPr lang="en-US" sz="3574">
                <a:solidFill>
                  <a:srgbClr val="000000"/>
                </a:solidFill>
                <a:latin typeface="Rokkitt"/>
                <a:ea typeface="Rokkitt"/>
                <a:cs typeface="Rokkitt"/>
                <a:sym typeface="Rokkitt"/>
              </a:rPr>
              <a:t>P</a:t>
            </a:r>
            <a:r>
              <a:rPr lang="en-US" sz="3574" strike="noStrike" u="none">
                <a:solidFill>
                  <a:srgbClr val="000000"/>
                </a:solidFill>
                <a:latin typeface="Rokkitt"/>
                <a:ea typeface="Rokkitt"/>
                <a:cs typeface="Rokkitt"/>
                <a:sym typeface="Rokkitt"/>
              </a:rPr>
              <a:t>hương pháp này cho phép mô hình học được các mối quan hệ ngữ nghĩa giữa các từ, đóng vai trò nền tảng cho các </a:t>
            </a:r>
            <a:r>
              <a:rPr lang="en-US" sz="3574" strike="noStrike" u="none">
                <a:solidFill>
                  <a:srgbClr val="000000"/>
                </a:solidFill>
                <a:latin typeface="Rokkitt"/>
                <a:ea typeface="Rokkitt"/>
                <a:cs typeface="Rokkitt"/>
                <a:sym typeface="Rokkitt"/>
              </a:rPr>
              <a:t>k</a:t>
            </a:r>
            <a:r>
              <a:rPr lang="en-US" sz="3574" strike="noStrike" u="none">
                <a:solidFill>
                  <a:srgbClr val="000000"/>
                </a:solidFill>
                <a:latin typeface="Rokkitt"/>
                <a:ea typeface="Rokkitt"/>
                <a:cs typeface="Rokkitt"/>
                <a:sym typeface="Rokkitt"/>
              </a:rPr>
              <a:t>ỹ</a:t>
            </a:r>
            <a:r>
              <a:rPr lang="en-US" sz="3574" strike="noStrike" u="none">
                <a:solidFill>
                  <a:srgbClr val="000000"/>
                </a:solidFill>
                <a:latin typeface="Rokkitt"/>
                <a:ea typeface="Rokkitt"/>
                <a:cs typeface="Rokkitt"/>
                <a:sym typeface="Rokkitt"/>
              </a:rPr>
              <a:t> t</a:t>
            </a:r>
            <a:r>
              <a:rPr lang="en-US" sz="3574" strike="noStrike" u="none">
                <a:solidFill>
                  <a:srgbClr val="000000"/>
                </a:solidFill>
                <a:latin typeface="Rokkitt"/>
                <a:ea typeface="Rokkitt"/>
                <a:cs typeface="Rokkitt"/>
                <a:sym typeface="Rokkitt"/>
              </a:rPr>
              <a:t>huậ</a:t>
            </a:r>
            <a:r>
              <a:rPr lang="en-US" sz="3574" strike="noStrike" u="none">
                <a:solidFill>
                  <a:srgbClr val="000000"/>
                </a:solidFill>
                <a:latin typeface="Rokkitt"/>
                <a:ea typeface="Rokkitt"/>
                <a:cs typeface="Rokkitt"/>
                <a:sym typeface="Rokkitt"/>
              </a:rPr>
              <a:t>t em</a:t>
            </a:r>
            <a:r>
              <a:rPr lang="en-US" sz="3574" strike="noStrike" u="none">
                <a:solidFill>
                  <a:srgbClr val="000000"/>
                </a:solidFill>
                <a:latin typeface="Rokkitt"/>
                <a:ea typeface="Rokkitt"/>
                <a:cs typeface="Rokkitt"/>
                <a:sym typeface="Rokkitt"/>
              </a:rPr>
              <a:t>beddi</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g</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hiệ</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 đại.</a:t>
            </a:r>
          </a:p>
          <a:p>
            <a:pPr algn="l">
              <a:lnSpc>
                <a:spcPts val="5004"/>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14013" y="2550969"/>
            <a:ext cx="11059974" cy="2407190"/>
            <a:chOff x="0" y="0"/>
            <a:chExt cx="14746631" cy="3209586"/>
          </a:xfrm>
        </p:grpSpPr>
        <p:grpSp>
          <p:nvGrpSpPr>
            <p:cNvPr name="Group 3" id="3"/>
            <p:cNvGrpSpPr/>
            <p:nvPr/>
          </p:nvGrpSpPr>
          <p:grpSpPr>
            <a:xfrm rot="0">
              <a:off x="194809" y="0"/>
              <a:ext cx="14551822" cy="1791455"/>
              <a:chOff x="0" y="0"/>
              <a:chExt cx="848750" cy="104488"/>
            </a:xfrm>
          </p:grpSpPr>
          <p:sp>
            <p:nvSpPr>
              <p:cNvPr name="Freeform 4" id="4"/>
              <p:cNvSpPr/>
              <p:nvPr/>
            </p:nvSpPr>
            <p:spPr>
              <a:xfrm flipH="false" flipV="false" rot="0">
                <a:off x="0" y="0"/>
                <a:ext cx="848750" cy="104488"/>
              </a:xfrm>
              <a:custGeom>
                <a:avLst/>
                <a:gdLst/>
                <a:ahLst/>
                <a:cxnLst/>
                <a:rect r="r" b="b" t="t" l="l"/>
                <a:pathLst>
                  <a:path h="104488" w="848750">
                    <a:moveTo>
                      <a:pt x="0" y="0"/>
                    </a:moveTo>
                    <a:lnTo>
                      <a:pt x="848750" y="0"/>
                    </a:lnTo>
                    <a:lnTo>
                      <a:pt x="848750"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848750"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14746631" cy="3155450"/>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6.7. Ứng dụng học sâu</a:t>
              </a:r>
            </a:p>
            <a:p>
              <a:pPr algn="ctr">
                <a:lnSpc>
                  <a:spcPts val="9756"/>
                </a:lnSpc>
              </a:pPr>
            </a:p>
          </p:txBody>
        </p:sp>
      </p:grpSp>
      <p:sp>
        <p:nvSpPr>
          <p:cNvPr name="TextBox 7" id="7"/>
          <p:cNvSpPr txBox="true"/>
          <p:nvPr/>
        </p:nvSpPr>
        <p:spPr>
          <a:xfrm rot="0">
            <a:off x="680848" y="4169762"/>
            <a:ext cx="16926305" cy="1871277"/>
          </a:xfrm>
          <a:prstGeom prst="rect">
            <a:avLst/>
          </a:prstGeom>
        </p:spPr>
        <p:txBody>
          <a:bodyPr anchor="t" rtlCol="false" tIns="0" lIns="0" bIns="0" rIns="0">
            <a:spAutoFit/>
          </a:bodyPr>
          <a:lstStyle/>
          <a:p>
            <a:pPr algn="l" marL="0" indent="0" lvl="0">
              <a:lnSpc>
                <a:spcPts val="5004"/>
              </a:lnSpc>
              <a:spcBef>
                <a:spcPct val="0"/>
              </a:spcBef>
            </a:pPr>
            <a:r>
              <a:rPr lang="en-US" sz="3574" strike="noStrike" u="none">
                <a:solidFill>
                  <a:srgbClr val="000000"/>
                </a:solidFill>
                <a:latin typeface="Rokkitt"/>
                <a:ea typeface="Rokkitt"/>
                <a:cs typeface="Rokkitt"/>
                <a:sym typeface="Rokkitt"/>
              </a:rPr>
              <a:t>Các mô hình LLM sử dụng kỹ thuật học sâu để học các đặc trưng phức tạp từ dữ liệu. Với nhiều lớp xử lý mô hình có khả năng trích xuất các đặc trưng ở mức trừu tượng cao, từ đó cải thiện chất lượng dự đoán.</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6761" y="2405284"/>
            <a:ext cx="17429866" cy="1343591"/>
            <a:chOff x="0" y="0"/>
            <a:chExt cx="1355486" cy="104488"/>
          </a:xfrm>
        </p:grpSpPr>
        <p:sp>
          <p:nvSpPr>
            <p:cNvPr name="Freeform 3" id="3"/>
            <p:cNvSpPr/>
            <p:nvPr/>
          </p:nvSpPr>
          <p:spPr>
            <a:xfrm flipH="false" flipV="false" rot="0">
              <a:off x="0" y="0"/>
              <a:ext cx="1355486" cy="104488"/>
            </a:xfrm>
            <a:custGeom>
              <a:avLst/>
              <a:gdLst/>
              <a:ahLst/>
              <a:cxnLst/>
              <a:rect r="r" b="b" t="t" l="l"/>
              <a:pathLst>
                <a:path h="104488" w="1355486">
                  <a:moveTo>
                    <a:pt x="0" y="0"/>
                  </a:moveTo>
                  <a:lnTo>
                    <a:pt x="1355486" y="0"/>
                  </a:lnTo>
                  <a:lnTo>
                    <a:pt x="1355486" y="104488"/>
                  </a:lnTo>
                  <a:lnTo>
                    <a:pt x="0" y="104488"/>
                  </a:lnTo>
                  <a:close/>
                </a:path>
              </a:pathLst>
            </a:custGeom>
            <a:solidFill>
              <a:srgbClr val="FFFFFF"/>
            </a:solidFill>
            <a:ln w="28575" cap="sq">
              <a:solidFill>
                <a:srgbClr val="000000"/>
              </a:solidFill>
              <a:prstDash val="solid"/>
              <a:miter/>
            </a:ln>
          </p:spPr>
        </p:sp>
        <p:sp>
          <p:nvSpPr>
            <p:cNvPr name="TextBox 4" id="4"/>
            <p:cNvSpPr txBox="true"/>
            <p:nvPr/>
          </p:nvSpPr>
          <p:spPr>
            <a:xfrm>
              <a:off x="0" y="-38100"/>
              <a:ext cx="1355486" cy="142588"/>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257054" y="2417365"/>
            <a:ext cx="18802109" cy="2168100"/>
          </a:xfrm>
          <a:prstGeom prst="rect">
            <a:avLst/>
          </a:prstGeom>
        </p:spPr>
        <p:txBody>
          <a:bodyPr anchor="t" rtlCol="false" tIns="0" lIns="0" bIns="0" rIns="0">
            <a:spAutoFit/>
          </a:bodyPr>
          <a:lstStyle/>
          <a:p>
            <a:pPr algn="ctr">
              <a:lnSpc>
                <a:spcPts val="8727"/>
              </a:lnSpc>
            </a:pPr>
            <a:r>
              <a:rPr lang="en-US" b="true" sz="5936">
                <a:solidFill>
                  <a:srgbClr val="000000"/>
                </a:solidFill>
                <a:latin typeface="Tomorrow Bold"/>
                <a:ea typeface="Tomorrow Bold"/>
                <a:cs typeface="Tomorrow Bold"/>
                <a:sym typeface="Tomorrow Bold"/>
              </a:rPr>
              <a:t>6.8. Cải thiện hiệu suất đầu ra của mô hình</a:t>
            </a:r>
          </a:p>
          <a:p>
            <a:pPr algn="ctr">
              <a:lnSpc>
                <a:spcPts val="8727"/>
              </a:lnSpc>
            </a:pPr>
          </a:p>
        </p:txBody>
      </p:sp>
      <p:sp>
        <p:nvSpPr>
          <p:cNvPr name="TextBox 6" id="6"/>
          <p:cNvSpPr txBox="true"/>
          <p:nvPr/>
        </p:nvSpPr>
        <p:spPr>
          <a:xfrm rot="0">
            <a:off x="1193942" y="4000153"/>
            <a:ext cx="16065358" cy="3757149"/>
          </a:xfrm>
          <a:prstGeom prst="rect">
            <a:avLst/>
          </a:prstGeom>
        </p:spPr>
        <p:txBody>
          <a:bodyPr anchor="t" rtlCol="false" tIns="0" lIns="0" bIns="0" rIns="0">
            <a:spAutoFit/>
          </a:bodyPr>
          <a:lstStyle/>
          <a:p>
            <a:pPr algn="l" marL="0" indent="0" lvl="0">
              <a:lnSpc>
                <a:spcPts val="5004"/>
              </a:lnSpc>
              <a:spcBef>
                <a:spcPct val="0"/>
              </a:spcBef>
            </a:pPr>
            <a:r>
              <a:rPr lang="en-US" sz="3574" strike="noStrike" u="none">
                <a:solidFill>
                  <a:srgbClr val="000000"/>
                </a:solidFill>
                <a:latin typeface="Rokkitt"/>
                <a:ea typeface="Rokkitt"/>
                <a:cs typeface="Rokkitt"/>
                <a:sym typeface="Rokkitt"/>
              </a:rPr>
              <a:t>Một số phương pháp cải thiện hiệu suất của LLM bao gồm:</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Prompt engineering: </a:t>
            </a:r>
            <a:r>
              <a:rPr lang="en-US" sz="3574" strike="noStrike" u="none">
                <a:solidFill>
                  <a:srgbClr val="000000"/>
                </a:solidFill>
                <a:latin typeface="Rokkitt"/>
                <a:ea typeface="Rokkitt"/>
                <a:cs typeface="Rokkitt"/>
                <a:sym typeface="Rokkitt"/>
              </a:rPr>
              <a:t>thiết kế prompt rõ ràng.</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Adding context:</a:t>
            </a:r>
            <a:r>
              <a:rPr lang="en-US" sz="3574" strike="noStrike" u="none">
                <a:solidFill>
                  <a:srgbClr val="000000"/>
                </a:solidFill>
                <a:latin typeface="Rokkitt"/>
                <a:ea typeface="Rokkitt"/>
                <a:cs typeface="Rokkitt"/>
                <a:sym typeface="Rokkitt"/>
              </a:rPr>
              <a:t> bổ sung ngữ cảnh.</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Providing examples:</a:t>
            </a:r>
            <a:r>
              <a:rPr lang="en-US" sz="3574" strike="noStrike" u="none">
                <a:solidFill>
                  <a:srgbClr val="000000"/>
                </a:solidFill>
                <a:latin typeface="Rokkitt"/>
                <a:ea typeface="Rokkitt"/>
                <a:cs typeface="Rokkitt"/>
                <a:sym typeface="Rokkitt"/>
              </a:rPr>
              <a:t> cung cấp ví dụ minh họa.</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Fine-tuning:</a:t>
            </a:r>
            <a:r>
              <a:rPr lang="en-US" sz="3574" strike="noStrike" u="none">
                <a:solidFill>
                  <a:srgbClr val="000000"/>
                </a:solidFill>
                <a:latin typeface="Rokkitt"/>
                <a:ea typeface="Rokkitt"/>
                <a:cs typeface="Rokkitt"/>
                <a:sym typeface="Rokkitt"/>
              </a:rPr>
              <a:t> huấn luyện thêm trên dữ liệu chuyên biệt.</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Retrieval-Augmented Generation (RAG):</a:t>
            </a:r>
            <a:r>
              <a:rPr lang="en-US" sz="3574" strike="noStrike" u="none">
                <a:solidFill>
                  <a:srgbClr val="000000"/>
                </a:solidFill>
                <a:latin typeface="Rokkitt"/>
                <a:ea typeface="Rokkitt"/>
                <a:cs typeface="Rokkitt"/>
                <a:sym typeface="Rokkitt"/>
              </a:rPr>
              <a:t> kết hợp với dữ liệu bên ngoài.</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30510" y="2426096"/>
            <a:ext cx="14826980" cy="2407190"/>
            <a:chOff x="0" y="0"/>
            <a:chExt cx="19769307" cy="3209586"/>
          </a:xfrm>
        </p:grpSpPr>
        <p:grpSp>
          <p:nvGrpSpPr>
            <p:cNvPr name="Group 3" id="3"/>
            <p:cNvGrpSpPr/>
            <p:nvPr/>
          </p:nvGrpSpPr>
          <p:grpSpPr>
            <a:xfrm rot="0">
              <a:off x="261161" y="0"/>
              <a:ext cx="19508146" cy="1791455"/>
              <a:chOff x="0" y="0"/>
              <a:chExt cx="1137832" cy="104488"/>
            </a:xfrm>
          </p:grpSpPr>
          <p:sp>
            <p:nvSpPr>
              <p:cNvPr name="Freeform 4" id="4"/>
              <p:cNvSpPr/>
              <p:nvPr/>
            </p:nvSpPr>
            <p:spPr>
              <a:xfrm flipH="false" flipV="false" rot="0">
                <a:off x="0" y="0"/>
                <a:ext cx="1137832" cy="104488"/>
              </a:xfrm>
              <a:custGeom>
                <a:avLst/>
                <a:gdLst/>
                <a:ahLst/>
                <a:cxnLst/>
                <a:rect r="r" b="b" t="t" l="l"/>
                <a:pathLst>
                  <a:path h="104488" w="1137832">
                    <a:moveTo>
                      <a:pt x="0" y="0"/>
                    </a:moveTo>
                    <a:lnTo>
                      <a:pt x="1137832" y="0"/>
                    </a:lnTo>
                    <a:lnTo>
                      <a:pt x="1137832"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137832"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19769307" cy="3155450"/>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6.9. Hạn chế của mô hình LLM</a:t>
              </a:r>
            </a:p>
            <a:p>
              <a:pPr algn="ctr">
                <a:lnSpc>
                  <a:spcPts val="9756"/>
                </a:lnSpc>
              </a:pPr>
            </a:p>
          </p:txBody>
        </p:sp>
      </p:grpSp>
      <p:sp>
        <p:nvSpPr>
          <p:cNvPr name="TextBox 7" id="7"/>
          <p:cNvSpPr txBox="true"/>
          <p:nvPr/>
        </p:nvSpPr>
        <p:spPr>
          <a:xfrm rot="0">
            <a:off x="1149775" y="3894533"/>
            <a:ext cx="15988449" cy="3128525"/>
          </a:xfrm>
          <a:prstGeom prst="rect">
            <a:avLst/>
          </a:prstGeom>
        </p:spPr>
        <p:txBody>
          <a:bodyPr anchor="t" rtlCol="false" tIns="0" lIns="0" bIns="0" rIns="0">
            <a:spAutoFit/>
          </a:bodyPr>
          <a:lstStyle/>
          <a:p>
            <a:pPr algn="l">
              <a:lnSpc>
                <a:spcPts val="5004"/>
              </a:lnSpc>
              <a:spcBef>
                <a:spcPct val="0"/>
              </a:spcBef>
            </a:pPr>
            <a:r>
              <a:rPr lang="en-US" sz="3574" strike="noStrike" u="none">
                <a:solidFill>
                  <a:srgbClr val="000000"/>
                </a:solidFill>
                <a:latin typeface="Rokkitt"/>
                <a:ea typeface="Rokkitt"/>
                <a:cs typeface="Rokkitt"/>
                <a:sym typeface="Rokkitt"/>
              </a:rPr>
              <a:t>Mặc dù đạt được nhiều thành tựu, các mô hình LLM vẫn tồn tại một số hạn chế:</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Có thể sinh ra thông tin không chính xác.</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Không có khả năng hiểu ngữ nghĩa thực sự.</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Phụ thuộc vào dữ liệu huấn luyện.</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Bị giới hạn bởi dung lượng ngữ cảnh.</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30510" y="2426096"/>
            <a:ext cx="14826980" cy="2407190"/>
            <a:chOff x="0" y="0"/>
            <a:chExt cx="19769307" cy="3209586"/>
          </a:xfrm>
        </p:grpSpPr>
        <p:grpSp>
          <p:nvGrpSpPr>
            <p:cNvPr name="Group 3" id="3"/>
            <p:cNvGrpSpPr/>
            <p:nvPr/>
          </p:nvGrpSpPr>
          <p:grpSpPr>
            <a:xfrm rot="0">
              <a:off x="261161" y="0"/>
              <a:ext cx="19508146" cy="1791455"/>
              <a:chOff x="0" y="0"/>
              <a:chExt cx="1137832" cy="104488"/>
            </a:xfrm>
          </p:grpSpPr>
          <p:sp>
            <p:nvSpPr>
              <p:cNvPr name="Freeform 4" id="4"/>
              <p:cNvSpPr/>
              <p:nvPr/>
            </p:nvSpPr>
            <p:spPr>
              <a:xfrm flipH="false" flipV="false" rot="0">
                <a:off x="0" y="0"/>
                <a:ext cx="1137832" cy="104488"/>
              </a:xfrm>
              <a:custGeom>
                <a:avLst/>
                <a:gdLst/>
                <a:ahLst/>
                <a:cxnLst/>
                <a:rect r="r" b="b" t="t" l="l"/>
                <a:pathLst>
                  <a:path h="104488" w="1137832">
                    <a:moveTo>
                      <a:pt x="0" y="0"/>
                    </a:moveTo>
                    <a:lnTo>
                      <a:pt x="1137832" y="0"/>
                    </a:lnTo>
                    <a:lnTo>
                      <a:pt x="1137832"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137832"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19769307" cy="3155450"/>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6.10. Ứng dụng thực tế</a:t>
              </a:r>
            </a:p>
            <a:p>
              <a:pPr algn="ctr">
                <a:lnSpc>
                  <a:spcPts val="9756"/>
                </a:lnSpc>
              </a:pPr>
            </a:p>
          </p:txBody>
        </p:sp>
      </p:grpSp>
      <p:sp>
        <p:nvSpPr>
          <p:cNvPr name="TextBox 7" id="7"/>
          <p:cNvSpPr txBox="true"/>
          <p:nvPr/>
        </p:nvSpPr>
        <p:spPr>
          <a:xfrm rot="0">
            <a:off x="570832" y="4095141"/>
            <a:ext cx="17717168" cy="2499901"/>
          </a:xfrm>
          <a:prstGeom prst="rect">
            <a:avLst/>
          </a:prstGeom>
        </p:spPr>
        <p:txBody>
          <a:bodyPr anchor="t" rtlCol="false" tIns="0" lIns="0" bIns="0" rIns="0">
            <a:spAutoFit/>
          </a:bodyPr>
          <a:lstStyle/>
          <a:p>
            <a:pPr algn="l">
              <a:lnSpc>
                <a:spcPts val="5004"/>
              </a:lnSpc>
              <a:spcBef>
                <a:spcPct val="0"/>
              </a:spcBef>
            </a:pPr>
            <a:r>
              <a:rPr lang="en-US" sz="3574" strike="noStrike" u="none">
                <a:solidFill>
                  <a:srgbClr val="000000"/>
                </a:solidFill>
                <a:latin typeface="Rokkitt"/>
                <a:ea typeface="Rokkitt"/>
                <a:cs typeface="Rokkitt"/>
                <a:sym typeface="Rokkitt"/>
              </a:rPr>
              <a:t>Các mô hình LLM được ứng dụng rộng rãi trong nhiều công cụ hiện đại, tiêu biểu như ChatGPT và GitHub Copilot:</a:t>
            </a:r>
          </a:p>
          <a:p>
            <a:pPr algn="l" marL="771757" indent="-385879" lvl="1">
              <a:lnSpc>
                <a:spcPts val="5004"/>
              </a:lnSpc>
              <a:spcBef>
                <a:spcPct val="0"/>
              </a:spcBef>
              <a:buFont typeface="Arial"/>
              <a:buChar char="•"/>
            </a:pPr>
            <a:r>
              <a:rPr lang="en-US" b="true" sz="3574" strike="noStrike" u="none">
                <a:solidFill>
                  <a:srgbClr val="000000"/>
                </a:solidFill>
                <a:latin typeface="Rokkitt Bold"/>
                <a:ea typeface="Rokkitt Bold"/>
                <a:cs typeface="Rokkitt Bold"/>
                <a:sym typeface="Rokkitt Bold"/>
              </a:rPr>
              <a:t>ChatGPT:</a:t>
            </a:r>
            <a:r>
              <a:rPr lang="en-US" sz="3574" strike="noStrike" u="none">
                <a:solidFill>
                  <a:srgbClr val="000000"/>
                </a:solidFill>
                <a:latin typeface="Rokkitt"/>
                <a:ea typeface="Rokkitt"/>
                <a:cs typeface="Rokkitt"/>
                <a:sym typeface="Rokkitt"/>
              </a:rPr>
              <a:t> c</a:t>
            </a:r>
            <a:r>
              <a:rPr lang="en-US" sz="3574" strike="noStrike" u="none">
                <a:solidFill>
                  <a:srgbClr val="000000"/>
                </a:solidFill>
                <a:latin typeface="Rokkitt"/>
                <a:ea typeface="Rokkitt"/>
                <a:cs typeface="Rokkitt"/>
                <a:sym typeface="Rokkitt"/>
              </a:rPr>
              <a:t>ho phép tương tác bằng ngôn ngữ tự nhiên và hỗ trợ nhiều tác vụ khác nhau.</a:t>
            </a:r>
          </a:p>
          <a:p>
            <a:pPr algn="l" marL="771757" indent="-385879" lvl="1">
              <a:lnSpc>
                <a:spcPts val="5004"/>
              </a:lnSpc>
              <a:spcBef>
                <a:spcPct val="0"/>
              </a:spcBef>
              <a:buFont typeface="Arial"/>
              <a:buChar char="•"/>
            </a:pPr>
            <a:r>
              <a:rPr lang="en-US" b="true" sz="3574" strike="noStrike" u="none">
                <a:solidFill>
                  <a:srgbClr val="000000"/>
                </a:solidFill>
                <a:latin typeface="Rokkitt Bold"/>
                <a:ea typeface="Rokkitt Bold"/>
                <a:cs typeface="Rokkitt Bold"/>
                <a:sym typeface="Rokkitt Bold"/>
              </a:rPr>
              <a:t>GitHub Copilot:</a:t>
            </a:r>
            <a:r>
              <a:rPr lang="en-US" sz="3574" strike="noStrike" u="none">
                <a:solidFill>
                  <a:srgbClr val="000000"/>
                </a:solidFill>
                <a:latin typeface="Rokkitt"/>
                <a:ea typeface="Rokkitt"/>
                <a:cs typeface="Rokkitt"/>
                <a:sym typeface="Rokkitt"/>
              </a:rPr>
              <a:t> hỗ trợ lập trình viên thông qua việc gợi ý mã nguồn dựa trên ngữ cảnh.</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39985" y="3224791"/>
            <a:ext cx="16608030" cy="3916929"/>
            <a:chOff x="0" y="0"/>
            <a:chExt cx="2142977" cy="505412"/>
          </a:xfrm>
        </p:grpSpPr>
        <p:sp>
          <p:nvSpPr>
            <p:cNvPr name="Freeform 3" id="3"/>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4" id="4"/>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5" id="5"/>
          <p:cNvGrpSpPr/>
          <p:nvPr/>
        </p:nvGrpSpPr>
        <p:grpSpPr>
          <a:xfrm rot="0">
            <a:off x="839985" y="3224791"/>
            <a:ext cx="16608030" cy="1742925"/>
            <a:chOff x="0" y="0"/>
            <a:chExt cx="2142977" cy="224894"/>
          </a:xfrm>
        </p:grpSpPr>
        <p:sp>
          <p:nvSpPr>
            <p:cNvPr name="Freeform 6" id="6"/>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7" id="7"/>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8" id="8"/>
          <p:cNvSpPr txBox="true"/>
          <p:nvPr/>
        </p:nvSpPr>
        <p:spPr>
          <a:xfrm rot="0">
            <a:off x="1158183" y="5435812"/>
            <a:ext cx="16289832" cy="852323"/>
          </a:xfrm>
          <a:prstGeom prst="rect">
            <a:avLst/>
          </a:prstGeom>
        </p:spPr>
        <p:txBody>
          <a:bodyPr anchor="t" rtlCol="false" tIns="0" lIns="0" bIns="0" rIns="0">
            <a:spAutoFit/>
          </a:bodyPr>
          <a:lstStyle/>
          <a:p>
            <a:pPr algn="ctr">
              <a:lnSpc>
                <a:spcPts val="7088"/>
              </a:lnSpc>
            </a:pPr>
            <a:r>
              <a:rPr lang="en-US" b="true" sz="4694" spc="239">
                <a:solidFill>
                  <a:srgbClr val="000000"/>
                </a:solidFill>
                <a:latin typeface="Tomorrow Bold"/>
                <a:ea typeface="Tomorrow Bold"/>
                <a:cs typeface="Tomorrow Bold"/>
                <a:sym typeface="Tomorrow Bold"/>
              </a:rPr>
              <a:t>ĐỌC VÀ HIỂU CƠ SỞ MÃ VỚI GENAI </a:t>
            </a:r>
          </a:p>
        </p:txBody>
      </p:sp>
      <p:sp>
        <p:nvSpPr>
          <p:cNvPr name="TextBox 9" id="9"/>
          <p:cNvSpPr txBox="true"/>
          <p:nvPr/>
        </p:nvSpPr>
        <p:spPr>
          <a:xfrm rot="0">
            <a:off x="7744542" y="2690307"/>
            <a:ext cx="2798915" cy="2283457"/>
          </a:xfrm>
          <a:prstGeom prst="rect">
            <a:avLst/>
          </a:prstGeom>
        </p:spPr>
        <p:txBody>
          <a:bodyPr anchor="t" rtlCol="false" tIns="0" lIns="0" bIns="0" rIns="0">
            <a:spAutoFit/>
          </a:bodyPr>
          <a:lstStyle/>
          <a:p>
            <a:pPr algn="ctr">
              <a:lnSpc>
                <a:spcPts val="18891"/>
              </a:lnSpc>
            </a:pPr>
            <a:r>
              <a:rPr lang="en-US" b="true" sz="12851">
                <a:solidFill>
                  <a:srgbClr val="000000"/>
                </a:solidFill>
                <a:latin typeface="Tomorrow Bold"/>
                <a:ea typeface="Tomorrow Bold"/>
                <a:cs typeface="Tomorrow Bold"/>
                <a:sym typeface="Tomorrow Bold"/>
              </a:rPr>
              <a:t>07</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59907" y="3604722"/>
            <a:ext cx="17528093" cy="4385772"/>
          </a:xfrm>
          <a:prstGeom prst="rect">
            <a:avLst/>
          </a:prstGeom>
        </p:spPr>
        <p:txBody>
          <a:bodyPr anchor="t" rtlCol="false" tIns="0" lIns="0" bIns="0" rIns="0">
            <a:spAutoFit/>
          </a:bodyPr>
          <a:lstStyle/>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Sử dụng Generative AI để đọc, phân tích và hiểu codebase có sẵn.</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Codebase lớn thường khó tiếp cận do thiếu tài liệu, cấu trúc phức tạp và sự phụ thuộc giữa các thành phần.</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Generative AI hỗ trợ lập trình viên:</a:t>
            </a:r>
          </a:p>
          <a:p>
            <a:pPr algn="l" marL="771757" indent="-385879" lvl="1">
              <a:lnSpc>
                <a:spcPts val="5004"/>
              </a:lnSpc>
              <a:buAutoNum type="arabicPeriod" startAt="1"/>
            </a:pPr>
            <a:r>
              <a:rPr lang="en-US" sz="3574" strike="noStrike" u="none">
                <a:solidFill>
                  <a:srgbClr val="000000"/>
                </a:solidFill>
                <a:latin typeface="Rokkitt"/>
                <a:ea typeface="Rokkitt"/>
                <a:cs typeface="Rokkitt"/>
                <a:sym typeface="Rokkitt"/>
              </a:rPr>
              <a:t>Nắm nhanh chức năng hệ thống.</a:t>
            </a:r>
          </a:p>
          <a:p>
            <a:pPr algn="l" marL="771757" indent="-385879" lvl="1">
              <a:lnSpc>
                <a:spcPts val="5004"/>
              </a:lnSpc>
              <a:buAutoNum type="arabicPeriod" startAt="1"/>
            </a:pPr>
            <a:r>
              <a:rPr lang="en-US" sz="3574" strike="noStrike" u="none">
                <a:solidFill>
                  <a:srgbClr val="000000"/>
                </a:solidFill>
                <a:latin typeface="Rokkitt"/>
                <a:ea typeface="Rokkitt"/>
                <a:cs typeface="Rokkitt"/>
                <a:sym typeface="Rokkitt"/>
              </a:rPr>
              <a:t>Hiểu logic xử lý.</a:t>
            </a:r>
          </a:p>
          <a:p>
            <a:pPr algn="l" marL="771757" indent="-385879" lvl="1">
              <a:lnSpc>
                <a:spcPts val="5004"/>
              </a:lnSpc>
              <a:buAutoNum type="arabicPeriod" startAt="1"/>
            </a:pPr>
            <a:r>
              <a:rPr lang="en-US" sz="3574" strike="noStrike" u="none">
                <a:solidFill>
                  <a:srgbClr val="000000"/>
                </a:solidFill>
                <a:latin typeface="Rokkitt"/>
                <a:ea typeface="Rokkitt"/>
                <a:cs typeface="Rokkitt"/>
                <a:sym typeface="Rokkitt"/>
              </a:rPr>
              <a:t>Giảm thời gian tìm hiểu mã nguồn.</a:t>
            </a:r>
          </a:p>
        </p:txBody>
      </p:sp>
      <p:grpSp>
        <p:nvGrpSpPr>
          <p:cNvPr name="Group 3" id="3"/>
          <p:cNvGrpSpPr/>
          <p:nvPr/>
        </p:nvGrpSpPr>
        <p:grpSpPr>
          <a:xfrm rot="0">
            <a:off x="5174928" y="2000372"/>
            <a:ext cx="7938145" cy="1343591"/>
            <a:chOff x="0" y="0"/>
            <a:chExt cx="10584193" cy="1791455"/>
          </a:xfrm>
        </p:grpSpPr>
        <p:grpSp>
          <p:nvGrpSpPr>
            <p:cNvPr name="Group 4" id="4"/>
            <p:cNvGrpSpPr/>
            <p:nvPr/>
          </p:nvGrpSpPr>
          <p:grpSpPr>
            <a:xfrm rot="0">
              <a:off x="186011" y="0"/>
              <a:ext cx="10212171" cy="1791455"/>
              <a:chOff x="0" y="0"/>
              <a:chExt cx="595635" cy="104488"/>
            </a:xfrm>
          </p:grpSpPr>
          <p:sp>
            <p:nvSpPr>
              <p:cNvPr name="Freeform 5" id="5"/>
              <p:cNvSpPr/>
              <p:nvPr/>
            </p:nvSpPr>
            <p:spPr>
              <a:xfrm flipH="false" flipV="false" rot="0">
                <a:off x="0" y="0"/>
                <a:ext cx="595635" cy="104488"/>
              </a:xfrm>
              <a:custGeom>
                <a:avLst/>
                <a:gdLst/>
                <a:ahLst/>
                <a:cxnLst/>
                <a:rect r="r" b="b" t="t" l="l"/>
                <a:pathLst>
                  <a:path h="104488" w="595635">
                    <a:moveTo>
                      <a:pt x="0" y="0"/>
                    </a:moveTo>
                    <a:lnTo>
                      <a:pt x="595635" y="0"/>
                    </a:lnTo>
                    <a:lnTo>
                      <a:pt x="595635" y="104488"/>
                    </a:lnTo>
                    <a:lnTo>
                      <a:pt x="0" y="104488"/>
                    </a:lnTo>
                    <a:close/>
                  </a:path>
                </a:pathLst>
              </a:custGeom>
              <a:solidFill>
                <a:srgbClr val="FFFFFF"/>
              </a:solidFill>
              <a:ln w="28575" cap="sq">
                <a:solidFill>
                  <a:srgbClr val="000000"/>
                </a:solidFill>
                <a:prstDash val="solid"/>
                <a:miter/>
              </a:ln>
            </p:spPr>
          </p:sp>
          <p:sp>
            <p:nvSpPr>
              <p:cNvPr name="TextBox 6" id="6"/>
              <p:cNvSpPr txBox="true"/>
              <p:nvPr/>
            </p:nvSpPr>
            <p:spPr>
              <a:xfrm>
                <a:off x="0" y="-57150"/>
                <a:ext cx="595635" cy="161638"/>
              </a:xfrm>
              <a:prstGeom prst="rect">
                <a:avLst/>
              </a:prstGeom>
            </p:spPr>
            <p:txBody>
              <a:bodyPr anchor="ctr" rtlCol="false" tIns="50800" lIns="50800" bIns="50800" rIns="50800"/>
              <a:lstStyle/>
              <a:p>
                <a:pPr algn="ctr">
                  <a:lnSpc>
                    <a:spcPts val="2926"/>
                  </a:lnSpc>
                </a:pPr>
              </a:p>
            </p:txBody>
          </p:sp>
        </p:grpSp>
        <p:sp>
          <p:nvSpPr>
            <p:cNvPr name="TextBox 7" id="7"/>
            <p:cNvSpPr txBox="true"/>
            <p:nvPr/>
          </p:nvSpPr>
          <p:spPr>
            <a:xfrm rot="0">
              <a:off x="0" y="54136"/>
              <a:ext cx="10584193" cy="1511733"/>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7.1. Giới thiệu</a:t>
              </a:r>
            </a:p>
          </p:txBody>
        </p:sp>
      </p:gr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54114" y="2292438"/>
            <a:ext cx="16179772" cy="1343591"/>
            <a:chOff x="0" y="0"/>
            <a:chExt cx="21573030" cy="1791455"/>
          </a:xfrm>
        </p:grpSpPr>
        <p:grpSp>
          <p:nvGrpSpPr>
            <p:cNvPr name="Group 3" id="3"/>
            <p:cNvGrpSpPr/>
            <p:nvPr/>
          </p:nvGrpSpPr>
          <p:grpSpPr>
            <a:xfrm rot="0">
              <a:off x="284989" y="0"/>
              <a:ext cx="21288041" cy="1791455"/>
              <a:chOff x="0" y="0"/>
              <a:chExt cx="1241647" cy="104488"/>
            </a:xfrm>
          </p:grpSpPr>
          <p:sp>
            <p:nvSpPr>
              <p:cNvPr name="Freeform 4" id="4"/>
              <p:cNvSpPr/>
              <p:nvPr/>
            </p:nvSpPr>
            <p:spPr>
              <a:xfrm flipH="false" flipV="false" rot="0">
                <a:off x="0" y="0"/>
                <a:ext cx="1241647" cy="104488"/>
              </a:xfrm>
              <a:custGeom>
                <a:avLst/>
                <a:gdLst/>
                <a:ahLst/>
                <a:cxnLst/>
                <a:rect r="r" b="b" t="t" l="l"/>
                <a:pathLst>
                  <a:path h="104488" w="1241647">
                    <a:moveTo>
                      <a:pt x="0" y="0"/>
                    </a:moveTo>
                    <a:lnTo>
                      <a:pt x="1241647" y="0"/>
                    </a:lnTo>
                    <a:lnTo>
                      <a:pt x="1241647"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241647"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1573030" cy="1511733"/>
            </a:xfrm>
            <a:prstGeom prst="rect">
              <a:avLst/>
            </a:prstGeom>
          </p:spPr>
          <p:txBody>
            <a:bodyPr anchor="t" rtlCol="false" tIns="0" lIns="0" bIns="0" rIns="0">
              <a:spAutoFit/>
            </a:bodyPr>
            <a:lstStyle/>
            <a:p>
              <a:pPr algn="ctr">
                <a:lnSpc>
                  <a:spcPts val="9756"/>
                </a:lnSpc>
              </a:pPr>
              <a:r>
                <a:rPr lang="en-US" b="true" sz="6636">
                  <a:solidFill>
                    <a:srgbClr val="000000"/>
                  </a:solidFill>
                  <a:latin typeface="Tomorrow Bold"/>
                  <a:ea typeface="Tomorrow Bold"/>
                  <a:cs typeface="Tomorrow Bold"/>
                  <a:sym typeface="Tomorrow Bold"/>
                </a:rPr>
                <a:t>7.2.  Thách thức khi đọc codebase</a:t>
              </a:r>
            </a:p>
          </p:txBody>
        </p:sp>
      </p:grpSp>
      <p:sp>
        <p:nvSpPr>
          <p:cNvPr name="TextBox 7" id="7"/>
          <p:cNvSpPr txBox="true"/>
          <p:nvPr/>
        </p:nvSpPr>
        <p:spPr>
          <a:xfrm rot="0">
            <a:off x="4056779" y="3846672"/>
            <a:ext cx="10174443" cy="3128525"/>
          </a:xfrm>
          <a:prstGeom prst="rect">
            <a:avLst/>
          </a:prstGeom>
        </p:spPr>
        <p:txBody>
          <a:bodyPr anchor="t" rtlCol="false" tIns="0" lIns="0" bIns="0" rIns="0">
            <a:spAutoFit/>
          </a:bodyPr>
          <a:lstStyle/>
          <a:p>
            <a:pPr algn="l">
              <a:lnSpc>
                <a:spcPts val="5004"/>
              </a:lnSpc>
              <a:spcBef>
                <a:spcPct val="0"/>
              </a:spcBef>
            </a:pPr>
            <a:r>
              <a:rPr lang="en-US" sz="3574" strike="noStrike" u="none">
                <a:solidFill>
                  <a:srgbClr val="000000"/>
                </a:solidFill>
                <a:latin typeface="Rokkitt"/>
                <a:ea typeface="Rokkitt"/>
                <a:cs typeface="Rokkitt"/>
                <a:sym typeface="Rokkitt"/>
              </a:rPr>
              <a:t>Việc đọc và hiểu codebase lớn gặp </a:t>
            </a:r>
            <a:r>
              <a:rPr lang="en-US" b="true" sz="3574" strike="noStrike" u="none">
                <a:solidFill>
                  <a:srgbClr val="000000"/>
                </a:solidFill>
                <a:latin typeface="Rokkitt Bold"/>
                <a:ea typeface="Rokkitt Bold"/>
                <a:cs typeface="Rokkitt Bold"/>
                <a:sym typeface="Rokkitt Bold"/>
              </a:rPr>
              <a:t>các vấn đề </a:t>
            </a:r>
            <a:r>
              <a:rPr lang="en-US" sz="3574" strike="noStrike" u="none">
                <a:solidFill>
                  <a:srgbClr val="000000"/>
                </a:solidFill>
                <a:latin typeface="Rokkitt"/>
                <a:ea typeface="Rokkitt"/>
                <a:cs typeface="Rokkitt"/>
                <a:sym typeface="Rokkitt"/>
              </a:rPr>
              <a:t>sau:</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Quy mô mã nguồn lớn, nhiều file và module.</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Thiếu tài liệu hoặc tài liệu không đầy đủ.</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Quan hệ phụ thuộc phức tạp giữa các thành phần.</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Khó xác định luồng dữ liệu và luồng điều khiển.</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8276" y="2396499"/>
            <a:ext cx="16991448" cy="2407190"/>
            <a:chOff x="0" y="0"/>
            <a:chExt cx="22655264" cy="3209586"/>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7.3. Vai trò của Generative AI</a:t>
              </a:r>
            </a:p>
            <a:p>
              <a:pPr algn="ctr">
                <a:lnSpc>
                  <a:spcPts val="9756"/>
                </a:lnSpc>
              </a:pPr>
            </a:p>
          </p:txBody>
        </p:sp>
      </p:grpSp>
      <p:sp>
        <p:nvSpPr>
          <p:cNvPr name="TextBox 7" id="7"/>
          <p:cNvSpPr txBox="true"/>
          <p:nvPr/>
        </p:nvSpPr>
        <p:spPr>
          <a:xfrm rot="0">
            <a:off x="3577601" y="3832097"/>
            <a:ext cx="10238463" cy="3128525"/>
          </a:xfrm>
          <a:prstGeom prst="rect">
            <a:avLst/>
          </a:prstGeom>
        </p:spPr>
        <p:txBody>
          <a:bodyPr anchor="t" rtlCol="false" tIns="0" lIns="0" bIns="0" rIns="0">
            <a:spAutoFit/>
          </a:bodyPr>
          <a:lstStyle/>
          <a:p>
            <a:pPr algn="l">
              <a:lnSpc>
                <a:spcPts val="5004"/>
              </a:lnSpc>
            </a:pPr>
            <a:r>
              <a:rPr lang="en-US" sz="3574" strike="noStrike" u="none">
                <a:solidFill>
                  <a:srgbClr val="000000"/>
                </a:solidFill>
                <a:latin typeface="Rokkitt"/>
                <a:ea typeface="Rokkitt"/>
                <a:cs typeface="Rokkitt"/>
                <a:sym typeface="Rokkitt"/>
              </a:rPr>
              <a:t>Generative AI hỗ trợ giải quyết các vấn đề bằng cách:</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Tóm tắt nội dung file hoặc module.</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Giải thích chức năng của hàm.</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Mô tả luồng xử lý của chương trình.</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Hỗ trợ phát hiện lỗi hoặc điểm bất thường.</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8276" y="2396499"/>
            <a:ext cx="16991448" cy="2407190"/>
            <a:chOff x="0" y="0"/>
            <a:chExt cx="22655264" cy="3209586"/>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7.4. Phân tích code theo cấp độ</a:t>
              </a:r>
            </a:p>
            <a:p>
              <a:pPr algn="ctr">
                <a:lnSpc>
                  <a:spcPts val="9756"/>
                </a:lnSpc>
              </a:pPr>
            </a:p>
          </p:txBody>
        </p:sp>
      </p:grpSp>
      <p:sp>
        <p:nvSpPr>
          <p:cNvPr name="TextBox 7" id="7"/>
          <p:cNvSpPr txBox="true"/>
          <p:nvPr/>
        </p:nvSpPr>
        <p:spPr>
          <a:xfrm rot="0">
            <a:off x="3330432" y="3855450"/>
            <a:ext cx="11627136" cy="2499901"/>
          </a:xfrm>
          <a:prstGeom prst="rect">
            <a:avLst/>
          </a:prstGeom>
        </p:spPr>
        <p:txBody>
          <a:bodyPr anchor="t" rtlCol="false" tIns="0" lIns="0" bIns="0" rIns="0">
            <a:spAutoFit/>
          </a:bodyPr>
          <a:lstStyle/>
          <a:p>
            <a:pPr algn="l">
              <a:lnSpc>
                <a:spcPts val="5004"/>
              </a:lnSpc>
              <a:spcBef>
                <a:spcPct val="0"/>
              </a:spcBef>
            </a:pPr>
            <a:r>
              <a:rPr lang="en-US" sz="3574">
                <a:solidFill>
                  <a:srgbClr val="000000"/>
                </a:solidFill>
                <a:latin typeface="Rokkitt"/>
                <a:ea typeface="Rokkitt"/>
                <a:cs typeface="Rokkitt"/>
                <a:sym typeface="Rokkitt"/>
              </a:rPr>
              <a:t>Để</a:t>
            </a:r>
            <a:r>
              <a:rPr lang="en-US" sz="3574" strike="noStrike" u="none">
                <a:solidFill>
                  <a:srgbClr val="000000"/>
                </a:solidFill>
                <a:latin typeface="Rokkitt"/>
                <a:ea typeface="Rokkitt"/>
                <a:cs typeface="Rokkitt"/>
                <a:sym typeface="Rokkitt"/>
              </a:rPr>
              <a:t> giả</a:t>
            </a:r>
            <a:r>
              <a:rPr lang="en-US" sz="3574" strike="noStrike" u="none">
                <a:solidFill>
                  <a:srgbClr val="000000"/>
                </a:solidFill>
                <a:latin typeface="Rokkitt"/>
                <a:ea typeface="Rokkitt"/>
                <a:cs typeface="Rokkitt"/>
                <a:sym typeface="Rokkitt"/>
              </a:rPr>
              <a:t>m</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độ</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phứ</a:t>
            </a:r>
            <a:r>
              <a:rPr lang="en-US" sz="3574" strike="noStrike" u="none">
                <a:solidFill>
                  <a:srgbClr val="000000"/>
                </a:solidFill>
                <a:latin typeface="Rokkitt"/>
                <a:ea typeface="Rokkitt"/>
                <a:cs typeface="Rokkitt"/>
                <a:sym typeface="Rokkitt"/>
              </a:rPr>
              <a:t>c </a:t>
            </a:r>
            <a:r>
              <a:rPr lang="en-US" sz="3574" strike="noStrike" u="none">
                <a:solidFill>
                  <a:srgbClr val="000000"/>
                </a:solidFill>
                <a:latin typeface="Rokkitt"/>
                <a:ea typeface="Rokkitt"/>
                <a:cs typeface="Rokkitt"/>
                <a:sym typeface="Rokkitt"/>
              </a:rPr>
              <a:t>tạp, codebase</a:t>
            </a:r>
            <a:r>
              <a:rPr lang="en-US" sz="3574" strike="noStrike" u="none">
                <a:solidFill>
                  <a:srgbClr val="000000"/>
                </a:solidFill>
                <a:latin typeface="Rokkitt"/>
                <a:ea typeface="Rokkitt"/>
                <a:cs typeface="Rokkitt"/>
                <a:sym typeface="Rokkitt"/>
              </a:rPr>
              <a:t> đ</a:t>
            </a:r>
            <a:r>
              <a:rPr lang="en-US" sz="3574" strike="noStrike" u="none">
                <a:solidFill>
                  <a:srgbClr val="000000"/>
                </a:solidFill>
                <a:latin typeface="Rokkitt"/>
                <a:ea typeface="Rokkitt"/>
                <a:cs typeface="Rokkitt"/>
                <a:sym typeface="Rokkitt"/>
              </a:rPr>
              <a:t>ược</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phâ</a:t>
            </a:r>
            <a:r>
              <a:rPr lang="en-US" sz="3574" strike="noStrike" u="none">
                <a:solidFill>
                  <a:srgbClr val="000000"/>
                </a:solidFill>
                <a:latin typeface="Rokkitt"/>
                <a:ea typeface="Rokkitt"/>
                <a:cs typeface="Rokkitt"/>
                <a:sym typeface="Rokkitt"/>
              </a:rPr>
              <a:t>n </a:t>
            </a:r>
            <a:r>
              <a:rPr lang="en-US" sz="3574" strike="noStrike" u="none">
                <a:solidFill>
                  <a:srgbClr val="000000"/>
                </a:solidFill>
                <a:latin typeface="Rokkitt"/>
                <a:ea typeface="Rokkitt"/>
                <a:cs typeface="Rokkitt"/>
                <a:sym typeface="Rokkitt"/>
              </a:rPr>
              <a:t>tí</a:t>
            </a:r>
            <a:r>
              <a:rPr lang="en-US" sz="3574" strike="noStrike" u="none">
                <a:solidFill>
                  <a:srgbClr val="000000"/>
                </a:solidFill>
                <a:latin typeface="Rokkitt"/>
                <a:ea typeface="Rokkitt"/>
                <a:cs typeface="Rokkitt"/>
                <a:sym typeface="Rokkitt"/>
              </a:rPr>
              <a:t>ch</a:t>
            </a:r>
            <a:r>
              <a:rPr lang="en-US" sz="3574" strike="noStrike" u="none">
                <a:solidFill>
                  <a:srgbClr val="000000"/>
                </a:solidFill>
                <a:latin typeface="Rokkitt"/>
                <a:ea typeface="Rokkitt"/>
                <a:cs typeface="Rokkitt"/>
                <a:sym typeface="Rokkitt"/>
              </a:rPr>
              <a:t> t</a:t>
            </a:r>
            <a:r>
              <a:rPr lang="en-US" sz="3574" strike="noStrike" u="none">
                <a:solidFill>
                  <a:srgbClr val="000000"/>
                </a:solidFill>
                <a:latin typeface="Rokkitt"/>
                <a:ea typeface="Rokkitt"/>
                <a:cs typeface="Rokkitt"/>
                <a:sym typeface="Rokkitt"/>
              </a:rPr>
              <a:t>heo</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từ</a:t>
            </a:r>
            <a:r>
              <a:rPr lang="en-US" sz="3574" strike="noStrike" u="none">
                <a:solidFill>
                  <a:srgbClr val="000000"/>
                </a:solidFill>
                <a:latin typeface="Rokkitt"/>
                <a:ea typeface="Rokkitt"/>
                <a:cs typeface="Rokkitt"/>
                <a:sym typeface="Rokkitt"/>
              </a:rPr>
              <a:t>ng </a:t>
            </a:r>
            <a:r>
              <a:rPr lang="en-US" sz="3574" strike="noStrike" u="none">
                <a:solidFill>
                  <a:srgbClr val="000000"/>
                </a:solidFill>
                <a:latin typeface="Rokkitt"/>
                <a:ea typeface="Rokkitt"/>
                <a:cs typeface="Rokkitt"/>
                <a:sym typeface="Rokkitt"/>
              </a:rPr>
              <a:t>cấp:</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Mức </a:t>
            </a:r>
            <a:r>
              <a:rPr lang="en-US" sz="3574" strike="noStrike" u="none">
                <a:solidFill>
                  <a:srgbClr val="000000"/>
                </a:solidFill>
                <a:latin typeface="Rokkitt"/>
                <a:ea typeface="Rokkitt"/>
                <a:cs typeface="Rokkitt"/>
                <a:sym typeface="Rokkitt"/>
              </a:rPr>
              <a:t>file</a:t>
            </a:r>
            <a:r>
              <a:rPr lang="en-US" sz="3574" strike="noStrike" u="none">
                <a:solidFill>
                  <a:srgbClr val="000000"/>
                </a:solidFill>
                <a:latin typeface="Rokkitt"/>
                <a:ea typeface="Rokkitt"/>
                <a:cs typeface="Rokkitt"/>
                <a:sym typeface="Rokkitt"/>
              </a:rPr>
              <a:t>:</a:t>
            </a:r>
            <a:r>
              <a:rPr lang="en-US" sz="3574" strike="noStrike" u="none">
                <a:solidFill>
                  <a:srgbClr val="000000"/>
                </a:solidFill>
                <a:latin typeface="Rokkitt"/>
                <a:ea typeface="Rokkitt"/>
                <a:cs typeface="Rokkitt"/>
                <a:sym typeface="Rokkitt"/>
              </a:rPr>
              <a:t> hi</a:t>
            </a:r>
            <a:r>
              <a:rPr lang="en-US" sz="3574" strike="noStrike" u="none">
                <a:solidFill>
                  <a:srgbClr val="000000"/>
                </a:solidFill>
                <a:latin typeface="Rokkitt"/>
                <a:ea typeface="Rokkitt"/>
                <a:cs typeface="Rokkitt"/>
                <a:sym typeface="Rokkitt"/>
              </a:rPr>
              <a:t>ểu</a:t>
            </a:r>
            <a:r>
              <a:rPr lang="en-US" sz="3574" strike="noStrike" u="none">
                <a:solidFill>
                  <a:srgbClr val="000000"/>
                </a:solidFill>
                <a:latin typeface="Rokkitt"/>
                <a:ea typeface="Rokkitt"/>
                <a:cs typeface="Rokkitt"/>
                <a:sym typeface="Rokkitt"/>
              </a:rPr>
              <a:t> chức năng t</a:t>
            </a:r>
            <a:r>
              <a:rPr lang="en-US" sz="3574" strike="noStrike" u="none">
                <a:solidFill>
                  <a:srgbClr val="000000"/>
                </a:solidFill>
                <a:latin typeface="Rokkitt"/>
                <a:ea typeface="Rokkitt"/>
                <a:cs typeface="Rokkitt"/>
                <a:sym typeface="Rokkitt"/>
              </a:rPr>
              <a:t>ổ</a:t>
            </a:r>
            <a:r>
              <a:rPr lang="en-US" sz="3574" strike="noStrike" u="none">
                <a:solidFill>
                  <a:srgbClr val="000000"/>
                </a:solidFill>
                <a:latin typeface="Rokkitt"/>
                <a:ea typeface="Rokkitt"/>
                <a:cs typeface="Rokkitt"/>
                <a:sym typeface="Rokkitt"/>
              </a:rPr>
              <a:t>ng thể.</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Mức</a:t>
            </a:r>
            <a:r>
              <a:rPr lang="en-US" sz="3574" strike="noStrike" u="none">
                <a:solidFill>
                  <a:srgbClr val="000000"/>
                </a:solidFill>
                <a:latin typeface="Rokkitt"/>
                <a:ea typeface="Rokkitt"/>
                <a:cs typeface="Rokkitt"/>
                <a:sym typeface="Rokkitt"/>
              </a:rPr>
              <a:t> c</a:t>
            </a:r>
            <a:r>
              <a:rPr lang="en-US" sz="3574" strike="noStrike" u="none">
                <a:solidFill>
                  <a:srgbClr val="000000"/>
                </a:solidFill>
                <a:latin typeface="Rokkitt"/>
                <a:ea typeface="Rokkitt"/>
                <a:cs typeface="Rokkitt"/>
                <a:sym typeface="Rokkitt"/>
              </a:rPr>
              <a:t>l</a:t>
            </a:r>
            <a:r>
              <a:rPr lang="en-US" sz="3574" strike="noStrike" u="none">
                <a:solidFill>
                  <a:srgbClr val="000000"/>
                </a:solidFill>
                <a:latin typeface="Rokkitt"/>
                <a:ea typeface="Rokkitt"/>
                <a:cs typeface="Rokkitt"/>
                <a:sym typeface="Rokkitt"/>
              </a:rPr>
              <a:t>a</a:t>
            </a:r>
            <a:r>
              <a:rPr lang="en-US" sz="3574" strike="noStrike" u="none">
                <a:solidFill>
                  <a:srgbClr val="000000"/>
                </a:solidFill>
                <a:latin typeface="Rokkitt"/>
                <a:ea typeface="Rokkitt"/>
                <a:cs typeface="Rokkitt"/>
                <a:sym typeface="Rokkitt"/>
              </a:rPr>
              <a:t>ss:</a:t>
            </a:r>
            <a:r>
              <a:rPr lang="en-US" sz="3574" strike="noStrike" u="none">
                <a:solidFill>
                  <a:srgbClr val="000000"/>
                </a:solidFill>
                <a:latin typeface="Rokkitt"/>
                <a:ea typeface="Rokkitt"/>
                <a:cs typeface="Rokkitt"/>
                <a:sym typeface="Rokkitt"/>
              </a:rPr>
              <a:t> h</a:t>
            </a:r>
            <a:r>
              <a:rPr lang="en-US" sz="3574" strike="noStrike" u="none">
                <a:solidFill>
                  <a:srgbClr val="000000"/>
                </a:solidFill>
                <a:latin typeface="Rokkitt"/>
                <a:ea typeface="Rokkitt"/>
                <a:cs typeface="Rokkitt"/>
                <a:sym typeface="Rokkitt"/>
              </a:rPr>
              <a:t>iểu cấu</a:t>
            </a:r>
            <a:r>
              <a:rPr lang="en-US" sz="3574" strike="noStrike" u="none">
                <a:solidFill>
                  <a:srgbClr val="000000"/>
                </a:solidFill>
                <a:latin typeface="Rokkitt"/>
                <a:ea typeface="Rokkitt"/>
                <a:cs typeface="Rokkitt"/>
                <a:sym typeface="Rokkitt"/>
              </a:rPr>
              <a:t> tr</a:t>
            </a:r>
            <a:r>
              <a:rPr lang="en-US" sz="3574" strike="noStrike" u="none">
                <a:solidFill>
                  <a:srgbClr val="000000"/>
                </a:solidFill>
                <a:latin typeface="Rokkitt"/>
                <a:ea typeface="Rokkitt"/>
                <a:cs typeface="Rokkitt"/>
                <a:sym typeface="Rokkitt"/>
              </a:rPr>
              <a:t>úc đối tượng.</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Mức</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func</a:t>
            </a:r>
            <a:r>
              <a:rPr lang="en-US" sz="3574" strike="noStrike" u="none">
                <a:solidFill>
                  <a:srgbClr val="000000"/>
                </a:solidFill>
                <a:latin typeface="Rokkitt"/>
                <a:ea typeface="Rokkitt"/>
                <a:cs typeface="Rokkitt"/>
                <a:sym typeface="Rokkitt"/>
              </a:rPr>
              <a:t>ti</a:t>
            </a:r>
            <a:r>
              <a:rPr lang="en-US" sz="3574" strike="noStrike" u="none">
                <a:solidFill>
                  <a:srgbClr val="000000"/>
                </a:solidFill>
                <a:latin typeface="Rokkitt"/>
                <a:ea typeface="Rokkitt"/>
                <a:cs typeface="Rokkitt"/>
                <a:sym typeface="Rokkitt"/>
              </a:rPr>
              <a:t>o</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ểu</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l</a:t>
            </a:r>
            <a:r>
              <a:rPr lang="en-US" sz="3574" strike="noStrike" u="none">
                <a:solidFill>
                  <a:srgbClr val="000000"/>
                </a:solidFill>
                <a:latin typeface="Rokkitt"/>
                <a:ea typeface="Rokkitt"/>
                <a:cs typeface="Rokkitt"/>
                <a:sym typeface="Rokkitt"/>
              </a:rPr>
              <a:t>o</a:t>
            </a:r>
            <a:r>
              <a:rPr lang="en-US" sz="3574" strike="noStrike" u="none">
                <a:solidFill>
                  <a:srgbClr val="000000"/>
                </a:solidFill>
                <a:latin typeface="Rokkitt"/>
                <a:ea typeface="Rokkitt"/>
                <a:cs typeface="Rokkitt"/>
                <a:sym typeface="Rokkitt"/>
              </a:rPr>
              <a:t>gi</a:t>
            </a:r>
            <a:r>
              <a:rPr lang="en-US" sz="3574" strike="noStrike" u="none">
                <a:solidFill>
                  <a:srgbClr val="000000"/>
                </a:solidFill>
                <a:latin typeface="Rokkitt"/>
                <a:ea typeface="Rokkitt"/>
                <a:cs typeface="Rokkitt"/>
                <a:sym typeface="Rokkitt"/>
              </a:rPr>
              <a:t>c </a:t>
            </a:r>
            <a:r>
              <a:rPr lang="en-US" sz="3574" strike="noStrike" u="none">
                <a:solidFill>
                  <a:srgbClr val="000000"/>
                </a:solidFill>
                <a:latin typeface="Rokkitt"/>
                <a:ea typeface="Rokkitt"/>
                <a:cs typeface="Rokkitt"/>
                <a:sym typeface="Rokkitt"/>
              </a:rPr>
              <a:t>ch</a:t>
            </a:r>
            <a:r>
              <a:rPr lang="en-US" sz="3574" strike="noStrike" u="none">
                <a:solidFill>
                  <a:srgbClr val="000000"/>
                </a:solidFill>
                <a:latin typeface="Rokkitt"/>
                <a:ea typeface="Rokkitt"/>
                <a:cs typeface="Rokkitt"/>
                <a:sym typeface="Rokkitt"/>
              </a:rPr>
              <a:t>i tiết.</a:t>
            </a:r>
          </a:p>
        </p:txBody>
      </p:sp>
      <p:sp>
        <p:nvSpPr>
          <p:cNvPr name="TextBox 8" id="8"/>
          <p:cNvSpPr txBox="true"/>
          <p:nvPr/>
        </p:nvSpPr>
        <p:spPr>
          <a:xfrm rot="0">
            <a:off x="855574" y="6433523"/>
            <a:ext cx="17199893" cy="1047201"/>
          </a:xfrm>
          <a:prstGeom prst="rect">
            <a:avLst/>
          </a:prstGeom>
        </p:spPr>
        <p:txBody>
          <a:bodyPr anchor="t" rtlCol="false" tIns="0" lIns="0" bIns="0" rIns="0">
            <a:spAutoFit/>
          </a:bodyPr>
          <a:lstStyle/>
          <a:p>
            <a:pPr algn="l">
              <a:lnSpc>
                <a:spcPts val="4230"/>
              </a:lnSpc>
              <a:spcBef>
                <a:spcPct val="0"/>
              </a:spcBef>
            </a:pPr>
            <a:r>
              <a:rPr lang="en-US" b="true" sz="3021" i="true" strike="noStrike" u="none">
                <a:solidFill>
                  <a:srgbClr val="000000"/>
                </a:solidFill>
                <a:latin typeface="Tomorrow Bold Italics"/>
                <a:ea typeface="Tomorrow Bold Italics"/>
                <a:cs typeface="Tomorrow Bold Italics"/>
                <a:sym typeface="Tomorrow Bold Italics"/>
              </a:rPr>
              <a:t>→ Cá</a:t>
            </a:r>
            <a:r>
              <a:rPr lang="en-US" b="true" sz="3021" i="true" strike="noStrike" u="none">
                <a:solidFill>
                  <a:srgbClr val="000000"/>
                </a:solidFill>
                <a:latin typeface="Tomorrow Bold Italics"/>
                <a:ea typeface="Tomorrow Bold Italics"/>
                <a:cs typeface="Tomorrow Bold Italics"/>
                <a:sym typeface="Tomorrow Bold Italics"/>
              </a:rPr>
              <a:t>ch ti</a:t>
            </a:r>
            <a:r>
              <a:rPr lang="en-US" b="true" sz="3021" i="true" strike="noStrike" u="none">
                <a:solidFill>
                  <a:srgbClr val="000000"/>
                </a:solidFill>
                <a:latin typeface="Tomorrow Bold Italics"/>
                <a:ea typeface="Tomorrow Bold Italics"/>
                <a:cs typeface="Tomorrow Bold Italics"/>
                <a:sym typeface="Tomorrow Bold Italics"/>
              </a:rPr>
              <a:t>ếp cậ</a:t>
            </a:r>
            <a:r>
              <a:rPr lang="en-US" b="true" sz="3021" i="true" strike="noStrike" u="none">
                <a:solidFill>
                  <a:srgbClr val="000000"/>
                </a:solidFill>
                <a:latin typeface="Tomorrow Bold Italics"/>
                <a:ea typeface="Tomorrow Bold Italics"/>
                <a:cs typeface="Tomorrow Bold Italics"/>
                <a:sym typeface="Tomorrow Bold Italics"/>
              </a:rPr>
              <a:t>n </a:t>
            </a:r>
            <a:r>
              <a:rPr lang="en-US" b="true" sz="3021" i="true" strike="noStrike" u="none">
                <a:solidFill>
                  <a:srgbClr val="000000"/>
                </a:solidFill>
                <a:latin typeface="Tomorrow Bold Italics"/>
                <a:ea typeface="Tomorrow Bold Italics"/>
                <a:cs typeface="Tomorrow Bold Italics"/>
                <a:sym typeface="Tomorrow Bold Italics"/>
              </a:rPr>
              <a:t>này</a:t>
            </a:r>
            <a:r>
              <a:rPr lang="en-US" b="true" sz="3021" i="true" strike="noStrike" u="none">
                <a:solidFill>
                  <a:srgbClr val="000000"/>
                </a:solidFill>
                <a:latin typeface="Tomorrow Bold Italics"/>
                <a:ea typeface="Tomorrow Bold Italics"/>
                <a:cs typeface="Tomorrow Bold Italics"/>
                <a:sym typeface="Tomorrow Bold Italics"/>
              </a:rPr>
              <a:t> </a:t>
            </a:r>
            <a:r>
              <a:rPr lang="en-US" b="true" sz="3021" i="true" strike="noStrike" u="none">
                <a:solidFill>
                  <a:srgbClr val="000000"/>
                </a:solidFill>
                <a:latin typeface="Tomorrow Bold Italics"/>
                <a:ea typeface="Tomorrow Bold Italics"/>
                <a:cs typeface="Tomorrow Bold Italics"/>
                <a:sym typeface="Tomorrow Bold Italics"/>
              </a:rPr>
              <a:t>giú</a:t>
            </a:r>
            <a:r>
              <a:rPr lang="en-US" b="true" sz="3021" i="true" strike="noStrike" u="none">
                <a:solidFill>
                  <a:srgbClr val="000000"/>
                </a:solidFill>
                <a:latin typeface="Tomorrow Bold Italics"/>
                <a:ea typeface="Tomorrow Bold Italics"/>
                <a:cs typeface="Tomorrow Bold Italics"/>
                <a:sym typeface="Tomorrow Bold Italics"/>
              </a:rPr>
              <a:t>p c</a:t>
            </a:r>
            <a:r>
              <a:rPr lang="en-US" b="true" sz="3021" i="true" strike="noStrike" u="none">
                <a:solidFill>
                  <a:srgbClr val="000000"/>
                </a:solidFill>
                <a:latin typeface="Tomorrow Bold Italics"/>
                <a:ea typeface="Tomorrow Bold Italics"/>
                <a:cs typeface="Tomorrow Bold Italics"/>
                <a:sym typeface="Tomorrow Bold Italics"/>
              </a:rPr>
              <a:t>hia</a:t>
            </a:r>
            <a:r>
              <a:rPr lang="en-US" b="true" sz="3021" i="true" strike="noStrike" u="none">
                <a:solidFill>
                  <a:srgbClr val="000000"/>
                </a:solidFill>
                <a:latin typeface="Tomorrow Bold Italics"/>
                <a:ea typeface="Tomorrow Bold Italics"/>
                <a:cs typeface="Tomorrow Bold Italics"/>
                <a:sym typeface="Tomorrow Bold Italics"/>
              </a:rPr>
              <a:t> nh</a:t>
            </a:r>
            <a:r>
              <a:rPr lang="en-US" b="true" sz="3021" i="true" strike="noStrike" u="none">
                <a:solidFill>
                  <a:srgbClr val="000000"/>
                </a:solidFill>
                <a:latin typeface="Tomorrow Bold Italics"/>
                <a:ea typeface="Tomorrow Bold Italics"/>
                <a:cs typeface="Tomorrow Bold Italics"/>
                <a:sym typeface="Tomorrow Bold Italics"/>
              </a:rPr>
              <a:t>ỏ</a:t>
            </a:r>
            <a:r>
              <a:rPr lang="en-US" b="true" sz="3021" i="true" strike="noStrike" u="none">
                <a:solidFill>
                  <a:srgbClr val="000000"/>
                </a:solidFill>
                <a:latin typeface="Tomorrow Bold Italics"/>
                <a:ea typeface="Tomorrow Bold Italics"/>
                <a:cs typeface="Tomorrow Bold Italics"/>
                <a:sym typeface="Tomorrow Bold Italics"/>
              </a:rPr>
              <a:t> </a:t>
            </a:r>
            <a:r>
              <a:rPr lang="en-US" b="true" sz="3021" i="true" strike="noStrike" u="none">
                <a:solidFill>
                  <a:srgbClr val="000000"/>
                </a:solidFill>
                <a:latin typeface="Tomorrow Bold Italics"/>
                <a:ea typeface="Tomorrow Bold Italics"/>
                <a:cs typeface="Tomorrow Bold Italics"/>
                <a:sym typeface="Tomorrow Bold Italics"/>
              </a:rPr>
              <a:t>b</a:t>
            </a:r>
            <a:r>
              <a:rPr lang="en-US" b="true" sz="3021" i="true" strike="noStrike" u="none">
                <a:solidFill>
                  <a:srgbClr val="000000"/>
                </a:solidFill>
                <a:latin typeface="Tomorrow Bold Italics"/>
                <a:ea typeface="Tomorrow Bold Italics"/>
                <a:cs typeface="Tomorrow Bold Italics"/>
                <a:sym typeface="Tomorrow Bold Italics"/>
              </a:rPr>
              <a:t>à</a:t>
            </a:r>
            <a:r>
              <a:rPr lang="en-US" b="true" sz="3021" i="true" strike="noStrike" u="none">
                <a:solidFill>
                  <a:srgbClr val="000000"/>
                </a:solidFill>
                <a:latin typeface="Tomorrow Bold Italics"/>
                <a:ea typeface="Tomorrow Bold Italics"/>
                <a:cs typeface="Tomorrow Bold Italics"/>
                <a:sym typeface="Tomorrow Bold Italics"/>
              </a:rPr>
              <a:t>i t</a:t>
            </a:r>
            <a:r>
              <a:rPr lang="en-US" b="true" sz="3021" i="true" strike="noStrike" u="none">
                <a:solidFill>
                  <a:srgbClr val="000000"/>
                </a:solidFill>
                <a:latin typeface="Tomorrow Bold Italics"/>
                <a:ea typeface="Tomorrow Bold Italics"/>
                <a:cs typeface="Tomorrow Bold Italics"/>
                <a:sym typeface="Tomorrow Bold Italics"/>
              </a:rPr>
              <a:t>o</a:t>
            </a:r>
            <a:r>
              <a:rPr lang="en-US" b="true" sz="3021" i="true" strike="noStrike" u="none">
                <a:solidFill>
                  <a:srgbClr val="000000"/>
                </a:solidFill>
                <a:latin typeface="Tomorrow Bold Italics"/>
                <a:ea typeface="Tomorrow Bold Italics"/>
                <a:cs typeface="Tomorrow Bold Italics"/>
                <a:sym typeface="Tomorrow Bold Italics"/>
              </a:rPr>
              <a:t>án</a:t>
            </a:r>
            <a:r>
              <a:rPr lang="en-US" b="true" sz="3021" i="true" strike="noStrike" u="none">
                <a:solidFill>
                  <a:srgbClr val="000000"/>
                </a:solidFill>
                <a:latin typeface="Tomorrow Bold Italics"/>
                <a:ea typeface="Tomorrow Bold Italics"/>
                <a:cs typeface="Tomorrow Bold Italics"/>
                <a:sym typeface="Tomorrow Bold Italics"/>
              </a:rPr>
              <a:t> </a:t>
            </a:r>
            <a:r>
              <a:rPr lang="en-US" b="true" sz="3021" i="true" strike="noStrike" u="none">
                <a:solidFill>
                  <a:srgbClr val="000000"/>
                </a:solidFill>
                <a:latin typeface="Tomorrow Bold Italics"/>
                <a:ea typeface="Tomorrow Bold Italics"/>
                <a:cs typeface="Tomorrow Bold Italics"/>
                <a:sym typeface="Tomorrow Bold Italics"/>
              </a:rPr>
              <a:t>và</a:t>
            </a:r>
            <a:r>
              <a:rPr lang="en-US" b="true" sz="3021" i="true" strike="noStrike" u="none">
                <a:solidFill>
                  <a:srgbClr val="000000"/>
                </a:solidFill>
                <a:latin typeface="Tomorrow Bold Italics"/>
                <a:ea typeface="Tomorrow Bold Italics"/>
                <a:cs typeface="Tomorrow Bold Italics"/>
                <a:sym typeface="Tomorrow Bold Italics"/>
              </a:rPr>
              <a:t> </a:t>
            </a:r>
            <a:r>
              <a:rPr lang="en-US" b="true" sz="3021" i="true" strike="noStrike" u="none">
                <a:solidFill>
                  <a:srgbClr val="000000"/>
                </a:solidFill>
                <a:latin typeface="Tomorrow Bold Italics"/>
                <a:ea typeface="Tomorrow Bold Italics"/>
                <a:cs typeface="Tomorrow Bold Italics"/>
                <a:sym typeface="Tomorrow Bold Italics"/>
              </a:rPr>
              <a:t>dễ</a:t>
            </a:r>
            <a:r>
              <a:rPr lang="en-US" b="true" sz="3021" i="true" strike="noStrike" u="none">
                <a:solidFill>
                  <a:srgbClr val="000000"/>
                </a:solidFill>
                <a:latin typeface="Tomorrow Bold Italics"/>
                <a:ea typeface="Tomorrow Bold Italics"/>
                <a:cs typeface="Tomorrow Bold Italics"/>
                <a:sym typeface="Tomorrow Bold Italics"/>
              </a:rPr>
              <a:t> d</a:t>
            </a:r>
            <a:r>
              <a:rPr lang="en-US" b="true" sz="3021" i="true" strike="noStrike" u="none">
                <a:solidFill>
                  <a:srgbClr val="000000"/>
                </a:solidFill>
                <a:latin typeface="Tomorrow Bold Italics"/>
                <a:ea typeface="Tomorrow Bold Italics"/>
                <a:cs typeface="Tomorrow Bold Italics"/>
                <a:sym typeface="Tomorrow Bold Italics"/>
              </a:rPr>
              <a:t>àng</a:t>
            </a:r>
            <a:r>
              <a:rPr lang="en-US" b="true" sz="3021" i="true" strike="noStrike" u="none">
                <a:solidFill>
                  <a:srgbClr val="000000"/>
                </a:solidFill>
                <a:latin typeface="Tomorrow Bold Italics"/>
                <a:ea typeface="Tomorrow Bold Italics"/>
                <a:cs typeface="Tomorrow Bold Italics"/>
                <a:sym typeface="Tomorrow Bold Italics"/>
              </a:rPr>
              <a:t> </a:t>
            </a:r>
            <a:r>
              <a:rPr lang="en-US" b="true" sz="3021" i="true" strike="noStrike" u="none">
                <a:solidFill>
                  <a:srgbClr val="000000"/>
                </a:solidFill>
                <a:latin typeface="Tomorrow Bold Italics"/>
                <a:ea typeface="Tomorrow Bold Italics"/>
                <a:cs typeface="Tomorrow Bold Italics"/>
                <a:sym typeface="Tomorrow Bold Italics"/>
              </a:rPr>
              <a:t>k</a:t>
            </a:r>
            <a:r>
              <a:rPr lang="en-US" b="true" sz="3021" i="true" strike="noStrike" u="none">
                <a:solidFill>
                  <a:srgbClr val="000000"/>
                </a:solidFill>
                <a:latin typeface="Tomorrow Bold Italics"/>
                <a:ea typeface="Tomorrow Bold Italics"/>
                <a:cs typeface="Tomorrow Bold Italics"/>
                <a:sym typeface="Tomorrow Bold Italics"/>
              </a:rPr>
              <a:t>i</a:t>
            </a:r>
            <a:r>
              <a:rPr lang="en-US" b="true" sz="3021" i="true" strike="noStrike" u="none">
                <a:solidFill>
                  <a:srgbClr val="000000"/>
                </a:solidFill>
                <a:latin typeface="Tomorrow Bold Italics"/>
                <a:ea typeface="Tomorrow Bold Italics"/>
                <a:cs typeface="Tomorrow Bold Italics"/>
                <a:sym typeface="Tomorrow Bold Italics"/>
              </a:rPr>
              <a:t>ểm</a:t>
            </a:r>
            <a:r>
              <a:rPr lang="en-US" b="true" sz="3021" i="true" strike="noStrike" u="none">
                <a:solidFill>
                  <a:srgbClr val="000000"/>
                </a:solidFill>
                <a:latin typeface="Tomorrow Bold Italics"/>
                <a:ea typeface="Tomorrow Bold Italics"/>
                <a:cs typeface="Tomorrow Bold Italics"/>
                <a:sym typeface="Tomorrow Bold Italics"/>
              </a:rPr>
              <a:t> </a:t>
            </a:r>
            <a:r>
              <a:rPr lang="en-US" b="true" sz="3021" i="true" strike="noStrike" u="none">
                <a:solidFill>
                  <a:srgbClr val="000000"/>
                </a:solidFill>
                <a:latin typeface="Tomorrow Bold Italics"/>
                <a:ea typeface="Tomorrow Bold Italics"/>
                <a:cs typeface="Tomorrow Bold Italics"/>
                <a:sym typeface="Tomorrow Bold Italics"/>
              </a:rPr>
              <a:t>soá</a:t>
            </a:r>
            <a:r>
              <a:rPr lang="en-US" b="true" sz="3021" i="true" strike="noStrike" u="none">
                <a:solidFill>
                  <a:srgbClr val="000000"/>
                </a:solidFill>
                <a:latin typeface="Tomorrow Bold Italics"/>
                <a:ea typeface="Tomorrow Bold Italics"/>
                <a:cs typeface="Tomorrow Bold Italics"/>
                <a:sym typeface="Tomorrow Bold Italics"/>
              </a:rPr>
              <a:t>t </a:t>
            </a:r>
            <a:r>
              <a:rPr lang="en-US" b="true" sz="3021" i="true" strike="noStrike" u="none">
                <a:solidFill>
                  <a:srgbClr val="000000"/>
                </a:solidFill>
                <a:latin typeface="Tomorrow Bold Italics"/>
                <a:ea typeface="Tomorrow Bold Italics"/>
                <a:cs typeface="Tomorrow Bold Italics"/>
                <a:sym typeface="Tomorrow Bold Italics"/>
              </a:rPr>
              <a:t>q</a:t>
            </a:r>
            <a:r>
              <a:rPr lang="en-US" b="true" sz="3021" i="true" strike="noStrike" u="none">
                <a:solidFill>
                  <a:srgbClr val="000000"/>
                </a:solidFill>
                <a:latin typeface="Tomorrow Bold Italics"/>
                <a:ea typeface="Tomorrow Bold Italics"/>
                <a:cs typeface="Tomorrow Bold Italics"/>
                <a:sym typeface="Tomorrow Bold Italics"/>
              </a:rPr>
              <a:t>u</a:t>
            </a:r>
            <a:r>
              <a:rPr lang="en-US" b="true" sz="3021" i="true" strike="noStrike" u="none">
                <a:solidFill>
                  <a:srgbClr val="000000"/>
                </a:solidFill>
                <a:latin typeface="Tomorrow Bold Italics"/>
                <a:ea typeface="Tomorrow Bold Italics"/>
                <a:cs typeface="Tomorrow Bold Italics"/>
                <a:sym typeface="Tomorrow Bold Italics"/>
              </a:rPr>
              <a:t>á</a:t>
            </a:r>
            <a:r>
              <a:rPr lang="en-US" b="true" sz="3021" i="true" strike="noStrike" u="none">
                <a:solidFill>
                  <a:srgbClr val="000000"/>
                </a:solidFill>
                <a:latin typeface="Tomorrow Bold Italics"/>
                <a:ea typeface="Tomorrow Bold Italics"/>
                <a:cs typeface="Tomorrow Bold Italics"/>
                <a:sym typeface="Tomorrow Bold Italics"/>
              </a:rPr>
              <a:t> t</a:t>
            </a:r>
            <a:r>
              <a:rPr lang="en-US" b="true" sz="3021" i="true" strike="noStrike" u="none">
                <a:solidFill>
                  <a:srgbClr val="000000"/>
                </a:solidFill>
                <a:latin typeface="Tomorrow Bold Italics"/>
                <a:ea typeface="Tomorrow Bold Italics"/>
                <a:cs typeface="Tomorrow Bold Italics"/>
                <a:sym typeface="Tomorrow Bold Italics"/>
              </a:rPr>
              <a:t>rì</a:t>
            </a:r>
            <a:r>
              <a:rPr lang="en-US" b="true" sz="3021" i="true" strike="noStrike" u="none">
                <a:solidFill>
                  <a:srgbClr val="000000"/>
                </a:solidFill>
                <a:latin typeface="Tomorrow Bold Italics"/>
                <a:ea typeface="Tomorrow Bold Italics"/>
                <a:cs typeface="Tomorrow Bold Italics"/>
                <a:sym typeface="Tomorrow Bold Italics"/>
              </a:rPr>
              <a:t>nh </a:t>
            </a:r>
            <a:r>
              <a:rPr lang="en-US" b="true" sz="3021" i="true" strike="noStrike" u="none">
                <a:solidFill>
                  <a:srgbClr val="000000"/>
                </a:solidFill>
                <a:latin typeface="Tomorrow Bold Italics"/>
                <a:ea typeface="Tomorrow Bold Italics"/>
                <a:cs typeface="Tomorrow Bold Italics"/>
                <a:sym typeface="Tomorrow Bold Italics"/>
              </a:rPr>
              <a:t>phân </a:t>
            </a:r>
            <a:r>
              <a:rPr lang="en-US" b="true" sz="3021" i="true" strike="noStrike" u="none">
                <a:solidFill>
                  <a:srgbClr val="000000"/>
                </a:solidFill>
                <a:latin typeface="Tomorrow Bold Italics"/>
                <a:ea typeface="Tomorrow Bold Italics"/>
                <a:cs typeface="Tomorrow Bold Italics"/>
                <a:sym typeface="Tomorrow Bold Italics"/>
              </a:rPr>
              <a:t>t</a:t>
            </a:r>
            <a:r>
              <a:rPr lang="en-US" b="true" sz="3021" i="true" strike="noStrike" u="none">
                <a:solidFill>
                  <a:srgbClr val="000000"/>
                </a:solidFill>
                <a:latin typeface="Tomorrow Bold Italics"/>
                <a:ea typeface="Tomorrow Bold Italics"/>
                <a:cs typeface="Tomorrow Bold Italics"/>
                <a:sym typeface="Tomorrow Bold Italics"/>
              </a:rPr>
              <a:t>ích</a:t>
            </a:r>
            <a:r>
              <a:rPr lang="en-US" b="true" sz="3021" i="true" strike="noStrike" u="none">
                <a:solidFill>
                  <a:srgbClr val="000000"/>
                </a:solidFill>
                <a:latin typeface="Tomorrow Bold Italics"/>
                <a:ea typeface="Tomorrow Bold Italics"/>
                <a:cs typeface="Tomorrow Bold Italics"/>
                <a:sym typeface="Tomorrow Bold Italics"/>
              </a:rPr>
              <a:t>.</a:t>
            </a:r>
          </a:p>
          <a:p>
            <a:pPr algn="l">
              <a:lnSpc>
                <a:spcPts val="423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8276" y="2396499"/>
            <a:ext cx="16991448" cy="2407190"/>
            <a:chOff x="0" y="0"/>
            <a:chExt cx="22655264" cy="3209586"/>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7.5. Prompt Engineering cho code</a:t>
              </a:r>
            </a:p>
            <a:p>
              <a:pPr algn="ctr">
                <a:lnSpc>
                  <a:spcPts val="9756"/>
                </a:lnSpc>
              </a:pPr>
            </a:p>
          </p:txBody>
        </p:sp>
      </p:grpSp>
      <p:sp>
        <p:nvSpPr>
          <p:cNvPr name="TextBox 7" id="7"/>
          <p:cNvSpPr txBox="true"/>
          <p:nvPr/>
        </p:nvSpPr>
        <p:spPr>
          <a:xfrm rot="0">
            <a:off x="841390" y="3998594"/>
            <a:ext cx="17259300" cy="3128525"/>
          </a:xfrm>
          <a:prstGeom prst="rect">
            <a:avLst/>
          </a:prstGeom>
        </p:spPr>
        <p:txBody>
          <a:bodyPr anchor="t" rtlCol="false" tIns="0" lIns="0" bIns="0" rIns="0">
            <a:spAutoFit/>
          </a:bodyPr>
          <a:lstStyle/>
          <a:p>
            <a:pPr algn="l">
              <a:lnSpc>
                <a:spcPts val="5004"/>
              </a:lnSpc>
            </a:pPr>
            <a:r>
              <a:rPr lang="en-US" sz="3574" strike="noStrike" u="none">
                <a:solidFill>
                  <a:srgbClr val="000000"/>
                </a:solidFill>
                <a:latin typeface="Rokkitt"/>
                <a:ea typeface="Rokkitt"/>
                <a:cs typeface="Rokkitt"/>
                <a:sym typeface="Rokkitt"/>
              </a:rPr>
              <a:t>Việc thiết kế prompt đóng </a:t>
            </a:r>
            <a:r>
              <a:rPr lang="en-US" b="true" sz="3574" strike="noStrike" u="sng">
                <a:solidFill>
                  <a:srgbClr val="000000"/>
                </a:solidFill>
                <a:latin typeface="Rokkitt Bold"/>
                <a:ea typeface="Rokkitt Bold"/>
                <a:cs typeface="Rokkitt Bold"/>
                <a:sym typeface="Rokkitt Bold"/>
              </a:rPr>
              <a:t>vai trò quan trọng</a:t>
            </a:r>
            <a:r>
              <a:rPr lang="en-US" sz="3574" strike="noStrike" u="none">
                <a:solidFill>
                  <a:srgbClr val="000000"/>
                </a:solidFill>
                <a:latin typeface="Rokkitt"/>
                <a:ea typeface="Rokkitt"/>
                <a:cs typeface="Rokkitt"/>
                <a:sym typeface="Rokkitt"/>
              </a:rPr>
              <a:t> trong việc sử dụng GenAI hiệu quả.</a:t>
            </a:r>
          </a:p>
          <a:p>
            <a:pPr algn="l">
              <a:lnSpc>
                <a:spcPts val="5004"/>
              </a:lnSpc>
            </a:pPr>
            <a:r>
              <a:rPr lang="en-US" sz="3574" strike="noStrike" u="none">
                <a:solidFill>
                  <a:srgbClr val="000000"/>
                </a:solidFill>
                <a:latin typeface="Rokkitt"/>
                <a:ea typeface="Rokkitt"/>
                <a:cs typeface="Rokkitt"/>
                <a:sym typeface="Rokkitt"/>
              </a:rPr>
              <a:t>Các nguyên tắc chính:</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Xác định rõ yêu cầu (giải thích, tóm tắt, debug).</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Cung cấp đầy đủ ngữ cảnh.</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Giới hạn phạm vi phân tích.</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8276" y="2728055"/>
            <a:ext cx="16991448" cy="2407190"/>
            <a:chOff x="0" y="0"/>
            <a:chExt cx="22655264" cy="3209586"/>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7.6. Phương pháp luận</a:t>
              </a:r>
            </a:p>
            <a:p>
              <a:pPr algn="ctr">
                <a:lnSpc>
                  <a:spcPts val="9756"/>
                </a:lnSpc>
              </a:pPr>
            </a:p>
          </p:txBody>
        </p:sp>
      </p:grpSp>
      <p:sp>
        <p:nvSpPr>
          <p:cNvPr name="TextBox 7" id="7"/>
          <p:cNvSpPr txBox="true"/>
          <p:nvPr/>
        </p:nvSpPr>
        <p:spPr>
          <a:xfrm rot="0">
            <a:off x="4755495" y="4126020"/>
            <a:ext cx="8777011" cy="813815"/>
          </a:xfrm>
          <a:prstGeom prst="rect">
            <a:avLst/>
          </a:prstGeom>
        </p:spPr>
        <p:txBody>
          <a:bodyPr anchor="t" rtlCol="false" tIns="0" lIns="0" bIns="0" rIns="0">
            <a:spAutoFit/>
          </a:bodyPr>
          <a:lstStyle/>
          <a:p>
            <a:pPr algn="l">
              <a:lnSpc>
                <a:spcPts val="6762"/>
              </a:lnSpc>
              <a:spcBef>
                <a:spcPct val="0"/>
              </a:spcBef>
            </a:pPr>
            <a:r>
              <a:rPr lang="en-US" sz="4600" i="true">
                <a:solidFill>
                  <a:srgbClr val="000000"/>
                </a:solidFill>
                <a:latin typeface="Tomorrow Italics"/>
                <a:ea typeface="Tomorrow Italics"/>
                <a:cs typeface="Tomorrow Italics"/>
                <a:sym typeface="Tomorrow Italics"/>
              </a:rPr>
              <a:t>1. </a:t>
            </a:r>
            <a:r>
              <a:rPr lang="en-US" sz="4600" i="true" strike="noStrike" u="none">
                <a:solidFill>
                  <a:srgbClr val="000000"/>
                </a:solidFill>
                <a:latin typeface="Tomorrow Italics"/>
                <a:ea typeface="Tomorrow Italics"/>
                <a:cs typeface="Tomorrow Italics"/>
                <a:sym typeface="Tomorrow Italics"/>
              </a:rPr>
              <a:t>Mức ý tưởng (Concept Level)</a:t>
            </a:r>
          </a:p>
        </p:txBody>
      </p:sp>
      <p:sp>
        <p:nvSpPr>
          <p:cNvPr name="TextBox 8" id="8"/>
          <p:cNvSpPr txBox="true"/>
          <p:nvPr/>
        </p:nvSpPr>
        <p:spPr>
          <a:xfrm rot="0">
            <a:off x="820578" y="5059045"/>
            <a:ext cx="17467422" cy="2499901"/>
          </a:xfrm>
          <a:prstGeom prst="rect">
            <a:avLst/>
          </a:prstGeom>
        </p:spPr>
        <p:txBody>
          <a:bodyPr anchor="t" rtlCol="false" tIns="0" lIns="0" bIns="0" rIns="0">
            <a:spAutoFit/>
          </a:bodyPr>
          <a:lstStyle/>
          <a:p>
            <a:pPr algn="l">
              <a:lnSpc>
                <a:spcPts val="5004"/>
              </a:lnSpc>
            </a:pPr>
            <a:r>
              <a:rPr lang="en-US" sz="3574">
                <a:solidFill>
                  <a:srgbClr val="000000"/>
                </a:solidFill>
                <a:latin typeface="Rokkitt"/>
                <a:ea typeface="Rokkitt"/>
                <a:cs typeface="Rokkitt"/>
                <a:sym typeface="Rokkitt"/>
              </a:rPr>
              <a:t>Generat</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ve AI như</a:t>
            </a:r>
            <a:r>
              <a:rPr lang="en-US" sz="3574" strike="noStrike" u="none">
                <a:solidFill>
                  <a:srgbClr val="000000"/>
                </a:solidFill>
                <a:latin typeface="Rokkitt"/>
                <a:ea typeface="Rokkitt"/>
                <a:cs typeface="Rokkitt"/>
                <a:sym typeface="Rokkitt"/>
              </a:rPr>
              <a:t> m</a:t>
            </a:r>
            <a:r>
              <a:rPr lang="en-US" sz="3574" strike="noStrike" u="none">
                <a:solidFill>
                  <a:srgbClr val="000000"/>
                </a:solidFill>
                <a:latin typeface="Rokkitt"/>
                <a:ea typeface="Rokkitt"/>
                <a:cs typeface="Rokkitt"/>
                <a:sym typeface="Rokkitt"/>
              </a:rPr>
              <a:t>ộ</a:t>
            </a:r>
            <a:r>
              <a:rPr lang="en-US" sz="3574" strike="noStrike" u="none">
                <a:solidFill>
                  <a:srgbClr val="000000"/>
                </a:solidFill>
                <a:latin typeface="Rokkitt"/>
                <a:ea typeface="Rokkitt"/>
                <a:cs typeface="Rokkitt"/>
                <a:sym typeface="Rokkitt"/>
              </a:rPr>
              <a:t>t </a:t>
            </a:r>
            <a:r>
              <a:rPr lang="en-US" sz="3574" strike="noStrike" u="none">
                <a:solidFill>
                  <a:srgbClr val="000000"/>
                </a:solidFill>
                <a:latin typeface="Rokkitt"/>
                <a:ea typeface="Rokkitt"/>
                <a:cs typeface="Rokkitt"/>
                <a:sym typeface="Rokkitt"/>
              </a:rPr>
              <a:t>cô</a:t>
            </a:r>
            <a:r>
              <a:rPr lang="en-US" sz="3574" strike="noStrike" u="none">
                <a:solidFill>
                  <a:srgbClr val="000000"/>
                </a:solidFill>
                <a:latin typeface="Rokkitt"/>
                <a:ea typeface="Rokkitt"/>
                <a:cs typeface="Rokkitt"/>
                <a:sym typeface="Rokkitt"/>
              </a:rPr>
              <a:t>ng </a:t>
            </a:r>
            <a:r>
              <a:rPr lang="en-US" sz="3574" strike="noStrike" u="none">
                <a:solidFill>
                  <a:srgbClr val="000000"/>
                </a:solidFill>
                <a:latin typeface="Rokkitt"/>
                <a:ea typeface="Rokkitt"/>
                <a:cs typeface="Rokkitt"/>
                <a:sym typeface="Rokkitt"/>
              </a:rPr>
              <a:t>cụ hỗ tr</a:t>
            </a:r>
            <a:r>
              <a:rPr lang="en-US" sz="3574" strike="noStrike">
                <a:solidFill>
                  <a:srgbClr val="000000"/>
                </a:solidFill>
                <a:latin typeface="Rokkitt"/>
                <a:ea typeface="Rokkitt"/>
                <a:cs typeface="Rokkitt"/>
                <a:sym typeface="Rokkitt"/>
              </a:rPr>
              <a:t>ợ</a:t>
            </a:r>
            <a:r>
              <a:rPr lang="en-US" sz="3574" strike="noStrike" u="none">
                <a:solidFill>
                  <a:srgbClr val="000000"/>
                </a:solidFill>
                <a:latin typeface="Rokkitt"/>
                <a:ea typeface="Rokkitt"/>
                <a:cs typeface="Rokkitt"/>
                <a:sym typeface="Rokkitt"/>
              </a:rPr>
              <a:t> </a:t>
            </a:r>
            <a:r>
              <a:rPr lang="en-US" sz="3574" strike="noStrike">
                <a:solidFill>
                  <a:srgbClr val="000000"/>
                </a:solidFill>
                <a:latin typeface="Rokkitt"/>
                <a:ea typeface="Rokkitt"/>
                <a:cs typeface="Rokkitt"/>
                <a:sym typeface="Rokkitt"/>
              </a:rPr>
              <a:t>phâ</a:t>
            </a:r>
            <a:r>
              <a:rPr lang="en-US" sz="3574" strike="noStrike" u="none">
                <a:solidFill>
                  <a:srgbClr val="000000"/>
                </a:solidFill>
                <a:latin typeface="Rokkitt"/>
                <a:ea typeface="Rokkitt"/>
                <a:cs typeface="Rokkitt"/>
                <a:sym typeface="Rokkitt"/>
              </a:rPr>
              <a:t>n t</a:t>
            </a:r>
            <a:r>
              <a:rPr lang="en-US" sz="3574" strike="noStrike">
                <a:solidFill>
                  <a:srgbClr val="000000"/>
                </a:solidFill>
                <a:latin typeface="Rokkitt"/>
                <a:ea typeface="Rokkitt"/>
                <a:cs typeface="Rokkitt"/>
                <a:sym typeface="Rokkitt"/>
              </a:rPr>
              <a:t>ích mã </a:t>
            </a:r>
            <a:r>
              <a:rPr lang="en-US" sz="3574" strike="noStrike" u="none">
                <a:solidFill>
                  <a:srgbClr val="000000"/>
                </a:solidFill>
                <a:latin typeface="Rokkitt"/>
                <a:ea typeface="Rokkitt"/>
                <a:cs typeface="Rokkitt"/>
                <a:sym typeface="Rokkitt"/>
              </a:rPr>
              <a:t>ng</a:t>
            </a:r>
            <a:r>
              <a:rPr lang="en-US" sz="3574" strike="noStrike">
                <a:solidFill>
                  <a:srgbClr val="000000"/>
                </a:solidFill>
                <a:latin typeface="Rokkitt"/>
                <a:ea typeface="Rokkitt"/>
                <a:cs typeface="Rokkitt"/>
                <a:sym typeface="Rokkitt"/>
              </a:rPr>
              <a:t>uồn</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bằ</a:t>
            </a:r>
            <a:r>
              <a:rPr lang="en-US" sz="3574" strike="noStrike" u="none">
                <a:solidFill>
                  <a:srgbClr val="000000"/>
                </a:solidFill>
                <a:latin typeface="Rokkitt"/>
                <a:ea typeface="Rokkitt"/>
                <a:cs typeface="Rokkitt"/>
                <a:sym typeface="Rokkitt"/>
              </a:rPr>
              <a:t>ng </a:t>
            </a:r>
            <a:r>
              <a:rPr lang="en-US" sz="3574" strike="noStrike" u="none">
                <a:solidFill>
                  <a:srgbClr val="000000"/>
                </a:solidFill>
                <a:latin typeface="Rokkitt"/>
                <a:ea typeface="Rokkitt"/>
                <a:cs typeface="Rokkitt"/>
                <a:sym typeface="Rokkitt"/>
              </a:rPr>
              <a:t>cá</a:t>
            </a:r>
            <a:r>
              <a:rPr lang="en-US" sz="3574" strike="noStrike" u="none">
                <a:solidFill>
                  <a:srgbClr val="000000"/>
                </a:solidFill>
                <a:latin typeface="Rokkitt"/>
                <a:ea typeface="Rokkitt"/>
                <a:cs typeface="Rokkitt"/>
                <a:sym typeface="Rokkitt"/>
              </a:rPr>
              <a:t>c</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chuyển đổi</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co</a:t>
            </a:r>
            <a:r>
              <a:rPr lang="en-US" sz="3574" strike="noStrike" u="none">
                <a:solidFill>
                  <a:srgbClr val="000000"/>
                </a:solidFill>
                <a:latin typeface="Rokkitt"/>
                <a:ea typeface="Rokkitt"/>
                <a:cs typeface="Rokkitt"/>
                <a:sym typeface="Rokkitt"/>
              </a:rPr>
              <a:t>d</a:t>
            </a:r>
            <a:r>
              <a:rPr lang="en-US" sz="3574" strike="noStrike" u="none">
                <a:solidFill>
                  <a:srgbClr val="000000"/>
                </a:solidFill>
                <a:latin typeface="Rokkitt"/>
                <a:ea typeface="Rokkitt"/>
                <a:cs typeface="Rokkitt"/>
                <a:sym typeface="Rokkitt"/>
              </a:rPr>
              <a:t>e</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thà</a:t>
            </a:r>
            <a:r>
              <a:rPr lang="en-US" sz="3574" strike="noStrike" u="none">
                <a:solidFill>
                  <a:srgbClr val="000000"/>
                </a:solidFill>
                <a:latin typeface="Rokkitt"/>
                <a:ea typeface="Rokkitt"/>
                <a:cs typeface="Rokkitt"/>
                <a:sym typeface="Rokkitt"/>
              </a:rPr>
              <a:t>nh </a:t>
            </a:r>
            <a:r>
              <a:rPr lang="en-US" sz="3574" strike="noStrike" u="none">
                <a:solidFill>
                  <a:srgbClr val="000000"/>
                </a:solidFill>
                <a:latin typeface="Rokkitt"/>
                <a:ea typeface="Rokkitt"/>
                <a:cs typeface="Rokkitt"/>
                <a:sym typeface="Rokkitt"/>
              </a:rPr>
              <a:t>mô t</a:t>
            </a:r>
            <a:r>
              <a:rPr lang="en-US" sz="3574" strike="noStrike" u="none">
                <a:solidFill>
                  <a:srgbClr val="000000"/>
                </a:solidFill>
                <a:latin typeface="Rokkitt"/>
                <a:ea typeface="Rokkitt"/>
                <a:cs typeface="Rokkitt"/>
                <a:sym typeface="Rokkitt"/>
              </a:rPr>
              <a:t>ả</a:t>
            </a:r>
            <a:r>
              <a:rPr lang="en-US" sz="3574" strike="noStrike" u="none">
                <a:solidFill>
                  <a:srgbClr val="000000"/>
                </a:solidFill>
                <a:latin typeface="Rokkitt"/>
                <a:ea typeface="Rokkitt"/>
                <a:cs typeface="Rokkitt"/>
                <a:sym typeface="Rokkitt"/>
              </a:rPr>
              <a:t> tự</a:t>
            </a:r>
            <a:r>
              <a:rPr lang="en-US" sz="3574" strike="noStrike" u="none">
                <a:solidFill>
                  <a:srgbClr val="000000"/>
                </a:solidFill>
                <a:latin typeface="Rokkitt"/>
                <a:ea typeface="Rokkitt"/>
                <a:cs typeface="Rokkitt"/>
                <a:sym typeface="Rokkitt"/>
              </a:rPr>
              <a:t> n</a:t>
            </a:r>
            <a:r>
              <a:rPr lang="en-US" sz="3574" strike="noStrike" u="none">
                <a:solidFill>
                  <a:srgbClr val="000000"/>
                </a:solidFill>
                <a:latin typeface="Rokkitt"/>
                <a:ea typeface="Rokkitt"/>
                <a:cs typeface="Rokkitt"/>
                <a:sym typeface="Rokkitt"/>
              </a:rPr>
              <a:t>hi</a:t>
            </a:r>
            <a:r>
              <a:rPr lang="en-US" sz="3574" strike="noStrike" u="none">
                <a:solidFill>
                  <a:srgbClr val="000000"/>
                </a:solidFill>
                <a:latin typeface="Rokkitt"/>
                <a:ea typeface="Rokkitt"/>
                <a:cs typeface="Rokkitt"/>
                <a:sym typeface="Rokkitt"/>
              </a:rPr>
              <a:t>ên</a:t>
            </a:r>
            <a:r>
              <a:rPr lang="en-US" sz="3574" strike="noStrike" u="none">
                <a:solidFill>
                  <a:srgbClr val="000000"/>
                </a:solidFill>
                <a:latin typeface="Rokkitt"/>
                <a:ea typeface="Rokkitt"/>
                <a:cs typeface="Rokkitt"/>
                <a:sym typeface="Rokkitt"/>
              </a:rPr>
              <a:t>.</a:t>
            </a:r>
          </a:p>
          <a:p>
            <a:pPr algn="l">
              <a:lnSpc>
                <a:spcPts val="5004"/>
              </a:lnSpc>
              <a:spcBef>
                <a:spcPct val="0"/>
              </a:spcBef>
            </a:pPr>
            <a:r>
              <a:rPr lang="en-US" sz="3574" strike="noStrike" u="none">
                <a:solidFill>
                  <a:srgbClr val="000000"/>
                </a:solidFill>
                <a:latin typeface="Rokkitt"/>
                <a:ea typeface="Rokkitt"/>
                <a:cs typeface="Rokkitt"/>
                <a:sym typeface="Rokkitt"/>
              </a:rPr>
              <a:t>Mô</a:t>
            </a:r>
            <a:r>
              <a:rPr lang="en-US" sz="3574" strike="noStrike" u="none">
                <a:solidFill>
                  <a:srgbClr val="000000"/>
                </a:solidFill>
                <a:latin typeface="Rokkitt"/>
                <a:ea typeface="Rokkitt"/>
                <a:cs typeface="Rokkitt"/>
                <a:sym typeface="Rokkitt"/>
              </a:rPr>
              <a:t> h</a:t>
            </a:r>
            <a:r>
              <a:rPr lang="en-US" sz="3574" strike="noStrike" u="none">
                <a:solidFill>
                  <a:srgbClr val="000000"/>
                </a:solidFill>
                <a:latin typeface="Rokkitt"/>
                <a:ea typeface="Rokkitt"/>
                <a:cs typeface="Rokkitt"/>
                <a:sym typeface="Rokkitt"/>
              </a:rPr>
              <a:t>ì</a:t>
            </a:r>
            <a:r>
              <a:rPr lang="en-US" sz="3574" strike="noStrike" u="none">
                <a:solidFill>
                  <a:srgbClr val="000000"/>
                </a:solidFill>
                <a:latin typeface="Rokkitt"/>
                <a:ea typeface="Rokkitt"/>
                <a:cs typeface="Rokkitt"/>
                <a:sym typeface="Rokkitt"/>
              </a:rPr>
              <a:t>nh</a:t>
            </a:r>
            <a:r>
              <a:rPr lang="en-US" sz="3574" strike="noStrike" u="none">
                <a:solidFill>
                  <a:srgbClr val="000000"/>
                </a:solidFill>
                <a:latin typeface="Rokkitt"/>
                <a:ea typeface="Rokkitt"/>
                <a:cs typeface="Rokkitt"/>
                <a:sym typeface="Rokkitt"/>
              </a:rPr>
              <a:t> giúp</a:t>
            </a:r>
            <a:r>
              <a:rPr lang="en-US" sz="3574" strike="noStrike" u="none">
                <a:solidFill>
                  <a:srgbClr val="000000"/>
                </a:solidFill>
                <a:latin typeface="Rokkitt"/>
                <a:ea typeface="Rokkitt"/>
                <a:cs typeface="Rokkitt"/>
                <a:sym typeface="Rokkitt"/>
              </a:rPr>
              <a:t> đ</a:t>
            </a:r>
            <a:r>
              <a:rPr lang="en-US" sz="3574" strike="noStrike" u="none">
                <a:solidFill>
                  <a:srgbClr val="000000"/>
                </a:solidFill>
                <a:latin typeface="Rokkitt"/>
                <a:ea typeface="Rokkitt"/>
                <a:cs typeface="Rokkitt"/>
                <a:sym typeface="Rokkitt"/>
              </a:rPr>
              <a:t>ơ</a:t>
            </a:r>
            <a:r>
              <a:rPr lang="en-US" sz="3574" strike="noStrike" u="none">
                <a:solidFill>
                  <a:srgbClr val="000000"/>
                </a:solidFill>
                <a:latin typeface="Rokkitt"/>
                <a:ea typeface="Rokkitt"/>
                <a:cs typeface="Rokkitt"/>
                <a:sym typeface="Rokkitt"/>
              </a:rPr>
              <a:t>n giả</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 h</a:t>
            </a:r>
            <a:r>
              <a:rPr lang="en-US" sz="3574" strike="noStrike" u="none">
                <a:solidFill>
                  <a:srgbClr val="000000"/>
                </a:solidFill>
                <a:latin typeface="Rokkitt"/>
                <a:ea typeface="Rokkitt"/>
                <a:cs typeface="Rokkitt"/>
                <a:sym typeface="Rokkitt"/>
              </a:rPr>
              <a:t>óa việ</a:t>
            </a:r>
            <a:r>
              <a:rPr lang="en-US" sz="3574" strike="noStrike" u="none">
                <a:solidFill>
                  <a:srgbClr val="000000"/>
                </a:solidFill>
                <a:latin typeface="Rokkitt"/>
                <a:ea typeface="Rokkitt"/>
                <a:cs typeface="Rokkitt"/>
                <a:sym typeface="Rokkitt"/>
              </a:rPr>
              <a:t>c</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iểu</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co</a:t>
            </a:r>
            <a:r>
              <a:rPr lang="en-US" sz="3574" strike="noStrike" u="none">
                <a:solidFill>
                  <a:srgbClr val="000000"/>
                </a:solidFill>
                <a:latin typeface="Rokkitt"/>
                <a:ea typeface="Rokkitt"/>
                <a:cs typeface="Rokkitt"/>
                <a:sym typeface="Rokkitt"/>
              </a:rPr>
              <a:t>de</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b</a:t>
            </a:r>
            <a:r>
              <a:rPr lang="en-US" sz="3574" strike="noStrike" u="none">
                <a:solidFill>
                  <a:srgbClr val="000000"/>
                </a:solidFill>
                <a:latin typeface="Rokkitt"/>
                <a:ea typeface="Rokkitt"/>
                <a:cs typeface="Rokkitt"/>
                <a:sym typeface="Rokkitt"/>
              </a:rPr>
              <a:t>ằ</a:t>
            </a:r>
            <a:r>
              <a:rPr lang="en-US" sz="3574" strike="noStrike" u="none">
                <a:solidFill>
                  <a:srgbClr val="000000"/>
                </a:solidFill>
                <a:latin typeface="Rokkitt"/>
                <a:ea typeface="Rokkitt"/>
                <a:cs typeface="Rokkitt"/>
                <a:sym typeface="Rokkitt"/>
              </a:rPr>
              <a:t>ng c</a:t>
            </a:r>
            <a:r>
              <a:rPr lang="en-US" sz="3574" strike="noStrike" u="none">
                <a:solidFill>
                  <a:srgbClr val="000000"/>
                </a:solidFill>
                <a:latin typeface="Rokkitt"/>
                <a:ea typeface="Rokkitt"/>
                <a:cs typeface="Rokkitt"/>
                <a:sym typeface="Rokkitt"/>
              </a:rPr>
              <a:t>ách</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diễn</a:t>
            </a:r>
            <a:r>
              <a:rPr lang="en-US" sz="3574" strike="noStrike" u="none">
                <a:solidFill>
                  <a:srgbClr val="000000"/>
                </a:solidFill>
                <a:latin typeface="Rokkitt"/>
                <a:ea typeface="Rokkitt"/>
                <a:cs typeface="Rokkitt"/>
                <a:sym typeface="Rokkitt"/>
              </a:rPr>
              <a:t> g</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ải</a:t>
            </a:r>
            <a:r>
              <a:rPr lang="en-US" sz="3574" strike="noStrike" u="none">
                <a:solidFill>
                  <a:srgbClr val="000000"/>
                </a:solidFill>
                <a:latin typeface="Rokkitt"/>
                <a:ea typeface="Rokkitt"/>
                <a:cs typeface="Rokkitt"/>
                <a:sym typeface="Rokkitt"/>
              </a:rPr>
              <a:t> log</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c</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p</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ức t</a:t>
            </a:r>
            <a:r>
              <a:rPr lang="en-US" sz="3574" strike="noStrike" u="none">
                <a:solidFill>
                  <a:srgbClr val="000000"/>
                </a:solidFill>
                <a:latin typeface="Rokkitt"/>
                <a:ea typeface="Rokkitt"/>
                <a:cs typeface="Rokkitt"/>
                <a:sym typeface="Rokkitt"/>
              </a:rPr>
              <a:t>ạ</a:t>
            </a:r>
            <a:r>
              <a:rPr lang="en-US" sz="3574" strike="noStrike" u="none">
                <a:solidFill>
                  <a:srgbClr val="000000"/>
                </a:solidFill>
                <a:latin typeface="Rokkitt"/>
                <a:ea typeface="Rokkitt"/>
                <a:cs typeface="Rokkitt"/>
                <a:sym typeface="Rokkitt"/>
              </a:rPr>
              <a:t>p thà</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t</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ông</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t</a:t>
            </a:r>
            <a:r>
              <a:rPr lang="en-US" sz="3574" strike="noStrike" u="none">
                <a:solidFill>
                  <a:srgbClr val="000000"/>
                </a:solidFill>
                <a:latin typeface="Rokkitt"/>
                <a:ea typeface="Rokkitt"/>
                <a:cs typeface="Rokkitt"/>
                <a:sym typeface="Rokkitt"/>
              </a:rPr>
              <a:t>in</a:t>
            </a:r>
            <a:r>
              <a:rPr lang="en-US" sz="3574" strike="noStrike" u="none">
                <a:solidFill>
                  <a:srgbClr val="000000"/>
                </a:solidFill>
                <a:latin typeface="Rokkitt"/>
                <a:ea typeface="Rokkitt"/>
                <a:cs typeface="Rokkitt"/>
                <a:sym typeface="Rokkitt"/>
              </a:rPr>
              <a:t> dễ</a:t>
            </a:r>
            <a:r>
              <a:rPr lang="en-US" sz="3574" strike="noStrike" u="none">
                <a:solidFill>
                  <a:srgbClr val="000000"/>
                </a:solidFill>
                <a:latin typeface="Rokkitt"/>
                <a:ea typeface="Rokkitt"/>
                <a:cs typeface="Rokkitt"/>
                <a:sym typeface="Rokkitt"/>
              </a:rPr>
              <a:t> t</a:t>
            </a:r>
            <a:r>
              <a:rPr lang="en-US" sz="3574" strike="noStrike" u="none">
                <a:solidFill>
                  <a:srgbClr val="000000"/>
                </a:solidFill>
                <a:latin typeface="Rokkitt"/>
                <a:ea typeface="Rokkitt"/>
                <a:cs typeface="Rokkitt"/>
                <a:sym typeface="Rokkitt"/>
              </a:rPr>
              <a:t>iếp </a:t>
            </a:r>
            <a:r>
              <a:rPr lang="en-US" sz="3574" strike="noStrike" u="none">
                <a:solidFill>
                  <a:srgbClr val="000000"/>
                </a:solidFill>
                <a:latin typeface="Rokkitt"/>
                <a:ea typeface="Rokkitt"/>
                <a:cs typeface="Rokkitt"/>
                <a:sym typeface="Rokkitt"/>
              </a:rPr>
              <a:t>c</a:t>
            </a:r>
            <a:r>
              <a:rPr lang="en-US" sz="3574" strike="noStrike" u="none">
                <a:solidFill>
                  <a:srgbClr val="000000"/>
                </a:solidFill>
                <a:latin typeface="Rokkitt"/>
                <a:ea typeface="Rokkitt"/>
                <a:cs typeface="Rokkitt"/>
                <a:sym typeface="Rokkitt"/>
              </a:rPr>
              <a:t>ận</a:t>
            </a:r>
            <a:r>
              <a:rPr lang="en-US" sz="3574" strike="noStrike" u="none">
                <a:solidFill>
                  <a:srgbClr val="000000"/>
                </a:solidFill>
                <a:latin typeface="Rokkitt"/>
                <a:ea typeface="Rokkitt"/>
                <a:cs typeface="Rokkitt"/>
                <a:sym typeface="Rokkitt"/>
              </a:rPr>
              <a: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8276" y="148783"/>
            <a:ext cx="16991448" cy="2407190"/>
            <a:chOff x="0" y="0"/>
            <a:chExt cx="22655264" cy="3209586"/>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7.6. Phương pháp luận</a:t>
              </a:r>
            </a:p>
            <a:p>
              <a:pPr algn="ctr">
                <a:lnSpc>
                  <a:spcPts val="9756"/>
                </a:lnSpc>
              </a:pPr>
            </a:p>
          </p:txBody>
        </p:sp>
      </p:grpSp>
      <p:sp>
        <p:nvSpPr>
          <p:cNvPr name="Freeform 7" id="7"/>
          <p:cNvSpPr/>
          <p:nvPr/>
        </p:nvSpPr>
        <p:spPr>
          <a:xfrm flipH="false" flipV="false" rot="0">
            <a:off x="1910287" y="2328099"/>
            <a:ext cx="4688472" cy="7380562"/>
          </a:xfrm>
          <a:custGeom>
            <a:avLst/>
            <a:gdLst/>
            <a:ahLst/>
            <a:cxnLst/>
            <a:rect r="r" b="b" t="t" l="l"/>
            <a:pathLst>
              <a:path h="7380562" w="4688472">
                <a:moveTo>
                  <a:pt x="0" y="0"/>
                </a:moveTo>
                <a:lnTo>
                  <a:pt x="4688471" y="0"/>
                </a:lnTo>
                <a:lnTo>
                  <a:pt x="4688471" y="7380562"/>
                </a:lnTo>
                <a:lnTo>
                  <a:pt x="0" y="7380562"/>
                </a:lnTo>
                <a:lnTo>
                  <a:pt x="0" y="0"/>
                </a:lnTo>
                <a:close/>
              </a:path>
            </a:pathLst>
          </a:custGeom>
          <a:blipFill>
            <a:blip r:embed="rId2"/>
            <a:stretch>
              <a:fillRect l="0" t="0" r="0" b="0"/>
            </a:stretch>
          </a:blipFill>
        </p:spPr>
      </p:sp>
      <p:sp>
        <p:nvSpPr>
          <p:cNvPr name="TextBox 8" id="8"/>
          <p:cNvSpPr txBox="true"/>
          <p:nvPr/>
        </p:nvSpPr>
        <p:spPr>
          <a:xfrm rot="0">
            <a:off x="4965353" y="1440529"/>
            <a:ext cx="8777011" cy="776503"/>
          </a:xfrm>
          <a:prstGeom prst="rect">
            <a:avLst/>
          </a:prstGeom>
        </p:spPr>
        <p:txBody>
          <a:bodyPr anchor="t" rtlCol="false" tIns="0" lIns="0" bIns="0" rIns="0">
            <a:spAutoFit/>
          </a:bodyPr>
          <a:lstStyle/>
          <a:p>
            <a:pPr algn="l">
              <a:lnSpc>
                <a:spcPts val="6321"/>
              </a:lnSpc>
              <a:spcBef>
                <a:spcPct val="0"/>
              </a:spcBef>
            </a:pPr>
            <a:r>
              <a:rPr lang="en-US" sz="4300" i="true">
                <a:solidFill>
                  <a:srgbClr val="000000"/>
                </a:solidFill>
                <a:latin typeface="Tomorrow Italics"/>
                <a:ea typeface="Tomorrow Italics"/>
                <a:cs typeface="Tomorrow Italics"/>
                <a:sym typeface="Tomorrow Italics"/>
              </a:rPr>
              <a:t>2. </a:t>
            </a:r>
            <a:r>
              <a:rPr lang="en-US" sz="4300" i="true" strike="noStrike" u="none">
                <a:solidFill>
                  <a:srgbClr val="000000"/>
                </a:solidFill>
                <a:latin typeface="Tomorrow Italics"/>
                <a:ea typeface="Tomorrow Italics"/>
                <a:cs typeface="Tomorrow Italics"/>
                <a:sym typeface="Tomorrow Italics"/>
              </a:rPr>
              <a:t>Mức luận lý (Logical Level)</a:t>
            </a:r>
          </a:p>
        </p:txBody>
      </p:sp>
      <p:sp>
        <p:nvSpPr>
          <p:cNvPr name="TextBox 9" id="9"/>
          <p:cNvSpPr txBox="true"/>
          <p:nvPr/>
        </p:nvSpPr>
        <p:spPr>
          <a:xfrm rot="0">
            <a:off x="1028700" y="9651511"/>
            <a:ext cx="7684410" cy="464249"/>
          </a:xfrm>
          <a:prstGeom prst="rect">
            <a:avLst/>
          </a:prstGeom>
        </p:spPr>
        <p:txBody>
          <a:bodyPr anchor="t" rtlCol="false" tIns="0" lIns="0" bIns="0" rIns="0">
            <a:spAutoFit/>
          </a:bodyPr>
          <a:lstStyle/>
          <a:p>
            <a:pPr algn="ctr">
              <a:lnSpc>
                <a:spcPts val="3811"/>
              </a:lnSpc>
              <a:spcBef>
                <a:spcPct val="0"/>
              </a:spcBef>
            </a:pPr>
            <a:r>
              <a:rPr lang="en-US" sz="2722" i="true">
                <a:solidFill>
                  <a:srgbClr val="000000"/>
                </a:solidFill>
                <a:latin typeface="Tomorrow Italics"/>
                <a:ea typeface="Tomorrow Italics"/>
                <a:cs typeface="Tomorrow Italics"/>
                <a:sym typeface="Tomorrow Italics"/>
              </a:rPr>
              <a:t>Quy trình xử lý khi sử dụng GenAI để hiểu code</a:t>
            </a:r>
          </a:p>
        </p:txBody>
      </p:sp>
      <p:sp>
        <p:nvSpPr>
          <p:cNvPr name="TextBox 10" id="10"/>
          <p:cNvSpPr txBox="true"/>
          <p:nvPr/>
        </p:nvSpPr>
        <p:spPr>
          <a:xfrm rot="0">
            <a:off x="6388048" y="3763281"/>
            <a:ext cx="10871252" cy="3757149"/>
          </a:xfrm>
          <a:prstGeom prst="rect">
            <a:avLst/>
          </a:prstGeom>
        </p:spPr>
        <p:txBody>
          <a:bodyPr anchor="t" rtlCol="false" tIns="0" lIns="0" bIns="0" rIns="0">
            <a:spAutoFit/>
          </a:bodyPr>
          <a:lstStyle/>
          <a:p>
            <a:pPr algn="l" marL="0" indent="0" lvl="0">
              <a:lnSpc>
                <a:spcPts val="5004"/>
              </a:lnSpc>
              <a:spcBef>
                <a:spcPct val="0"/>
              </a:spcBef>
            </a:pPr>
            <a:r>
              <a:rPr lang="en-US" sz="3574" strike="noStrike" u="none">
                <a:solidFill>
                  <a:srgbClr val="000000"/>
                </a:solidFill>
                <a:latin typeface="Rokkitt"/>
                <a:ea typeface="Rokkitt"/>
                <a:cs typeface="Rokkitt"/>
                <a:sym typeface="Rokkitt"/>
              </a:rPr>
              <a:t>Giải thích:</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Code Input: mã nguồn đầu vào.</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Context Extraction: xác định phạm vi cần phân tích.</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Prompt Construction: xây dựng yêu cầu cho mô hình.</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LLM Processing: mô hình xử lý.</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Output: kết quả giải thích.</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8276" y="2413743"/>
            <a:ext cx="16991448" cy="2407190"/>
            <a:chOff x="0" y="0"/>
            <a:chExt cx="22655264" cy="3209586"/>
          </a:xfrm>
        </p:grpSpPr>
        <p:grpSp>
          <p:nvGrpSpPr>
            <p:cNvPr name="Group 3" id="3"/>
            <p:cNvGrpSpPr/>
            <p:nvPr/>
          </p:nvGrpSpPr>
          <p:grpSpPr>
            <a:xfrm rot="0">
              <a:off x="299286" y="0"/>
              <a:ext cx="22355978" cy="1791455"/>
              <a:chOff x="0" y="0"/>
              <a:chExt cx="1303935" cy="104488"/>
            </a:xfrm>
          </p:grpSpPr>
          <p:sp>
            <p:nvSpPr>
              <p:cNvPr name="Freeform 4" id="4"/>
              <p:cNvSpPr/>
              <p:nvPr/>
            </p:nvSpPr>
            <p:spPr>
              <a:xfrm flipH="false" flipV="false" rot="0">
                <a:off x="0" y="0"/>
                <a:ext cx="1303935" cy="104488"/>
              </a:xfrm>
              <a:custGeom>
                <a:avLst/>
                <a:gdLst/>
                <a:ahLst/>
                <a:cxnLst/>
                <a:rect r="r" b="b" t="t" l="l"/>
                <a:pathLst>
                  <a:path h="104488" w="1303935">
                    <a:moveTo>
                      <a:pt x="0" y="0"/>
                    </a:moveTo>
                    <a:lnTo>
                      <a:pt x="1303935" y="0"/>
                    </a:lnTo>
                    <a:lnTo>
                      <a:pt x="1303935"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03935"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22655264" cy="3155450"/>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7.6. Phương pháp luận</a:t>
              </a:r>
            </a:p>
            <a:p>
              <a:pPr algn="ctr">
                <a:lnSpc>
                  <a:spcPts val="9756"/>
                </a:lnSpc>
              </a:pPr>
            </a:p>
          </p:txBody>
        </p:sp>
      </p:grpSp>
      <p:sp>
        <p:nvSpPr>
          <p:cNvPr name="TextBox 7" id="7"/>
          <p:cNvSpPr txBox="true"/>
          <p:nvPr/>
        </p:nvSpPr>
        <p:spPr>
          <a:xfrm rot="0">
            <a:off x="4092507" y="3815987"/>
            <a:ext cx="10102985" cy="776503"/>
          </a:xfrm>
          <a:prstGeom prst="rect">
            <a:avLst/>
          </a:prstGeom>
        </p:spPr>
        <p:txBody>
          <a:bodyPr anchor="t" rtlCol="false" tIns="0" lIns="0" bIns="0" rIns="0">
            <a:spAutoFit/>
          </a:bodyPr>
          <a:lstStyle/>
          <a:p>
            <a:pPr algn="l">
              <a:lnSpc>
                <a:spcPts val="6321"/>
              </a:lnSpc>
              <a:spcBef>
                <a:spcPct val="0"/>
              </a:spcBef>
            </a:pPr>
            <a:r>
              <a:rPr lang="en-US" sz="4300" i="true">
                <a:solidFill>
                  <a:srgbClr val="000000"/>
                </a:solidFill>
                <a:latin typeface="Tomorrow Italics"/>
                <a:ea typeface="Tomorrow Italics"/>
                <a:cs typeface="Tomorrow Italics"/>
                <a:sym typeface="Tomorrow Italics"/>
              </a:rPr>
              <a:t>3. </a:t>
            </a:r>
            <a:r>
              <a:rPr lang="en-US" sz="4300" i="true" strike="noStrike" u="none">
                <a:solidFill>
                  <a:srgbClr val="000000"/>
                </a:solidFill>
                <a:latin typeface="Tomorrow Italics"/>
                <a:ea typeface="Tomorrow Italics"/>
                <a:cs typeface="Tomorrow Italics"/>
                <a:sym typeface="Tomorrow Italics"/>
              </a:rPr>
              <a:t>Mức vật lý (Implementation Level)</a:t>
            </a:r>
          </a:p>
        </p:txBody>
      </p:sp>
      <p:sp>
        <p:nvSpPr>
          <p:cNvPr name="TextBox 8" id="8"/>
          <p:cNvSpPr txBox="true"/>
          <p:nvPr/>
        </p:nvSpPr>
        <p:spPr>
          <a:xfrm rot="0">
            <a:off x="2655943" y="4744733"/>
            <a:ext cx="12976113" cy="3128525"/>
          </a:xfrm>
          <a:prstGeom prst="rect">
            <a:avLst/>
          </a:prstGeom>
        </p:spPr>
        <p:txBody>
          <a:bodyPr anchor="t" rtlCol="false" tIns="0" lIns="0" bIns="0" rIns="0">
            <a:spAutoFit/>
          </a:bodyPr>
          <a:lstStyle/>
          <a:p>
            <a:pPr algn="l">
              <a:lnSpc>
                <a:spcPts val="5004"/>
              </a:lnSpc>
            </a:pPr>
            <a:r>
              <a:rPr lang="en-US" sz="3574" strike="noStrike" u="none">
                <a:solidFill>
                  <a:srgbClr val="000000"/>
                </a:solidFill>
                <a:latin typeface="Rokkitt"/>
                <a:ea typeface="Rokkitt"/>
                <a:cs typeface="Rokkitt"/>
                <a:sym typeface="Rokkitt"/>
              </a:rPr>
              <a:t>Ở mức triển khai, hệ thống bao gồm:</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Mô hình LLM xử lý ngôn ngữ và code.</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API kết nối giữa ứng dụng và mô hình.</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Môi trường phát triển (IDE) tích hợp công cụ AI</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Hệ thống quản lý mã nguồn.</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39985" y="3224791"/>
            <a:ext cx="16608030" cy="3916929"/>
            <a:chOff x="0" y="0"/>
            <a:chExt cx="2142977" cy="505412"/>
          </a:xfrm>
        </p:grpSpPr>
        <p:sp>
          <p:nvSpPr>
            <p:cNvPr name="Freeform 3" id="3"/>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4" id="4"/>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5" id="5"/>
          <p:cNvGrpSpPr/>
          <p:nvPr/>
        </p:nvGrpSpPr>
        <p:grpSpPr>
          <a:xfrm rot="0">
            <a:off x="839985" y="3224791"/>
            <a:ext cx="16608030" cy="1742925"/>
            <a:chOff x="0" y="0"/>
            <a:chExt cx="2142977" cy="224894"/>
          </a:xfrm>
        </p:grpSpPr>
        <p:sp>
          <p:nvSpPr>
            <p:cNvPr name="Freeform 6" id="6"/>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7" id="7"/>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8" id="8"/>
          <p:cNvSpPr txBox="true"/>
          <p:nvPr/>
        </p:nvSpPr>
        <p:spPr>
          <a:xfrm rot="0">
            <a:off x="1158183" y="5435812"/>
            <a:ext cx="16289832" cy="852323"/>
          </a:xfrm>
          <a:prstGeom prst="rect">
            <a:avLst/>
          </a:prstGeom>
        </p:spPr>
        <p:txBody>
          <a:bodyPr anchor="t" rtlCol="false" tIns="0" lIns="0" bIns="0" rIns="0">
            <a:spAutoFit/>
          </a:bodyPr>
          <a:lstStyle/>
          <a:p>
            <a:pPr algn="ctr">
              <a:lnSpc>
                <a:spcPts val="7088"/>
              </a:lnSpc>
            </a:pPr>
            <a:r>
              <a:rPr lang="en-US" b="true" sz="4694" spc="239">
                <a:solidFill>
                  <a:srgbClr val="000000"/>
                </a:solidFill>
                <a:latin typeface="Tomorrow Bold"/>
                <a:ea typeface="Tomorrow Bold"/>
                <a:cs typeface="Tomorrow Bold"/>
                <a:sym typeface="Tomorrow Bold"/>
              </a:rPr>
              <a:t>GIỚI THIỆU VỀ KỸ THUẬT GỢI Ý </a:t>
            </a:r>
          </a:p>
        </p:txBody>
      </p:sp>
      <p:sp>
        <p:nvSpPr>
          <p:cNvPr name="TextBox 9" id="9"/>
          <p:cNvSpPr txBox="true"/>
          <p:nvPr/>
        </p:nvSpPr>
        <p:spPr>
          <a:xfrm rot="0">
            <a:off x="7744542" y="2690307"/>
            <a:ext cx="2798915" cy="2283457"/>
          </a:xfrm>
          <a:prstGeom prst="rect">
            <a:avLst/>
          </a:prstGeom>
        </p:spPr>
        <p:txBody>
          <a:bodyPr anchor="t" rtlCol="false" tIns="0" lIns="0" bIns="0" rIns="0">
            <a:spAutoFit/>
          </a:bodyPr>
          <a:lstStyle/>
          <a:p>
            <a:pPr algn="ctr">
              <a:lnSpc>
                <a:spcPts val="18891"/>
              </a:lnSpc>
            </a:pPr>
            <a:r>
              <a:rPr lang="en-US" b="true" sz="12851">
                <a:solidFill>
                  <a:srgbClr val="000000"/>
                </a:solidFill>
                <a:latin typeface="Tomorrow Bold"/>
                <a:ea typeface="Tomorrow Bold"/>
                <a:cs typeface="Tomorrow Bold"/>
                <a:sym typeface="Tomorrow Bold"/>
              </a:rPr>
              <a:t>08</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53187" y="2725285"/>
            <a:ext cx="17508282" cy="1172277"/>
            <a:chOff x="0" y="0"/>
            <a:chExt cx="23344375" cy="1563036"/>
          </a:xfrm>
        </p:grpSpPr>
        <p:grpSp>
          <p:nvGrpSpPr>
            <p:cNvPr name="Group 3" id="3"/>
            <p:cNvGrpSpPr/>
            <p:nvPr/>
          </p:nvGrpSpPr>
          <p:grpSpPr>
            <a:xfrm rot="0">
              <a:off x="308389" y="0"/>
              <a:ext cx="23035986" cy="1563036"/>
              <a:chOff x="0" y="0"/>
              <a:chExt cx="1343597" cy="91166"/>
            </a:xfrm>
          </p:grpSpPr>
          <p:sp>
            <p:nvSpPr>
              <p:cNvPr name="Freeform 4" id="4"/>
              <p:cNvSpPr/>
              <p:nvPr/>
            </p:nvSpPr>
            <p:spPr>
              <a:xfrm flipH="false" flipV="false" rot="0">
                <a:off x="0" y="0"/>
                <a:ext cx="1343597" cy="91166"/>
              </a:xfrm>
              <a:custGeom>
                <a:avLst/>
                <a:gdLst/>
                <a:ahLst/>
                <a:cxnLst/>
                <a:rect r="r" b="b" t="t" l="l"/>
                <a:pathLst>
                  <a:path h="91166" w="1343597">
                    <a:moveTo>
                      <a:pt x="0" y="0"/>
                    </a:moveTo>
                    <a:lnTo>
                      <a:pt x="1343597" y="0"/>
                    </a:lnTo>
                    <a:lnTo>
                      <a:pt x="1343597" y="91166"/>
                    </a:lnTo>
                    <a:lnTo>
                      <a:pt x="0" y="91166"/>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43597" cy="148316"/>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63661"/>
              <a:ext cx="23344375" cy="1363659"/>
            </a:xfrm>
            <a:prstGeom prst="rect">
              <a:avLst/>
            </a:prstGeom>
          </p:spPr>
          <p:txBody>
            <a:bodyPr anchor="t" rtlCol="false" tIns="0" lIns="0" bIns="0" rIns="0">
              <a:spAutoFit/>
            </a:bodyPr>
            <a:lstStyle/>
            <a:p>
              <a:pPr algn="ctr">
                <a:lnSpc>
                  <a:spcPts val="8727"/>
                </a:lnSpc>
              </a:pPr>
              <a:r>
                <a:rPr lang="en-US" b="true" sz="5936">
                  <a:solidFill>
                    <a:srgbClr val="000000"/>
                  </a:solidFill>
                  <a:latin typeface="Tomorrow Bold"/>
                  <a:ea typeface="Tomorrow Bold"/>
                  <a:cs typeface="Tomorrow Bold"/>
                  <a:sym typeface="Tomorrow Bold"/>
                </a:rPr>
                <a:t>8.1. Đặt vấn đề và Tầm quan trọng</a:t>
              </a:r>
            </a:p>
          </p:txBody>
        </p:sp>
      </p:grpSp>
      <p:sp>
        <p:nvSpPr>
          <p:cNvPr name="TextBox 7" id="7"/>
          <p:cNvSpPr txBox="true"/>
          <p:nvPr/>
        </p:nvSpPr>
        <p:spPr>
          <a:xfrm rot="0">
            <a:off x="502168" y="4082089"/>
            <a:ext cx="17785832" cy="3757149"/>
          </a:xfrm>
          <a:prstGeom prst="rect">
            <a:avLst/>
          </a:prstGeom>
        </p:spPr>
        <p:txBody>
          <a:bodyPr anchor="t" rtlCol="false" tIns="0" lIns="0" bIns="0" rIns="0">
            <a:spAutoFit/>
          </a:bodyPr>
          <a:lstStyle/>
          <a:p>
            <a:pPr algn="l">
              <a:lnSpc>
                <a:spcPts val="5004"/>
              </a:lnSpc>
              <a:spcBef>
                <a:spcPct val="0"/>
              </a:spcBef>
            </a:pPr>
            <a:r>
              <a:rPr lang="en-US" sz="3574" strike="noStrike" u="none">
                <a:solidFill>
                  <a:srgbClr val="000000"/>
                </a:solidFill>
                <a:latin typeface="Rokkitt"/>
                <a:ea typeface="Rokkitt"/>
                <a:cs typeface="Rokkitt"/>
                <a:sym typeface="Rokkitt"/>
              </a:rPr>
              <a:t>Trong bối cảnh phát triển ứng dụng dựa trên </a:t>
            </a:r>
            <a:r>
              <a:rPr lang="en-US" b="true" sz="3574" strike="noStrike" u="none">
                <a:solidFill>
                  <a:srgbClr val="000000"/>
                </a:solidFill>
                <a:latin typeface="Rokkitt Bold"/>
                <a:ea typeface="Rokkitt Bold"/>
                <a:cs typeface="Rokkitt Bold"/>
                <a:sym typeface="Rokkitt Bold"/>
              </a:rPr>
              <a:t>Mô hình Ngôn ngữ Lớn (LLM)</a:t>
            </a:r>
            <a:r>
              <a:rPr lang="en-US" sz="3574" strike="noStrike" u="none">
                <a:solidFill>
                  <a:srgbClr val="000000"/>
                </a:solidFill>
                <a:latin typeface="Rokkitt"/>
                <a:ea typeface="Rokkitt"/>
                <a:cs typeface="Rokkitt"/>
                <a:sym typeface="Rokkitt"/>
              </a:rPr>
              <a:t>, </a:t>
            </a:r>
            <a:r>
              <a:rPr lang="en-US" b="true" sz="3574" strike="noStrike" u="none">
                <a:solidFill>
                  <a:srgbClr val="000000"/>
                </a:solidFill>
                <a:latin typeface="Rokkitt Bold"/>
                <a:ea typeface="Rokkitt Bold"/>
                <a:cs typeface="Rokkitt Bold"/>
                <a:sym typeface="Rokkitt Bold"/>
              </a:rPr>
              <a:t>kỹ thuật gợi ý (Prompt Engineering)</a:t>
            </a:r>
            <a:r>
              <a:rPr lang="en-US" sz="3574" strike="noStrike" u="none">
                <a:solidFill>
                  <a:srgbClr val="000000"/>
                </a:solidFill>
                <a:latin typeface="Rokkitt"/>
                <a:ea typeface="Rokkitt"/>
                <a:cs typeface="Rokkitt"/>
                <a:sym typeface="Rokkitt"/>
              </a:rPr>
              <a:t> trở thành lĩnh vực nghiên cứu thiết yếu từ năm 2020. </a:t>
            </a:r>
          </a:p>
          <a:p>
            <a:pPr algn="l">
              <a:lnSpc>
                <a:spcPts val="5004"/>
              </a:lnSpc>
              <a:spcBef>
                <a:spcPct val="0"/>
              </a:spcBef>
            </a:pPr>
            <a:r>
              <a:rPr lang="en-US" sz="3574" strike="noStrike" u="none">
                <a:solidFill>
                  <a:srgbClr val="000000"/>
                </a:solidFill>
                <a:latin typeface="Rokkitt"/>
                <a:ea typeface="Rokkitt"/>
                <a:cs typeface="Rokkitt"/>
                <a:sym typeface="Rokkitt"/>
              </a:rPr>
              <a:t>Kỹ thuật này cung cấp phương pháp tinh chỉnh câu lệnh để tạo ra kết quả đầu ra đáng tin cậy, dễ dự đoán và phù hợp với mục tiêu của nhà phát triển. </a:t>
            </a:r>
          </a:p>
          <a:p>
            <a:pPr algn="l" marL="0" indent="0" lvl="1">
              <a:lnSpc>
                <a:spcPts val="5004"/>
              </a:lnSpc>
              <a:spcBef>
                <a:spcPct val="0"/>
              </a:spcBef>
            </a:pPr>
            <a:r>
              <a:rPr lang="en-US" sz="3574" strike="noStrike" u="none">
                <a:solidFill>
                  <a:srgbClr val="000000"/>
                </a:solidFill>
                <a:latin typeface="Rokkitt"/>
                <a:ea typeface="Rokkitt"/>
                <a:cs typeface="Rokkitt"/>
                <a:sym typeface="Rokkitt"/>
              </a:rPr>
              <a:t>Trong lập trình, nó giúp tối ưu hóa việc tạo mã, duy trì phong cách lập trình đồng nhất và giảm thiểu thao tác tùy chỉnh thủ công.</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3899" y="1643433"/>
            <a:ext cx="17260201" cy="1172277"/>
            <a:chOff x="0" y="0"/>
            <a:chExt cx="23013602" cy="1563036"/>
          </a:xfrm>
        </p:grpSpPr>
        <p:grpSp>
          <p:nvGrpSpPr>
            <p:cNvPr name="Group 3" id="3"/>
            <p:cNvGrpSpPr/>
            <p:nvPr/>
          </p:nvGrpSpPr>
          <p:grpSpPr>
            <a:xfrm rot="0">
              <a:off x="152010" y="0"/>
              <a:ext cx="22709582" cy="1563036"/>
              <a:chOff x="0" y="0"/>
              <a:chExt cx="1324559" cy="91166"/>
            </a:xfrm>
          </p:grpSpPr>
          <p:sp>
            <p:nvSpPr>
              <p:cNvPr name="Freeform 4" id="4"/>
              <p:cNvSpPr/>
              <p:nvPr/>
            </p:nvSpPr>
            <p:spPr>
              <a:xfrm flipH="false" flipV="false" rot="0">
                <a:off x="0" y="0"/>
                <a:ext cx="1324559" cy="91166"/>
              </a:xfrm>
              <a:custGeom>
                <a:avLst/>
                <a:gdLst/>
                <a:ahLst/>
                <a:cxnLst/>
                <a:rect r="r" b="b" t="t" l="l"/>
                <a:pathLst>
                  <a:path h="91166" w="1324559">
                    <a:moveTo>
                      <a:pt x="0" y="0"/>
                    </a:moveTo>
                    <a:lnTo>
                      <a:pt x="1324559" y="0"/>
                    </a:lnTo>
                    <a:lnTo>
                      <a:pt x="1324559" y="91166"/>
                    </a:lnTo>
                    <a:lnTo>
                      <a:pt x="0" y="91166"/>
                    </a:lnTo>
                    <a:close/>
                  </a:path>
                </a:pathLst>
              </a:custGeom>
              <a:solidFill>
                <a:srgbClr val="FFFFFF"/>
              </a:solidFill>
              <a:ln w="28575" cap="sq">
                <a:solidFill>
                  <a:srgbClr val="000000"/>
                </a:solidFill>
                <a:prstDash val="solid"/>
                <a:miter/>
              </a:ln>
            </p:spPr>
          </p:sp>
          <p:sp>
            <p:nvSpPr>
              <p:cNvPr name="TextBox 5" id="5"/>
              <p:cNvSpPr txBox="true"/>
              <p:nvPr/>
            </p:nvSpPr>
            <p:spPr>
              <a:xfrm>
                <a:off x="0" y="-47625"/>
                <a:ext cx="1324559" cy="138791"/>
              </a:xfrm>
              <a:prstGeom prst="rect">
                <a:avLst/>
              </a:prstGeom>
            </p:spPr>
            <p:txBody>
              <a:bodyPr anchor="ctr" rtlCol="false" tIns="50800" lIns="50800" bIns="50800" rIns="50800"/>
              <a:lstStyle/>
              <a:p>
                <a:pPr algn="ctr">
                  <a:lnSpc>
                    <a:spcPts val="2506"/>
                  </a:lnSpc>
                </a:pPr>
              </a:p>
            </p:txBody>
          </p:sp>
        </p:grpSp>
        <p:sp>
          <p:nvSpPr>
            <p:cNvPr name="TextBox 6" id="6"/>
            <p:cNvSpPr txBox="true"/>
            <p:nvPr/>
          </p:nvSpPr>
          <p:spPr>
            <a:xfrm rot="0">
              <a:off x="0" y="69000"/>
              <a:ext cx="23013602" cy="1282160"/>
            </a:xfrm>
            <a:prstGeom prst="rect">
              <a:avLst/>
            </a:prstGeom>
          </p:spPr>
          <p:txBody>
            <a:bodyPr anchor="t" rtlCol="false" tIns="0" lIns="0" bIns="0" rIns="0">
              <a:spAutoFit/>
            </a:bodyPr>
            <a:lstStyle/>
            <a:p>
              <a:pPr algn="ctr">
                <a:lnSpc>
                  <a:spcPts val="8286"/>
                </a:lnSpc>
              </a:pPr>
              <a:r>
                <a:rPr lang="en-US" b="true" sz="5636">
                  <a:solidFill>
                    <a:srgbClr val="000000"/>
                  </a:solidFill>
                  <a:latin typeface="Tomorrow Bold"/>
                  <a:ea typeface="Tomorrow Bold"/>
                  <a:cs typeface="Tomorrow Bold"/>
                  <a:sym typeface="Tomorrow Bold"/>
                </a:rPr>
                <a:t>8.2.Kỹ thuật Học ít mẫu (Few-shot Learning)</a:t>
              </a:r>
            </a:p>
          </p:txBody>
        </p:sp>
      </p:grpSp>
      <p:sp>
        <p:nvSpPr>
          <p:cNvPr name="TextBox 7" id="7"/>
          <p:cNvSpPr txBox="true"/>
          <p:nvPr/>
        </p:nvSpPr>
        <p:spPr>
          <a:xfrm rot="0">
            <a:off x="379973" y="3000547"/>
            <a:ext cx="17908027" cy="5643020"/>
          </a:xfrm>
          <a:prstGeom prst="rect">
            <a:avLst/>
          </a:prstGeom>
        </p:spPr>
        <p:txBody>
          <a:bodyPr anchor="t" rtlCol="false" tIns="0" lIns="0" bIns="0" rIns="0">
            <a:spAutoFit/>
          </a:bodyPr>
          <a:lstStyle/>
          <a:p>
            <a:pPr algn="l">
              <a:lnSpc>
                <a:spcPts val="5004"/>
              </a:lnSpc>
              <a:spcBef>
                <a:spcPct val="0"/>
              </a:spcBef>
            </a:pPr>
            <a:r>
              <a:rPr lang="en-US" sz="3574" strike="noStrike" u="none">
                <a:solidFill>
                  <a:srgbClr val="000000"/>
                </a:solidFill>
                <a:latin typeface="Rokkitt"/>
                <a:ea typeface="Rokkitt"/>
                <a:cs typeface="Rokkitt"/>
                <a:sym typeface="Rokkitt"/>
              </a:rPr>
              <a:t>Trọng tâm của chương này là kỹ thuật Few-shot Learning (hay còn gọi là học trong ngữ cảnh - in-context learning). </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Định nghĩa:</a:t>
            </a:r>
            <a:r>
              <a:rPr lang="en-US" sz="3574" strike="noStrike" u="none">
                <a:solidFill>
                  <a:srgbClr val="000000"/>
                </a:solidFill>
                <a:latin typeface="Rokkitt"/>
                <a:ea typeface="Rokkitt"/>
                <a:cs typeface="Rokkitt"/>
                <a:sym typeface="Rokkitt"/>
              </a:rPr>
              <a:t> Đây là phương pháp đưa trực tiếp một vài ví dụ về kết quả đầu ra mong muốn vào trong câu lệnh. </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Cơ chế:</a:t>
            </a:r>
            <a:r>
              <a:rPr lang="en-US" sz="3574" strike="noStrike" u="none">
                <a:solidFill>
                  <a:srgbClr val="000000"/>
                </a:solidFill>
                <a:latin typeface="Rokkitt"/>
                <a:ea typeface="Rokkitt"/>
                <a:cs typeface="Rokkitt"/>
                <a:sym typeface="Rokkitt"/>
              </a:rPr>
              <a:t> Thông qua việc phân tích các cặp dữ liệu đầu vào - đầu ra, mô hình có thể suy luận ra các quy luật và cấu trúc cần thiết để hoàn thành nhiệm vụ theo đúng phong cách được cung cấp. </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Lợi ích: </a:t>
            </a:r>
            <a:r>
              <a:rPr lang="en-US" sz="3574" strike="noStrike" u="none">
                <a:solidFill>
                  <a:srgbClr val="000000"/>
                </a:solidFill>
                <a:latin typeface="Rokkitt"/>
                <a:ea typeface="Rokkitt"/>
                <a:cs typeface="Rokkitt"/>
                <a:sym typeface="Rokkitt"/>
              </a:rPr>
              <a:t>Phương pháp này làm giảm tính mơ hồ, tăng khả năng dự đoán và đảm bảo tính nhất quán về cấu trúc (ví dụ: chỉ trả về kết quả số mà không kèm giải thích thừa).</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27907" y="870803"/>
            <a:ext cx="17032187" cy="2021927"/>
            <a:chOff x="0" y="0"/>
            <a:chExt cx="1324559" cy="157241"/>
          </a:xfrm>
        </p:grpSpPr>
        <p:sp>
          <p:nvSpPr>
            <p:cNvPr name="Freeform 3" id="3"/>
            <p:cNvSpPr/>
            <p:nvPr/>
          </p:nvSpPr>
          <p:spPr>
            <a:xfrm flipH="false" flipV="false" rot="0">
              <a:off x="0" y="0"/>
              <a:ext cx="1324559" cy="157241"/>
            </a:xfrm>
            <a:custGeom>
              <a:avLst/>
              <a:gdLst/>
              <a:ahLst/>
              <a:cxnLst/>
              <a:rect r="r" b="b" t="t" l="l"/>
              <a:pathLst>
                <a:path h="157241" w="1324559">
                  <a:moveTo>
                    <a:pt x="0" y="0"/>
                  </a:moveTo>
                  <a:lnTo>
                    <a:pt x="1324559" y="0"/>
                  </a:lnTo>
                  <a:lnTo>
                    <a:pt x="1324559" y="157241"/>
                  </a:lnTo>
                  <a:lnTo>
                    <a:pt x="0" y="157241"/>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223916"/>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2095410" y="839766"/>
            <a:ext cx="14097180" cy="1941127"/>
          </a:xfrm>
          <a:prstGeom prst="rect">
            <a:avLst/>
          </a:prstGeom>
        </p:spPr>
        <p:txBody>
          <a:bodyPr anchor="t" rtlCol="false" tIns="0" lIns="0" bIns="0" rIns="0">
            <a:spAutoFit/>
          </a:bodyPr>
          <a:lstStyle/>
          <a:p>
            <a:pPr algn="ctr">
              <a:lnSpc>
                <a:spcPts val="7845"/>
              </a:lnSpc>
            </a:pPr>
            <a:r>
              <a:rPr lang="en-US" b="true" sz="5336">
                <a:solidFill>
                  <a:srgbClr val="000000"/>
                </a:solidFill>
                <a:latin typeface="Tomorrow Bold"/>
                <a:ea typeface="Tomorrow Bold"/>
                <a:cs typeface="Tomorrow Bold"/>
                <a:sym typeface="Tomorrow Bold"/>
              </a:rPr>
              <a:t>8.3. Ứng dụng thực tiễn trong quy trình phát triển phần mềm</a:t>
            </a:r>
          </a:p>
        </p:txBody>
      </p:sp>
      <p:sp>
        <p:nvSpPr>
          <p:cNvPr name="TextBox 6" id="6"/>
          <p:cNvSpPr txBox="true"/>
          <p:nvPr/>
        </p:nvSpPr>
        <p:spPr>
          <a:xfrm rot="0">
            <a:off x="189987" y="2986656"/>
            <a:ext cx="17908027" cy="6271644"/>
          </a:xfrm>
          <a:prstGeom prst="rect">
            <a:avLst/>
          </a:prstGeom>
        </p:spPr>
        <p:txBody>
          <a:bodyPr anchor="t" rtlCol="false" tIns="0" lIns="0" bIns="0" rIns="0">
            <a:spAutoFit/>
          </a:bodyPr>
          <a:lstStyle/>
          <a:p>
            <a:pPr algn="l">
              <a:lnSpc>
                <a:spcPts val="5004"/>
              </a:lnSpc>
              <a:spcBef>
                <a:spcPct val="0"/>
              </a:spcBef>
            </a:pPr>
            <a:r>
              <a:rPr lang="en-US" sz="3574">
                <a:solidFill>
                  <a:srgbClr val="000000"/>
                </a:solidFill>
                <a:latin typeface="Rokkitt"/>
                <a:ea typeface="Rokkitt"/>
                <a:cs typeface="Rokkitt"/>
                <a:sym typeface="Rokkitt"/>
              </a:rPr>
              <a:t>Kỹ</a:t>
            </a:r>
            <a:r>
              <a:rPr lang="en-US" sz="3574" strike="noStrike" u="none">
                <a:solidFill>
                  <a:srgbClr val="000000"/>
                </a:solidFill>
                <a:latin typeface="Rokkitt"/>
                <a:ea typeface="Rokkitt"/>
                <a:cs typeface="Rokkitt"/>
                <a:sym typeface="Rokkitt"/>
              </a:rPr>
              <a:t> t</a:t>
            </a:r>
            <a:r>
              <a:rPr lang="en-US" sz="3574" strike="noStrike" u="none">
                <a:solidFill>
                  <a:srgbClr val="000000"/>
                </a:solidFill>
                <a:latin typeface="Rokkitt"/>
                <a:ea typeface="Rokkitt"/>
                <a:cs typeface="Rokkitt"/>
                <a:sym typeface="Rokkitt"/>
              </a:rPr>
              <a:t>huật gợi</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ý</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đ</a:t>
            </a:r>
            <a:r>
              <a:rPr lang="en-US" sz="3574" strike="noStrike" u="none">
                <a:solidFill>
                  <a:srgbClr val="000000"/>
                </a:solidFill>
                <a:latin typeface="Rokkitt"/>
                <a:ea typeface="Rokkitt"/>
                <a:cs typeface="Rokkitt"/>
                <a:sym typeface="Rokkitt"/>
              </a:rPr>
              <a:t>ư</a:t>
            </a:r>
            <a:r>
              <a:rPr lang="en-US" sz="3574" strike="noStrike" u="none">
                <a:solidFill>
                  <a:srgbClr val="000000"/>
                </a:solidFill>
                <a:latin typeface="Rokkitt"/>
                <a:ea typeface="Rokkitt"/>
                <a:cs typeface="Rokkitt"/>
                <a:sym typeface="Rokkitt"/>
              </a:rPr>
              <a:t>ợc ứ</a:t>
            </a:r>
            <a:r>
              <a:rPr lang="en-US" sz="3574" strike="noStrike" u="none">
                <a:solidFill>
                  <a:srgbClr val="000000"/>
                </a:solidFill>
                <a:latin typeface="Rokkitt"/>
                <a:ea typeface="Rokkitt"/>
                <a:cs typeface="Rokkitt"/>
                <a:sym typeface="Rokkitt"/>
              </a:rPr>
              <a:t>ng </a:t>
            </a:r>
            <a:r>
              <a:rPr lang="en-US" sz="3574" strike="noStrike" u="none">
                <a:solidFill>
                  <a:srgbClr val="000000"/>
                </a:solidFill>
                <a:latin typeface="Rokkitt"/>
                <a:ea typeface="Rokkitt"/>
                <a:cs typeface="Rokkitt"/>
                <a:sym typeface="Rokkitt"/>
              </a:rPr>
              <a:t>dụ</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g</a:t>
            </a:r>
            <a:r>
              <a:rPr lang="en-US" sz="3574" strike="noStrike" u="none">
                <a:solidFill>
                  <a:srgbClr val="000000"/>
                </a:solidFill>
                <a:latin typeface="Rokkitt"/>
                <a:ea typeface="Rokkitt"/>
                <a:cs typeface="Rokkitt"/>
                <a:sym typeface="Rokkitt"/>
              </a:rPr>
              <a:t> l</a:t>
            </a:r>
            <a:r>
              <a:rPr lang="en-US" sz="3574" strike="noStrike" u="none">
                <a:solidFill>
                  <a:srgbClr val="000000"/>
                </a:solidFill>
                <a:latin typeface="Rokkitt"/>
                <a:ea typeface="Rokkitt"/>
                <a:cs typeface="Rokkitt"/>
                <a:sym typeface="Rokkitt"/>
              </a:rPr>
              <a:t>in</a:t>
            </a:r>
            <a:r>
              <a:rPr lang="en-US" sz="3574" strike="noStrike" u="none">
                <a:solidFill>
                  <a:srgbClr val="000000"/>
                </a:solidFill>
                <a:latin typeface="Rokkitt"/>
                <a:ea typeface="Rokkitt"/>
                <a:cs typeface="Rokkitt"/>
                <a:sym typeface="Rokkitt"/>
              </a:rPr>
              <a:t>h ho</a:t>
            </a:r>
            <a:r>
              <a:rPr lang="en-US" sz="3574" strike="noStrike" u="none">
                <a:solidFill>
                  <a:srgbClr val="000000"/>
                </a:solidFill>
                <a:latin typeface="Rokkitt"/>
                <a:ea typeface="Rokkitt"/>
                <a:cs typeface="Rokkitt"/>
                <a:sym typeface="Rokkitt"/>
              </a:rPr>
              <a:t>ạ</a:t>
            </a:r>
            <a:r>
              <a:rPr lang="en-US" sz="3574" strike="noStrike" u="none">
                <a:solidFill>
                  <a:srgbClr val="000000"/>
                </a:solidFill>
                <a:latin typeface="Rokkitt"/>
                <a:ea typeface="Rokkitt"/>
                <a:cs typeface="Rokkitt"/>
                <a:sym typeface="Rokkitt"/>
              </a:rPr>
              <a:t>t </a:t>
            </a:r>
            <a:r>
              <a:rPr lang="en-US" sz="3574" strike="noStrike" u="none">
                <a:solidFill>
                  <a:srgbClr val="000000"/>
                </a:solidFill>
                <a:latin typeface="Rokkitt"/>
                <a:ea typeface="Rokkitt"/>
                <a:cs typeface="Rokkitt"/>
                <a:sym typeface="Rokkitt"/>
              </a:rPr>
              <a:t>t</a:t>
            </a:r>
            <a:r>
              <a:rPr lang="en-US" sz="3574" strike="noStrike" u="none">
                <a:solidFill>
                  <a:srgbClr val="000000"/>
                </a:solidFill>
                <a:latin typeface="Rokkitt"/>
                <a:ea typeface="Rokkitt"/>
                <a:cs typeface="Rokkitt"/>
                <a:sym typeface="Rokkitt"/>
              </a:rPr>
              <a:t>r</a:t>
            </a:r>
            <a:r>
              <a:rPr lang="en-US" sz="3574" strike="noStrike" u="none">
                <a:solidFill>
                  <a:srgbClr val="000000"/>
                </a:solidFill>
                <a:latin typeface="Rokkitt"/>
                <a:ea typeface="Rokkitt"/>
                <a:cs typeface="Rokkitt"/>
                <a:sym typeface="Rokkitt"/>
              </a:rPr>
              <a:t>ê</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 nh</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ều cô</a:t>
            </a:r>
            <a:r>
              <a:rPr lang="en-US" sz="3574" strike="noStrike" u="none">
                <a:solidFill>
                  <a:srgbClr val="000000"/>
                </a:solidFill>
                <a:latin typeface="Rokkitt"/>
                <a:ea typeface="Rokkitt"/>
                <a:cs typeface="Rokkitt"/>
                <a:sym typeface="Rokkitt"/>
              </a:rPr>
              <a:t>ng </a:t>
            </a:r>
            <a:r>
              <a:rPr lang="en-US" sz="3574" strike="noStrike" u="none">
                <a:solidFill>
                  <a:srgbClr val="000000"/>
                </a:solidFill>
                <a:latin typeface="Rokkitt"/>
                <a:ea typeface="Rokkitt"/>
                <a:cs typeface="Rokkitt"/>
                <a:sym typeface="Rokkitt"/>
              </a:rPr>
              <a:t>cụ</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và mụ</a:t>
            </a:r>
            <a:r>
              <a:rPr lang="en-US" sz="3574" strike="noStrike" u="none">
                <a:solidFill>
                  <a:srgbClr val="000000"/>
                </a:solidFill>
                <a:latin typeface="Rokkitt"/>
                <a:ea typeface="Rokkitt"/>
                <a:cs typeface="Rokkitt"/>
                <a:sym typeface="Rokkitt"/>
              </a:rPr>
              <a:t>c </a:t>
            </a:r>
            <a:r>
              <a:rPr lang="en-US" sz="3574" strike="noStrike" u="none">
                <a:solidFill>
                  <a:srgbClr val="000000"/>
                </a:solidFill>
                <a:latin typeface="Rokkitt"/>
                <a:ea typeface="Rokkitt"/>
                <a:cs typeface="Rokkitt"/>
                <a:sym typeface="Rokkitt"/>
              </a:rPr>
              <a:t>t</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êu</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khác</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au:</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Tái </a:t>
            </a:r>
            <a:r>
              <a:rPr lang="en-US" b="true" sz="3574" strike="noStrike" u="none">
                <a:solidFill>
                  <a:srgbClr val="000000"/>
                </a:solidFill>
                <a:latin typeface="Rokkitt Bold"/>
                <a:ea typeface="Rokkitt Bold"/>
                <a:cs typeface="Rokkitt Bold"/>
                <a:sym typeface="Rokkitt Bold"/>
              </a:rPr>
              <a:t>c</a:t>
            </a:r>
            <a:r>
              <a:rPr lang="en-US" b="true" sz="3574" strike="noStrike" u="none">
                <a:solidFill>
                  <a:srgbClr val="000000"/>
                </a:solidFill>
                <a:latin typeface="Rokkitt Bold"/>
                <a:ea typeface="Rokkitt Bold"/>
                <a:cs typeface="Rokkitt Bold"/>
                <a:sym typeface="Rokkitt Bold"/>
              </a:rPr>
              <a:t>ấu</a:t>
            </a:r>
            <a:r>
              <a:rPr lang="en-US" b="true" sz="3574" strike="noStrike" u="none">
                <a:solidFill>
                  <a:srgbClr val="000000"/>
                </a:solidFill>
                <a:latin typeface="Rokkitt Bold"/>
                <a:ea typeface="Rokkitt Bold"/>
                <a:cs typeface="Rokkitt Bold"/>
                <a:sym typeface="Rokkitt Bold"/>
              </a:rPr>
              <a:t> tr</a:t>
            </a:r>
            <a:r>
              <a:rPr lang="en-US" b="true" sz="3574" strike="noStrike" u="none">
                <a:solidFill>
                  <a:srgbClr val="000000"/>
                </a:solidFill>
                <a:latin typeface="Rokkitt Bold"/>
                <a:ea typeface="Rokkitt Bold"/>
                <a:cs typeface="Rokkitt Bold"/>
                <a:sym typeface="Rokkitt Bold"/>
              </a:rPr>
              <a:t>úc mã</a:t>
            </a:r>
            <a:r>
              <a:rPr lang="en-US" b="true" sz="3574" strike="noStrike" u="none">
                <a:solidFill>
                  <a:srgbClr val="000000"/>
                </a:solidFill>
                <a:latin typeface="Rokkitt Bold"/>
                <a:ea typeface="Rokkitt Bold"/>
                <a:cs typeface="Rokkitt Bold"/>
                <a:sym typeface="Rokkitt Bold"/>
              </a:rPr>
              <a:t> ng</a:t>
            </a:r>
            <a:r>
              <a:rPr lang="en-US" b="true" sz="3574" strike="noStrike" u="none">
                <a:solidFill>
                  <a:srgbClr val="000000"/>
                </a:solidFill>
                <a:latin typeface="Rokkitt Bold"/>
                <a:ea typeface="Rokkitt Bold"/>
                <a:cs typeface="Rokkitt Bold"/>
                <a:sym typeface="Rokkitt Bold"/>
              </a:rPr>
              <a:t>uồ</a:t>
            </a:r>
            <a:r>
              <a:rPr lang="en-US" b="true" sz="3574" strike="noStrike" u="none">
                <a:solidFill>
                  <a:srgbClr val="000000"/>
                </a:solidFill>
                <a:latin typeface="Rokkitt Bold"/>
                <a:ea typeface="Rokkitt Bold"/>
                <a:cs typeface="Rokkitt Bold"/>
                <a:sym typeface="Rokkitt Bold"/>
              </a:rPr>
              <a:t>n </a:t>
            </a:r>
            <a:r>
              <a:rPr lang="en-US" b="true" sz="3574" strike="noStrike" u="none">
                <a:solidFill>
                  <a:srgbClr val="000000"/>
                </a:solidFill>
                <a:latin typeface="Rokkitt Bold"/>
                <a:ea typeface="Rokkitt Bold"/>
                <a:cs typeface="Rokkitt Bold"/>
                <a:sym typeface="Rokkitt Bold"/>
              </a:rPr>
              <a:t>(C</a:t>
            </a:r>
            <a:r>
              <a:rPr lang="en-US" b="true" sz="3574" strike="noStrike" u="none">
                <a:solidFill>
                  <a:srgbClr val="000000"/>
                </a:solidFill>
                <a:latin typeface="Rokkitt Bold"/>
                <a:ea typeface="Rokkitt Bold"/>
                <a:cs typeface="Rokkitt Bold"/>
                <a:sym typeface="Rokkitt Bold"/>
              </a:rPr>
              <a:t>o</a:t>
            </a:r>
            <a:r>
              <a:rPr lang="en-US" b="true" sz="3574" strike="noStrike" u="none">
                <a:solidFill>
                  <a:srgbClr val="000000"/>
                </a:solidFill>
                <a:latin typeface="Rokkitt Bold"/>
                <a:ea typeface="Rokkitt Bold"/>
                <a:cs typeface="Rokkitt Bold"/>
                <a:sym typeface="Rokkitt Bold"/>
              </a:rPr>
              <a:t>d</a:t>
            </a:r>
            <a:r>
              <a:rPr lang="en-US" b="true" sz="3574" strike="noStrike" u="none">
                <a:solidFill>
                  <a:srgbClr val="000000"/>
                </a:solidFill>
                <a:latin typeface="Rokkitt Bold"/>
                <a:ea typeface="Rokkitt Bold"/>
                <a:cs typeface="Rokkitt Bold"/>
                <a:sym typeface="Rokkitt Bold"/>
              </a:rPr>
              <a:t>e </a:t>
            </a:r>
            <a:r>
              <a:rPr lang="en-US" b="true" sz="3574" strike="noStrike" u="none">
                <a:solidFill>
                  <a:srgbClr val="000000"/>
                </a:solidFill>
                <a:latin typeface="Rokkitt Bold"/>
                <a:ea typeface="Rokkitt Bold"/>
                <a:cs typeface="Rokkitt Bold"/>
                <a:sym typeface="Rokkitt Bold"/>
              </a:rPr>
              <a:t>R</a:t>
            </a:r>
            <a:r>
              <a:rPr lang="en-US" b="true" sz="3574" strike="noStrike" u="none">
                <a:solidFill>
                  <a:srgbClr val="000000"/>
                </a:solidFill>
                <a:latin typeface="Rokkitt Bold"/>
                <a:ea typeface="Rokkitt Bold"/>
                <a:cs typeface="Rokkitt Bold"/>
                <a:sym typeface="Rokkitt Bold"/>
              </a:rPr>
              <a:t>e</a:t>
            </a:r>
            <a:r>
              <a:rPr lang="en-US" b="true" sz="3574" strike="noStrike" u="none">
                <a:solidFill>
                  <a:srgbClr val="000000"/>
                </a:solidFill>
                <a:latin typeface="Rokkitt Bold"/>
                <a:ea typeface="Rokkitt Bold"/>
                <a:cs typeface="Rokkitt Bold"/>
                <a:sym typeface="Rokkitt Bold"/>
              </a:rPr>
              <a:t>f</a:t>
            </a:r>
            <a:r>
              <a:rPr lang="en-US" b="true" sz="3574" strike="noStrike" u="none">
                <a:solidFill>
                  <a:srgbClr val="000000"/>
                </a:solidFill>
                <a:latin typeface="Rokkitt Bold"/>
                <a:ea typeface="Rokkitt Bold"/>
                <a:cs typeface="Rokkitt Bold"/>
                <a:sym typeface="Rokkitt Bold"/>
              </a:rPr>
              <a:t>a</a:t>
            </a:r>
            <a:r>
              <a:rPr lang="en-US" b="true" sz="3574" strike="noStrike" u="none">
                <a:solidFill>
                  <a:srgbClr val="000000"/>
                </a:solidFill>
                <a:latin typeface="Rokkitt Bold"/>
                <a:ea typeface="Rokkitt Bold"/>
                <a:cs typeface="Rokkitt Bold"/>
                <a:sym typeface="Rokkitt Bold"/>
              </a:rPr>
              <a:t>cto</a:t>
            </a:r>
            <a:r>
              <a:rPr lang="en-US" b="true" sz="3574" strike="noStrike" u="none">
                <a:solidFill>
                  <a:srgbClr val="000000"/>
                </a:solidFill>
                <a:latin typeface="Rokkitt Bold"/>
                <a:ea typeface="Rokkitt Bold"/>
                <a:cs typeface="Rokkitt Bold"/>
                <a:sym typeface="Rokkitt Bold"/>
              </a:rPr>
              <a:t>ring)</a:t>
            </a:r>
            <a:r>
              <a:rPr lang="en-US" b="true" sz="3574" strike="noStrike" u="none">
                <a:solidFill>
                  <a:srgbClr val="000000"/>
                </a:solidFill>
                <a:latin typeface="Rokkitt Bold"/>
                <a:ea typeface="Rokkitt Bold"/>
                <a:cs typeface="Rokkitt Bold"/>
                <a:sym typeface="Rokkitt Bold"/>
              </a:rPr>
              <a:t>:</a:t>
            </a:r>
            <a:r>
              <a:rPr lang="en-US" sz="3574" strike="noStrike" u="none">
                <a:solidFill>
                  <a:srgbClr val="000000"/>
                </a:solidFill>
                <a:latin typeface="Rokkitt"/>
                <a:ea typeface="Rokkitt"/>
                <a:cs typeface="Rokkitt"/>
                <a:sym typeface="Rokkitt"/>
              </a:rPr>
              <a:t> Chuyển đổi các câu lệ</a:t>
            </a:r>
            <a:r>
              <a:rPr lang="en-US" sz="3574" strike="noStrike" u="none">
                <a:solidFill>
                  <a:srgbClr val="000000"/>
                </a:solidFill>
                <a:latin typeface="Rokkitt"/>
                <a:ea typeface="Rokkitt"/>
                <a:cs typeface="Rokkitt"/>
                <a:sym typeface="Rokkitt"/>
              </a:rPr>
              <a:t>nh </a:t>
            </a:r>
            <a:r>
              <a:rPr lang="en-US" sz="3574" strike="noStrike" u="none">
                <a:solidFill>
                  <a:srgbClr val="000000"/>
                </a:solidFill>
                <a:latin typeface="Rokkitt"/>
                <a:ea typeface="Rokkitt"/>
                <a:cs typeface="Rokkitt"/>
                <a:sym typeface="Rokkitt"/>
              </a:rPr>
              <a:t>đơ</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g</a:t>
            </a:r>
            <a:r>
              <a:rPr lang="en-US" sz="3574" strike="noStrike" u="none">
                <a:solidFill>
                  <a:srgbClr val="000000"/>
                </a:solidFill>
                <a:latin typeface="Rokkitt"/>
                <a:ea typeface="Rokkitt"/>
                <a:cs typeface="Rokkitt"/>
                <a:sym typeface="Rokkitt"/>
              </a:rPr>
              <a:t>iản (n</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ư</a:t>
            </a:r>
            <a:r>
              <a:rPr lang="en-US" sz="3574" strike="noStrike" u="none">
                <a:solidFill>
                  <a:srgbClr val="000000"/>
                </a:solidFill>
                <a:latin typeface="Rokkitt"/>
                <a:ea typeface="Rokkitt"/>
                <a:cs typeface="Rokkitt"/>
                <a:sym typeface="Rokkitt"/>
              </a:rPr>
              <a:t> print) thành các thông điệp nhật ký (logging) có cấu trúc, tuân thủ các cấp độ (info, warning, error) và tham số mở rộng.</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Duy trì phong cách lập trình với GitHub Copilot:</a:t>
            </a:r>
            <a:r>
              <a:rPr lang="en-US" sz="3574" strike="noStrike" u="none">
                <a:solidFill>
                  <a:srgbClr val="000000"/>
                </a:solidFill>
                <a:latin typeface="Rokkitt"/>
                <a:ea typeface="Rokkitt"/>
                <a:cs typeface="Rokkitt"/>
                <a:sym typeface="Rokkitt"/>
              </a:rPr>
              <a:t> Sử dụng tệp hướng dẫn phong cách (style guide file) để hướng dẫn AI tuân thủ các quy tắc cụ thể như gợi ý kiểu (type hints), viết docstring hoặc định dạng hàm.</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Triển khai quy mô lớn qua OpenAI API:</a:t>
            </a:r>
            <a:r>
              <a:rPr lang="en-US" sz="3574" strike="noStrike" u="none">
                <a:solidFill>
                  <a:srgbClr val="000000"/>
                </a:solidFill>
                <a:latin typeface="Rokkitt"/>
                <a:ea typeface="Rokkitt"/>
                <a:cs typeface="Rokkitt"/>
                <a:sym typeface="Rokkitt"/>
              </a:rPr>
              <a:t> Sử dụng các biến được lập chỉ </a:t>
            </a:r>
            <a:r>
              <a:rPr lang="en-US" sz="3574" strike="noStrike" u="none">
                <a:solidFill>
                  <a:srgbClr val="000000"/>
                </a:solidFill>
                <a:latin typeface="Rokkitt"/>
                <a:ea typeface="Rokkitt"/>
                <a:cs typeface="Rokkitt"/>
                <a:sym typeface="Rokkitt"/>
              </a:rPr>
              <a:t>mụ</a:t>
            </a:r>
            <a:r>
              <a:rPr lang="en-US" sz="3574" strike="noStrike" u="none">
                <a:solidFill>
                  <a:srgbClr val="000000"/>
                </a:solidFill>
                <a:latin typeface="Rokkitt"/>
                <a:ea typeface="Rokkitt"/>
                <a:cs typeface="Rokkitt"/>
                <a:sym typeface="Rokkitt"/>
              </a:rPr>
              <a:t>c </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hư {{{ INPUT_i }}} và {{{ OUTPUT_i }}}) trong câu lệnh hệ thống để điều hướng mô hình tạo mã nguồn chuẩn xác từ các chữ ký hàm (function signatures).</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9859" y="1836331"/>
            <a:ext cx="17508282" cy="2175364"/>
            <a:chOff x="0" y="0"/>
            <a:chExt cx="23344375" cy="2900485"/>
          </a:xfrm>
        </p:grpSpPr>
        <p:grpSp>
          <p:nvGrpSpPr>
            <p:cNvPr name="Group 3" id="3"/>
            <p:cNvGrpSpPr/>
            <p:nvPr/>
          </p:nvGrpSpPr>
          <p:grpSpPr>
            <a:xfrm rot="0">
              <a:off x="308389" y="0"/>
              <a:ext cx="23035986" cy="1563036"/>
              <a:chOff x="0" y="0"/>
              <a:chExt cx="1343597" cy="91166"/>
            </a:xfrm>
          </p:grpSpPr>
          <p:sp>
            <p:nvSpPr>
              <p:cNvPr name="Freeform 4" id="4"/>
              <p:cNvSpPr/>
              <p:nvPr/>
            </p:nvSpPr>
            <p:spPr>
              <a:xfrm flipH="false" flipV="false" rot="0">
                <a:off x="0" y="0"/>
                <a:ext cx="1343597" cy="91166"/>
              </a:xfrm>
              <a:custGeom>
                <a:avLst/>
                <a:gdLst/>
                <a:ahLst/>
                <a:cxnLst/>
                <a:rect r="r" b="b" t="t" l="l"/>
                <a:pathLst>
                  <a:path h="91166" w="1343597">
                    <a:moveTo>
                      <a:pt x="0" y="0"/>
                    </a:moveTo>
                    <a:lnTo>
                      <a:pt x="1343597" y="0"/>
                    </a:lnTo>
                    <a:lnTo>
                      <a:pt x="1343597" y="91166"/>
                    </a:lnTo>
                    <a:lnTo>
                      <a:pt x="0" y="91166"/>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43597" cy="148316"/>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63661"/>
              <a:ext cx="23344375" cy="2836825"/>
            </a:xfrm>
            <a:prstGeom prst="rect">
              <a:avLst/>
            </a:prstGeom>
          </p:spPr>
          <p:txBody>
            <a:bodyPr anchor="t" rtlCol="false" tIns="0" lIns="0" bIns="0" rIns="0">
              <a:spAutoFit/>
            </a:bodyPr>
            <a:lstStyle/>
            <a:p>
              <a:pPr algn="ctr">
                <a:lnSpc>
                  <a:spcPts val="8727"/>
                </a:lnSpc>
              </a:pPr>
              <a:r>
                <a:rPr lang="en-US" sz="5936" b="true">
                  <a:solidFill>
                    <a:srgbClr val="000000"/>
                  </a:solidFill>
                  <a:latin typeface="Tomorrow Bold"/>
                  <a:ea typeface="Tomorrow Bold"/>
                  <a:cs typeface="Tomorrow Bold"/>
                  <a:sym typeface="Tomorrow Bold"/>
                </a:rPr>
                <a:t>8.4. Các kỹ thuật bổ trợ nâng cao</a:t>
              </a:r>
            </a:p>
            <a:p>
              <a:pPr algn="ctr">
                <a:lnSpc>
                  <a:spcPts val="8727"/>
                </a:lnSpc>
              </a:pPr>
            </a:p>
          </p:txBody>
        </p:sp>
      </p:grpSp>
      <p:sp>
        <p:nvSpPr>
          <p:cNvPr name="TextBox 7" id="7"/>
          <p:cNvSpPr txBox="true"/>
          <p:nvPr/>
        </p:nvSpPr>
        <p:spPr>
          <a:xfrm rot="0">
            <a:off x="0" y="3131369"/>
            <a:ext cx="18027620" cy="5643020"/>
          </a:xfrm>
          <a:prstGeom prst="rect">
            <a:avLst/>
          </a:prstGeom>
        </p:spPr>
        <p:txBody>
          <a:bodyPr anchor="t" rtlCol="false" tIns="0" lIns="0" bIns="0" rIns="0">
            <a:spAutoFit/>
          </a:bodyPr>
          <a:lstStyle/>
          <a:p>
            <a:pPr algn="l" marL="771757" indent="-385879" lvl="1">
              <a:lnSpc>
                <a:spcPts val="5004"/>
              </a:lnSpc>
              <a:buFont typeface="Arial"/>
              <a:buChar char="•"/>
            </a:pPr>
            <a:r>
              <a:rPr lang="en-US" b="true" sz="3574">
                <a:solidFill>
                  <a:srgbClr val="000000"/>
                </a:solidFill>
                <a:latin typeface="Rokkitt Bold"/>
                <a:ea typeface="Rokkitt Bold"/>
                <a:cs typeface="Rokkitt Bold"/>
                <a:sym typeface="Rokkitt Bold"/>
              </a:rPr>
              <a:t>G</a:t>
            </a:r>
            <a:r>
              <a:rPr lang="en-US" b="true" sz="3574" strike="noStrike" u="none">
                <a:solidFill>
                  <a:srgbClr val="000000"/>
                </a:solidFill>
                <a:latin typeface="Rokkitt Bold"/>
                <a:ea typeface="Rokkitt Bold"/>
                <a:cs typeface="Rokkitt Bold"/>
                <a:sym typeface="Rokkitt Bold"/>
              </a:rPr>
              <a:t>ợi ý lặp lại (Iterat</a:t>
            </a:r>
            <a:r>
              <a:rPr lang="en-US" b="true" sz="3574" strike="noStrike" u="none">
                <a:solidFill>
                  <a:srgbClr val="000000"/>
                </a:solidFill>
                <a:latin typeface="Rokkitt Bold"/>
                <a:ea typeface="Rokkitt Bold"/>
                <a:cs typeface="Rokkitt Bold"/>
                <a:sym typeface="Rokkitt Bold"/>
              </a:rPr>
              <a:t>ive P</a:t>
            </a:r>
            <a:r>
              <a:rPr lang="en-US" b="true" sz="3574" strike="noStrike" u="none">
                <a:solidFill>
                  <a:srgbClr val="000000"/>
                </a:solidFill>
                <a:latin typeface="Rokkitt Bold"/>
                <a:ea typeface="Rokkitt Bold"/>
                <a:cs typeface="Rokkitt Bold"/>
                <a:sym typeface="Rokkitt Bold"/>
              </a:rPr>
              <a:t>rompting): </a:t>
            </a:r>
            <a:r>
              <a:rPr lang="en-US" sz="3574" strike="noStrike" u="none">
                <a:solidFill>
                  <a:srgbClr val="000000"/>
                </a:solidFill>
                <a:latin typeface="Rokkitt"/>
                <a:ea typeface="Rokkitt"/>
                <a:cs typeface="Rokkitt"/>
                <a:sym typeface="Rokkitt"/>
              </a:rPr>
              <a:t>T</a:t>
            </a:r>
            <a:r>
              <a:rPr lang="en-US" sz="3574" strike="noStrike" u="none">
                <a:solidFill>
                  <a:srgbClr val="000000"/>
                </a:solidFill>
                <a:latin typeface="Rokkitt"/>
                <a:ea typeface="Rokkitt"/>
                <a:cs typeface="Rokkitt"/>
                <a:sym typeface="Rokkitt"/>
              </a:rPr>
              <a:t>hiết </a:t>
            </a:r>
            <a:r>
              <a:rPr lang="en-US" sz="3574" strike="noStrike" u="none">
                <a:solidFill>
                  <a:srgbClr val="000000"/>
                </a:solidFill>
                <a:latin typeface="Rokkitt"/>
                <a:ea typeface="Rokkitt"/>
                <a:cs typeface="Rokkitt"/>
                <a:sym typeface="Rokkitt"/>
              </a:rPr>
              <a:t>lập</a:t>
            </a:r>
            <a:r>
              <a:rPr lang="en-US" sz="3574" strike="noStrike" u="none">
                <a:solidFill>
                  <a:srgbClr val="000000"/>
                </a:solidFill>
                <a:latin typeface="Rokkitt"/>
                <a:ea typeface="Rokkitt"/>
                <a:cs typeface="Rokkitt"/>
                <a:sym typeface="Rokkitt"/>
              </a:rPr>
              <a:t> một v</a:t>
            </a:r>
            <a:r>
              <a:rPr lang="en-US" sz="3574" strike="noStrike" u="none">
                <a:solidFill>
                  <a:srgbClr val="000000"/>
                </a:solidFill>
                <a:latin typeface="Rokkitt"/>
                <a:ea typeface="Rokkitt"/>
                <a:cs typeface="Rokkitt"/>
                <a:sym typeface="Rokkitt"/>
              </a:rPr>
              <a:t>òng</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lặp</a:t>
            </a:r>
            <a:r>
              <a:rPr lang="en-US" sz="3574" strike="noStrike" u="none">
                <a:solidFill>
                  <a:srgbClr val="000000"/>
                </a:solidFill>
                <a:latin typeface="Rokkitt"/>
                <a:ea typeface="Rokkitt"/>
                <a:cs typeface="Rokkitt"/>
                <a:sym typeface="Rokkitt"/>
              </a:rPr>
              <a:t> phản h</a:t>
            </a:r>
            <a:r>
              <a:rPr lang="en-US" sz="3574" strike="noStrike" u="none">
                <a:solidFill>
                  <a:srgbClr val="000000"/>
                </a:solidFill>
                <a:latin typeface="Rokkitt"/>
                <a:ea typeface="Rokkitt"/>
                <a:cs typeface="Rokkitt"/>
                <a:sym typeface="Rokkitt"/>
              </a:rPr>
              <a:t>ồi,</a:t>
            </a:r>
            <a:r>
              <a:rPr lang="en-US" sz="3574" strike="noStrike" u="none">
                <a:solidFill>
                  <a:srgbClr val="000000"/>
                </a:solidFill>
                <a:latin typeface="Rokkitt"/>
                <a:ea typeface="Rokkitt"/>
                <a:cs typeface="Rokkitt"/>
                <a:sym typeface="Rokkitt"/>
              </a:rPr>
              <a:t> n</a:t>
            </a:r>
            <a:r>
              <a:rPr lang="en-US" sz="3574" strike="noStrike" u="none">
                <a:solidFill>
                  <a:srgbClr val="000000"/>
                </a:solidFill>
                <a:latin typeface="Rokkitt"/>
                <a:ea typeface="Rokkitt"/>
                <a:cs typeface="Rokkitt"/>
                <a:sym typeface="Rokkitt"/>
              </a:rPr>
              <a:t>ơ</a:t>
            </a:r>
            <a:r>
              <a:rPr lang="en-US" sz="3574" strike="noStrike" u="none">
                <a:solidFill>
                  <a:srgbClr val="000000"/>
                </a:solidFill>
                <a:latin typeface="Rokkitt"/>
                <a:ea typeface="Rokkitt"/>
                <a:cs typeface="Rokkitt"/>
                <a:sym typeface="Rokkitt"/>
              </a:rPr>
              <a:t>i </a:t>
            </a:r>
            <a:r>
              <a:rPr lang="en-US" sz="3574" strike="noStrike" u="none">
                <a:solidFill>
                  <a:srgbClr val="000000"/>
                </a:solidFill>
                <a:latin typeface="Rokkitt"/>
                <a:ea typeface="Rokkitt"/>
                <a:cs typeface="Rokkitt"/>
                <a:sym typeface="Rokkitt"/>
              </a:rPr>
              <a:t>kết q</a:t>
            </a:r>
            <a:r>
              <a:rPr lang="en-US" sz="3574" strike="noStrike" u="none">
                <a:solidFill>
                  <a:srgbClr val="000000"/>
                </a:solidFill>
                <a:latin typeface="Rokkitt"/>
                <a:ea typeface="Rokkitt"/>
                <a:cs typeface="Rokkitt"/>
                <a:sym typeface="Rokkitt"/>
              </a:rPr>
              <a:t>u</a:t>
            </a:r>
            <a:r>
              <a:rPr lang="en-US" sz="3574" strike="noStrike" u="none">
                <a:solidFill>
                  <a:srgbClr val="000000"/>
                </a:solidFill>
                <a:latin typeface="Rokkitt"/>
                <a:ea typeface="Rokkitt"/>
                <a:cs typeface="Rokkitt"/>
                <a:sym typeface="Rokkitt"/>
              </a:rPr>
              <a:t>ả</a:t>
            </a:r>
            <a:r>
              <a:rPr lang="en-US" sz="3574" strike="noStrike" u="none">
                <a:solidFill>
                  <a:srgbClr val="000000"/>
                </a:solidFill>
                <a:latin typeface="Rokkitt"/>
                <a:ea typeface="Rokkitt"/>
                <a:cs typeface="Rokkitt"/>
                <a:sym typeface="Rokkitt"/>
              </a:rPr>
              <a:t> t</a:t>
            </a:r>
            <a:r>
              <a:rPr lang="en-US" sz="3574" strike="noStrike" u="none">
                <a:solidFill>
                  <a:srgbClr val="000000"/>
                </a:solidFill>
                <a:latin typeface="Rokkitt"/>
                <a:ea typeface="Rokkitt"/>
                <a:cs typeface="Rokkitt"/>
                <a:sym typeface="Rokkitt"/>
              </a:rPr>
              <a:t>ừ mô hình đượ</a:t>
            </a:r>
            <a:r>
              <a:rPr lang="en-US" sz="3574" strike="noStrike" u="none">
                <a:solidFill>
                  <a:srgbClr val="000000"/>
                </a:solidFill>
                <a:latin typeface="Rokkitt"/>
                <a:ea typeface="Rokkitt"/>
                <a:cs typeface="Rokkitt"/>
                <a:sym typeface="Rokkitt"/>
              </a:rPr>
              <a:t>c </a:t>
            </a:r>
            <a:r>
              <a:rPr lang="en-US" sz="3574" strike="noStrike" u="none">
                <a:solidFill>
                  <a:srgbClr val="000000"/>
                </a:solidFill>
                <a:latin typeface="Rokkitt"/>
                <a:ea typeface="Rokkitt"/>
                <a:cs typeface="Rokkitt"/>
                <a:sym typeface="Rokkitt"/>
              </a:rPr>
              <a:t>kiể</a:t>
            </a:r>
            <a:r>
              <a:rPr lang="en-US" sz="3574" strike="noStrike" u="none">
                <a:solidFill>
                  <a:srgbClr val="000000"/>
                </a:solidFill>
                <a:latin typeface="Rokkitt"/>
                <a:ea typeface="Rokkitt"/>
                <a:cs typeface="Rokkitt"/>
                <a:sym typeface="Rokkitt"/>
              </a:rPr>
              <a:t>m </a:t>
            </a:r>
            <a:r>
              <a:rPr lang="en-US" sz="3574" strike="noStrike" u="none">
                <a:solidFill>
                  <a:srgbClr val="000000"/>
                </a:solidFill>
                <a:latin typeface="Rokkitt"/>
                <a:ea typeface="Rokkitt"/>
                <a:cs typeface="Rokkitt"/>
                <a:sym typeface="Rokkitt"/>
              </a:rPr>
              <a:t>tra</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ví </a:t>
            </a:r>
            <a:r>
              <a:rPr lang="en-US" sz="3574" strike="noStrike" u="none">
                <a:solidFill>
                  <a:srgbClr val="000000"/>
                </a:solidFill>
                <a:latin typeface="Rokkitt"/>
                <a:ea typeface="Rokkitt"/>
                <a:cs typeface="Rokkitt"/>
                <a:sym typeface="Rokkitt"/>
              </a:rPr>
              <a:t>d</a:t>
            </a:r>
            <a:r>
              <a:rPr lang="en-US" sz="3574" strike="noStrike" u="none">
                <a:solidFill>
                  <a:srgbClr val="000000"/>
                </a:solidFill>
                <a:latin typeface="Rokkitt"/>
                <a:ea typeface="Rokkitt"/>
                <a:cs typeface="Rokkitt"/>
                <a:sym typeface="Rokkitt"/>
              </a:rPr>
              <a:t>ụ:</a:t>
            </a:r>
            <a:r>
              <a:rPr lang="en-US" sz="3574" strike="noStrike" u="none">
                <a:solidFill>
                  <a:srgbClr val="000000"/>
                </a:solidFill>
                <a:latin typeface="Rokkitt"/>
                <a:ea typeface="Rokkitt"/>
                <a:cs typeface="Rokkitt"/>
                <a:sym typeface="Rokkitt"/>
              </a:rPr>
              <a:t> c</a:t>
            </a:r>
            <a:r>
              <a:rPr lang="en-US" sz="3574" strike="noStrike" u="none">
                <a:solidFill>
                  <a:srgbClr val="000000"/>
                </a:solidFill>
                <a:latin typeface="Rokkitt"/>
                <a:ea typeface="Rokkitt"/>
                <a:cs typeface="Rokkitt"/>
                <a:sym typeface="Rokkitt"/>
              </a:rPr>
              <a:t>hạy </a:t>
            </a:r>
            <a:r>
              <a:rPr lang="en-US" sz="3574" strike="noStrike" u="none">
                <a:solidFill>
                  <a:srgbClr val="000000"/>
                </a:solidFill>
                <a:latin typeface="Rokkitt"/>
                <a:ea typeface="Rokkitt"/>
                <a:cs typeface="Rokkitt"/>
                <a:sym typeface="Rokkitt"/>
              </a:rPr>
              <a:t>t</a:t>
            </a:r>
            <a:r>
              <a:rPr lang="en-US" sz="3574" strike="noStrike" u="none">
                <a:solidFill>
                  <a:srgbClr val="000000"/>
                </a:solidFill>
                <a:latin typeface="Rokkitt"/>
                <a:ea typeface="Rokkitt"/>
                <a:cs typeface="Rokkitt"/>
                <a:sym typeface="Rokkitt"/>
              </a:rPr>
              <a:t>hử lỗ</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 biê</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 dịch) và các thông báo lỗi</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được </a:t>
            </a:r>
            <a:r>
              <a:rPr lang="en-US" sz="3574" strike="noStrike" u="none">
                <a:solidFill>
                  <a:srgbClr val="000000"/>
                </a:solidFill>
                <a:latin typeface="Rokkitt"/>
                <a:ea typeface="Rokkitt"/>
                <a:cs typeface="Rokkitt"/>
                <a:sym typeface="Rokkitt"/>
              </a:rPr>
              <a:t>gử</a:t>
            </a:r>
            <a:r>
              <a:rPr lang="en-US" sz="3574" strike="noStrike" u="none">
                <a:solidFill>
                  <a:srgbClr val="000000"/>
                </a:solidFill>
                <a:latin typeface="Rokkitt"/>
                <a:ea typeface="Rokkitt"/>
                <a:cs typeface="Rokkitt"/>
                <a:sym typeface="Rokkitt"/>
              </a:rPr>
              <a:t>i ngược</a:t>
            </a:r>
            <a:r>
              <a:rPr lang="en-US" sz="3574" strike="noStrike" u="none">
                <a:solidFill>
                  <a:srgbClr val="000000"/>
                </a:solidFill>
                <a:latin typeface="Rokkitt"/>
                <a:ea typeface="Rokkitt"/>
                <a:cs typeface="Rokkitt"/>
                <a:sym typeface="Rokkitt"/>
              </a:rPr>
              <a:t> lại để mô hình tự sửa lỗi cho đến khi đạt yêu cầu.</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Gợi ý dựa trên khuôn mẫu (Template-based Prompting):</a:t>
            </a:r>
            <a:r>
              <a:rPr lang="en-US" sz="3574" strike="noStrike" u="none">
                <a:solidFill>
                  <a:srgbClr val="000000"/>
                </a:solidFill>
                <a:latin typeface="Rokkitt"/>
                <a:ea typeface="Rokkitt"/>
                <a:cs typeface="Rokkitt"/>
                <a:sym typeface="Rokkitt"/>
              </a:rPr>
              <a:t> Xác định cấu trúc cố định cho đầu ra bằng các biến giữ chỗ, giúp </a:t>
            </a:r>
            <a:r>
              <a:rPr lang="en-US" sz="3574" strike="noStrike" u="none">
                <a:solidFill>
                  <a:srgbClr val="000000"/>
                </a:solidFill>
                <a:latin typeface="Rokkitt"/>
                <a:ea typeface="Rokkitt"/>
                <a:cs typeface="Rokkitt"/>
                <a:sym typeface="Rokkitt"/>
              </a:rPr>
              <a:t>mô</a:t>
            </a:r>
            <a:r>
              <a:rPr lang="en-US" sz="3574" strike="noStrike" u="none">
                <a:solidFill>
                  <a:srgbClr val="000000"/>
                </a:solidFill>
                <a:latin typeface="Rokkitt"/>
                <a:ea typeface="Rokkitt"/>
                <a:cs typeface="Rokkitt"/>
                <a:sym typeface="Rokkitt"/>
              </a:rPr>
              <a:t> h</a:t>
            </a:r>
            <a:r>
              <a:rPr lang="en-US" sz="3574" strike="noStrike" u="none">
                <a:solidFill>
                  <a:srgbClr val="000000"/>
                </a:solidFill>
                <a:latin typeface="Rokkitt"/>
                <a:ea typeface="Rokkitt"/>
                <a:cs typeface="Rokkitt"/>
                <a:sym typeface="Rokkitt"/>
              </a:rPr>
              <a:t>ì</a:t>
            </a:r>
            <a:r>
              <a:rPr lang="en-US" sz="3574" strike="noStrike" u="none">
                <a:solidFill>
                  <a:srgbClr val="000000"/>
                </a:solidFill>
                <a:latin typeface="Rokkitt"/>
                <a:ea typeface="Rokkitt"/>
                <a:cs typeface="Rokkitt"/>
                <a:sym typeface="Rokkitt"/>
              </a:rPr>
              <a:t>nh </a:t>
            </a:r>
            <a:r>
              <a:rPr lang="en-US" sz="3574" strike="noStrike" u="none">
                <a:solidFill>
                  <a:srgbClr val="000000"/>
                </a:solidFill>
                <a:latin typeface="Rokkitt"/>
                <a:ea typeface="Rokkitt"/>
                <a:cs typeface="Rokkitt"/>
                <a:sym typeface="Rokkitt"/>
              </a:rPr>
              <a:t>t</a:t>
            </a:r>
            <a:r>
              <a:rPr lang="en-US" sz="3574" strike="noStrike" u="none">
                <a:solidFill>
                  <a:srgbClr val="000000"/>
                </a:solidFill>
                <a:latin typeface="Rokkitt"/>
                <a:ea typeface="Rokkitt"/>
                <a:cs typeface="Rokkitt"/>
                <a:sym typeface="Rokkitt"/>
              </a:rPr>
              <a:t>ập tr</a:t>
            </a:r>
            <a:r>
              <a:rPr lang="en-US" sz="3574" strike="noStrike" u="none">
                <a:solidFill>
                  <a:srgbClr val="000000"/>
                </a:solidFill>
                <a:latin typeface="Rokkitt"/>
                <a:ea typeface="Rokkitt"/>
                <a:cs typeface="Rokkitt"/>
                <a:sym typeface="Rokkitt"/>
              </a:rPr>
              <a:t>u</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g</a:t>
            </a:r>
            <a:r>
              <a:rPr lang="en-US" sz="3574" strike="noStrike" u="none">
                <a:solidFill>
                  <a:srgbClr val="000000"/>
                </a:solidFill>
                <a:latin typeface="Rokkitt"/>
                <a:ea typeface="Rokkitt"/>
                <a:cs typeface="Rokkitt"/>
                <a:sym typeface="Rokkitt"/>
              </a:rPr>
              <a:t> v</a:t>
            </a:r>
            <a:r>
              <a:rPr lang="en-US" sz="3574" strike="noStrike" u="none">
                <a:solidFill>
                  <a:srgbClr val="000000"/>
                </a:solidFill>
                <a:latin typeface="Rokkitt"/>
                <a:ea typeface="Rokkitt"/>
                <a:cs typeface="Rokkitt"/>
                <a:sym typeface="Rokkitt"/>
              </a:rPr>
              <a:t>ào</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v</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ệc</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đ</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ề</a:t>
            </a:r>
            <a:r>
              <a:rPr lang="en-US" sz="3574" strike="noStrike" u="none">
                <a:solidFill>
                  <a:srgbClr val="000000"/>
                </a:solidFill>
                <a:latin typeface="Rokkitt"/>
                <a:ea typeface="Rokkitt"/>
                <a:cs typeface="Rokkitt"/>
                <a:sym typeface="Rokkitt"/>
              </a:rPr>
              <a:t>n thông tin chính xác vào khung hình sẵn có.</a:t>
            </a:r>
          </a:p>
          <a:p>
            <a:pPr algn="l" marL="771757" indent="-385879" lvl="1">
              <a:lnSpc>
                <a:spcPts val="5004"/>
              </a:lnSpc>
              <a:buFont typeface="Arial"/>
              <a:buChar char="•"/>
            </a:pPr>
            <a:r>
              <a:rPr lang="en-US" b="true" sz="3574" strike="noStrike" u="none">
                <a:solidFill>
                  <a:srgbClr val="000000"/>
                </a:solidFill>
                <a:latin typeface="Rokkitt Bold"/>
                <a:ea typeface="Rokkitt Bold"/>
                <a:cs typeface="Rokkitt Bold"/>
                <a:sym typeface="Rokkitt Bold"/>
              </a:rPr>
              <a:t>Gợi ý chuỗi suy nghĩ (Chain-of-Thought - CoT):</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Dẫn</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dắt</a:t>
            </a:r>
            <a:r>
              <a:rPr lang="en-US" sz="3574" strike="noStrike" u="none">
                <a:solidFill>
                  <a:srgbClr val="000000"/>
                </a:solidFill>
                <a:latin typeface="Rokkitt"/>
                <a:ea typeface="Rokkitt"/>
                <a:cs typeface="Rokkitt"/>
                <a:sym typeface="Rokkitt"/>
              </a:rPr>
              <a:t> mô </a:t>
            </a:r>
            <a:r>
              <a:rPr lang="en-US" sz="3574" strike="noStrike" u="none">
                <a:solidFill>
                  <a:srgbClr val="000000"/>
                </a:solidFill>
                <a:latin typeface="Rokkitt"/>
                <a:ea typeface="Rokkitt"/>
                <a:cs typeface="Rokkitt"/>
                <a:sym typeface="Rokkitt"/>
              </a:rPr>
              <a:t>hì</a:t>
            </a:r>
            <a:r>
              <a:rPr lang="en-US" sz="3574" strike="noStrike" u="none">
                <a:solidFill>
                  <a:srgbClr val="000000"/>
                </a:solidFill>
                <a:latin typeface="Rokkitt"/>
                <a:ea typeface="Rokkitt"/>
                <a:cs typeface="Rokkitt"/>
                <a:sym typeface="Rokkitt"/>
              </a:rPr>
              <a:t>n</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 qua </a:t>
            </a:r>
            <a:r>
              <a:rPr lang="en-US" sz="3574" strike="noStrike" u="none">
                <a:solidFill>
                  <a:srgbClr val="000000"/>
                </a:solidFill>
                <a:latin typeface="Rokkitt"/>
                <a:ea typeface="Rokkitt"/>
                <a:cs typeface="Rokkitt"/>
                <a:sym typeface="Rokkitt"/>
              </a:rPr>
              <a:t>từ</a:t>
            </a:r>
            <a:r>
              <a:rPr lang="en-US" sz="3574" strike="noStrike" u="none">
                <a:solidFill>
                  <a:srgbClr val="000000"/>
                </a:solidFill>
                <a:latin typeface="Rokkitt"/>
                <a:ea typeface="Rokkitt"/>
                <a:cs typeface="Rokkitt"/>
                <a:sym typeface="Rokkitt"/>
              </a:rPr>
              <a:t>ng bước lập luận logic trước khi đưa ra câu trả lời cuối cùng. Trong lập trình, điều này giúp chia nhỏ các bài toán phức tạp thành các bước thực thi tuần tự.</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664014" y="2384472"/>
            <a:ext cx="6959972" cy="3639978"/>
            <a:chOff x="0" y="0"/>
            <a:chExt cx="9279963" cy="4853304"/>
          </a:xfrm>
        </p:grpSpPr>
        <p:grpSp>
          <p:nvGrpSpPr>
            <p:cNvPr name="Group 3" id="3"/>
            <p:cNvGrpSpPr/>
            <p:nvPr/>
          </p:nvGrpSpPr>
          <p:grpSpPr>
            <a:xfrm rot="0">
              <a:off x="122592" y="0"/>
              <a:ext cx="9157370" cy="1791455"/>
              <a:chOff x="0" y="0"/>
              <a:chExt cx="534113" cy="104488"/>
            </a:xfrm>
          </p:grpSpPr>
          <p:sp>
            <p:nvSpPr>
              <p:cNvPr name="Freeform 4" id="4"/>
              <p:cNvSpPr/>
              <p:nvPr/>
            </p:nvSpPr>
            <p:spPr>
              <a:xfrm flipH="false" flipV="false" rot="0">
                <a:off x="0" y="0"/>
                <a:ext cx="534113" cy="104488"/>
              </a:xfrm>
              <a:custGeom>
                <a:avLst/>
                <a:gdLst/>
                <a:ahLst/>
                <a:cxnLst/>
                <a:rect r="r" b="b" t="t" l="l"/>
                <a:pathLst>
                  <a:path h="104488" w="534113">
                    <a:moveTo>
                      <a:pt x="0" y="0"/>
                    </a:moveTo>
                    <a:lnTo>
                      <a:pt x="534113" y="0"/>
                    </a:lnTo>
                    <a:lnTo>
                      <a:pt x="534113"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534113"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9279963" cy="4799168"/>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8.5. Kết luận</a:t>
              </a:r>
            </a:p>
            <a:p>
              <a:pPr algn="ctr">
                <a:lnSpc>
                  <a:spcPts val="9756"/>
                </a:lnSpc>
              </a:pPr>
            </a:p>
            <a:p>
              <a:pPr algn="ctr">
                <a:lnSpc>
                  <a:spcPts val="9756"/>
                </a:lnSpc>
              </a:pPr>
            </a:p>
          </p:txBody>
        </p:sp>
      </p:grpSp>
      <p:sp>
        <p:nvSpPr>
          <p:cNvPr name="TextBox 7" id="7"/>
          <p:cNvSpPr txBox="true"/>
          <p:nvPr/>
        </p:nvSpPr>
        <p:spPr>
          <a:xfrm rot="0">
            <a:off x="744240" y="3942388"/>
            <a:ext cx="16799519" cy="3757149"/>
          </a:xfrm>
          <a:prstGeom prst="rect">
            <a:avLst/>
          </a:prstGeom>
        </p:spPr>
        <p:txBody>
          <a:bodyPr anchor="t" rtlCol="false" tIns="0" lIns="0" bIns="0" rIns="0">
            <a:spAutoFit/>
          </a:bodyPr>
          <a:lstStyle/>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Prompt Engineering khô</a:t>
            </a:r>
            <a:r>
              <a:rPr lang="en-US" sz="3574" strike="noStrike" u="none">
                <a:solidFill>
                  <a:srgbClr val="000000"/>
                </a:solidFill>
                <a:latin typeface="Rokkitt"/>
                <a:ea typeface="Rokkitt"/>
                <a:cs typeface="Rokkitt"/>
                <a:sym typeface="Rokkitt"/>
              </a:rPr>
              <a:t>ng</a:t>
            </a:r>
            <a:r>
              <a:rPr lang="en-US" sz="3574" strike="noStrike" u="none">
                <a:solidFill>
                  <a:srgbClr val="000000"/>
                </a:solidFill>
                <a:latin typeface="Rokkitt"/>
                <a:ea typeface="Rokkitt"/>
                <a:cs typeface="Rokkitt"/>
                <a:sym typeface="Rokkitt"/>
              </a:rPr>
              <a:t> chỉ </a:t>
            </a:r>
            <a:r>
              <a:rPr lang="en-US" sz="3574" strike="noStrike" u="none">
                <a:solidFill>
                  <a:srgbClr val="000000"/>
                </a:solidFill>
                <a:latin typeface="Rokkitt"/>
                <a:ea typeface="Rokkitt"/>
                <a:cs typeface="Rokkitt"/>
                <a:sym typeface="Rokkitt"/>
              </a:rPr>
              <a:t>là đặt</a:t>
            </a:r>
            <a:r>
              <a:rPr lang="en-US" sz="3574" strike="noStrike" u="none">
                <a:solidFill>
                  <a:srgbClr val="000000"/>
                </a:solidFill>
                <a:latin typeface="Rokkitt"/>
                <a:ea typeface="Rokkitt"/>
                <a:cs typeface="Rokkitt"/>
                <a:sym typeface="Rokkitt"/>
              </a:rPr>
              <a:t> câu hỏ</a:t>
            </a:r>
            <a:r>
              <a:rPr lang="en-US" sz="3574" strike="noStrike" u="none">
                <a:solidFill>
                  <a:srgbClr val="000000"/>
                </a:solidFill>
                <a:latin typeface="Rokkitt"/>
                <a:ea typeface="Rokkitt"/>
                <a:cs typeface="Rokkitt"/>
                <a:sym typeface="Rokkitt"/>
              </a:rPr>
              <a:t>i</a:t>
            </a:r>
            <a:r>
              <a:rPr lang="en-US" sz="3574" strike="noStrike" u="none">
                <a:solidFill>
                  <a:srgbClr val="000000"/>
                </a:solidFill>
                <a:latin typeface="Rokkitt"/>
                <a:ea typeface="Rokkitt"/>
                <a:cs typeface="Rokkitt"/>
                <a:sym typeface="Rokkitt"/>
              </a:rPr>
              <a:t> mà là</a:t>
            </a:r>
            <a:r>
              <a:rPr lang="en-US" sz="3574" strike="noStrike" u="none">
                <a:solidFill>
                  <a:srgbClr val="000000"/>
                </a:solidFill>
                <a:latin typeface="Rokkitt"/>
                <a:ea typeface="Rokkitt"/>
                <a:cs typeface="Rokkitt"/>
                <a:sym typeface="Rokkitt"/>
              </a:rPr>
              <a:t> q</a:t>
            </a:r>
            <a:r>
              <a:rPr lang="en-US" sz="3574" strike="noStrike" u="none">
                <a:solidFill>
                  <a:srgbClr val="000000"/>
                </a:solidFill>
                <a:latin typeface="Rokkitt"/>
                <a:ea typeface="Rokkitt"/>
                <a:cs typeface="Rokkitt"/>
                <a:sym typeface="Rokkitt"/>
              </a:rPr>
              <a:t>uy trình t</a:t>
            </a:r>
            <a:r>
              <a:rPr lang="en-US" sz="3574" strike="noStrike" u="none">
                <a:solidFill>
                  <a:srgbClr val="000000"/>
                </a:solidFill>
                <a:latin typeface="Rokkitt"/>
                <a:ea typeface="Rokkitt"/>
                <a:cs typeface="Rokkitt"/>
                <a:sym typeface="Rokkitt"/>
              </a:rPr>
              <a:t>hiế</a:t>
            </a:r>
            <a:r>
              <a:rPr lang="en-US" sz="3574" strike="noStrike" u="none">
                <a:solidFill>
                  <a:srgbClr val="000000"/>
                </a:solidFill>
                <a:latin typeface="Rokkitt"/>
                <a:ea typeface="Rokkitt"/>
                <a:cs typeface="Rokkitt"/>
                <a:sym typeface="Rokkitt"/>
              </a:rPr>
              <a:t>t</a:t>
            </a:r>
            <a:r>
              <a:rPr lang="en-US" sz="3574" strike="noStrike" u="none">
                <a:solidFill>
                  <a:srgbClr val="000000"/>
                </a:solidFill>
                <a:latin typeface="Rokkitt"/>
                <a:ea typeface="Rokkitt"/>
                <a:cs typeface="Rokkitt"/>
                <a:sym typeface="Rokkitt"/>
              </a:rPr>
              <a:t> kế</a:t>
            </a:r>
            <a:r>
              <a:rPr lang="en-US" sz="3574" strike="noStrike" u="none">
                <a:solidFill>
                  <a:srgbClr val="000000"/>
                </a:solidFill>
                <a:latin typeface="Rokkitt"/>
                <a:ea typeface="Rokkitt"/>
                <a:cs typeface="Rokkitt"/>
                <a:sym typeface="Rokkitt"/>
              </a:rPr>
              <a:t> ngữ</a:t>
            </a:r>
            <a:r>
              <a:rPr lang="en-US" sz="3574" strike="noStrike" u="none">
                <a:solidFill>
                  <a:srgbClr val="000000"/>
                </a:solidFill>
                <a:latin typeface="Rokkitt"/>
                <a:ea typeface="Rokkitt"/>
                <a:cs typeface="Rokkitt"/>
                <a:sym typeface="Rokkitt"/>
              </a:rPr>
              <a:t> cảnh có hệ thống.</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S</a:t>
            </a:r>
            <a:r>
              <a:rPr lang="en-US" sz="3574" strike="noStrike" u="none">
                <a:solidFill>
                  <a:srgbClr val="000000"/>
                </a:solidFill>
                <a:latin typeface="Rokkitt"/>
                <a:ea typeface="Rokkitt"/>
                <a:cs typeface="Rokkitt"/>
                <a:sym typeface="Rokkitt"/>
              </a:rPr>
              <a:t>ử dụng mã nguồn làm ví dụ minh họa trong prompt hiệu quả hơn ngôn ngữ tự nhiên, vì LLM được huấn luyện chuyên sâu trên dữ liệu code.</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Với dự án lớn và chuyên biệt, kết hợp prompt với Fine-tuning là hướng tiếp theo cần xem xét.</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39985" y="3224791"/>
            <a:ext cx="16608030" cy="3916929"/>
            <a:chOff x="0" y="0"/>
            <a:chExt cx="2142977" cy="505412"/>
          </a:xfrm>
        </p:grpSpPr>
        <p:sp>
          <p:nvSpPr>
            <p:cNvPr name="Freeform 3" id="3"/>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4" id="4"/>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5" id="5"/>
          <p:cNvGrpSpPr/>
          <p:nvPr/>
        </p:nvGrpSpPr>
        <p:grpSpPr>
          <a:xfrm rot="0">
            <a:off x="839985" y="3224791"/>
            <a:ext cx="16608030" cy="1742925"/>
            <a:chOff x="0" y="0"/>
            <a:chExt cx="2142977" cy="224894"/>
          </a:xfrm>
        </p:grpSpPr>
        <p:sp>
          <p:nvSpPr>
            <p:cNvPr name="Freeform 6" id="6"/>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7" id="7"/>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8" id="8"/>
          <p:cNvSpPr txBox="true"/>
          <p:nvPr/>
        </p:nvSpPr>
        <p:spPr>
          <a:xfrm rot="0">
            <a:off x="1158183" y="5040381"/>
            <a:ext cx="16289832" cy="1746598"/>
          </a:xfrm>
          <a:prstGeom prst="rect">
            <a:avLst/>
          </a:prstGeom>
        </p:spPr>
        <p:txBody>
          <a:bodyPr anchor="t" rtlCol="false" tIns="0" lIns="0" bIns="0" rIns="0">
            <a:spAutoFit/>
          </a:bodyPr>
          <a:lstStyle/>
          <a:p>
            <a:pPr algn="ctr">
              <a:lnSpc>
                <a:spcPts val="7088"/>
              </a:lnSpc>
            </a:pPr>
            <a:r>
              <a:rPr lang="en-US" b="true" sz="4694" spc="239">
                <a:solidFill>
                  <a:srgbClr val="000000"/>
                </a:solidFill>
                <a:latin typeface="Tomorrow Bold"/>
                <a:ea typeface="Tomorrow Bold"/>
                <a:cs typeface="Tomorrow Bold"/>
                <a:sym typeface="Tomorrow Bold"/>
              </a:rPr>
              <a:t>KỸ THUẬT GỢI Ý NÂNG CAO CHO CÁC TÁC VỤ LIÊN QUAN ĐẾN LẬP TRÌNH </a:t>
            </a:r>
          </a:p>
        </p:txBody>
      </p:sp>
      <p:sp>
        <p:nvSpPr>
          <p:cNvPr name="TextBox 9" id="9"/>
          <p:cNvSpPr txBox="true"/>
          <p:nvPr/>
        </p:nvSpPr>
        <p:spPr>
          <a:xfrm rot="0">
            <a:off x="7744542" y="2690307"/>
            <a:ext cx="2798915" cy="2283457"/>
          </a:xfrm>
          <a:prstGeom prst="rect">
            <a:avLst/>
          </a:prstGeom>
        </p:spPr>
        <p:txBody>
          <a:bodyPr anchor="t" rtlCol="false" tIns="0" lIns="0" bIns="0" rIns="0">
            <a:spAutoFit/>
          </a:bodyPr>
          <a:lstStyle/>
          <a:p>
            <a:pPr algn="ctr">
              <a:lnSpc>
                <a:spcPts val="18891"/>
              </a:lnSpc>
            </a:pPr>
            <a:r>
              <a:rPr lang="en-US" b="true" sz="12851">
                <a:solidFill>
                  <a:srgbClr val="000000"/>
                </a:solidFill>
                <a:latin typeface="Tomorrow Bold"/>
                <a:ea typeface="Tomorrow Bold"/>
                <a:cs typeface="Tomorrow Bold"/>
                <a:sym typeface="Tomorrow Bold"/>
              </a:rPr>
              <a:t>09</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27907" y="2112534"/>
            <a:ext cx="17032187" cy="1215667"/>
            <a:chOff x="0" y="0"/>
            <a:chExt cx="1324559" cy="94540"/>
          </a:xfrm>
        </p:grpSpPr>
        <p:sp>
          <p:nvSpPr>
            <p:cNvPr name="Freeform 3" id="3"/>
            <p:cNvSpPr/>
            <p:nvPr/>
          </p:nvSpPr>
          <p:spPr>
            <a:xfrm flipH="false" flipV="false" rot="0">
              <a:off x="0" y="0"/>
              <a:ext cx="1324559" cy="94540"/>
            </a:xfrm>
            <a:custGeom>
              <a:avLst/>
              <a:gdLst/>
              <a:ahLst/>
              <a:cxnLst/>
              <a:rect r="r" b="b" t="t" l="l"/>
              <a:pathLst>
                <a:path h="94540" w="1324559">
                  <a:moveTo>
                    <a:pt x="0" y="0"/>
                  </a:moveTo>
                  <a:lnTo>
                    <a:pt x="1324559" y="0"/>
                  </a:lnTo>
                  <a:lnTo>
                    <a:pt x="1324559" y="94540"/>
                  </a:lnTo>
                  <a:lnTo>
                    <a:pt x="0" y="94540"/>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161215"/>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1361658" y="2127556"/>
            <a:ext cx="15564683" cy="1941127"/>
          </a:xfrm>
          <a:prstGeom prst="rect">
            <a:avLst/>
          </a:prstGeom>
        </p:spPr>
        <p:txBody>
          <a:bodyPr anchor="t" rtlCol="false" tIns="0" lIns="0" bIns="0" rIns="0">
            <a:spAutoFit/>
          </a:bodyPr>
          <a:lstStyle/>
          <a:p>
            <a:pPr algn="ctr">
              <a:lnSpc>
                <a:spcPts val="7845"/>
              </a:lnSpc>
            </a:pPr>
            <a:r>
              <a:rPr lang="en-US" sz="5336" b="true">
                <a:solidFill>
                  <a:srgbClr val="000000"/>
                </a:solidFill>
                <a:latin typeface="Tomorrow Bold"/>
                <a:ea typeface="Tomorrow Bold"/>
                <a:cs typeface="Tomorrow Bold"/>
                <a:sym typeface="Tomorrow Bold"/>
              </a:rPr>
              <a:t>9.1. Đặt vấn đề: Mở rộng phạm vi triển khai</a:t>
            </a:r>
          </a:p>
          <a:p>
            <a:pPr algn="ctr">
              <a:lnSpc>
                <a:spcPts val="7845"/>
              </a:lnSpc>
            </a:pPr>
          </a:p>
        </p:txBody>
      </p:sp>
      <p:sp>
        <p:nvSpPr>
          <p:cNvPr name="TextBox 6" id="6"/>
          <p:cNvSpPr txBox="true"/>
          <p:nvPr/>
        </p:nvSpPr>
        <p:spPr>
          <a:xfrm rot="0">
            <a:off x="566033" y="3465635"/>
            <a:ext cx="17155933" cy="5792665"/>
          </a:xfrm>
          <a:prstGeom prst="rect">
            <a:avLst/>
          </a:prstGeom>
        </p:spPr>
        <p:txBody>
          <a:bodyPr anchor="t" rtlCol="false" tIns="0" lIns="0" bIns="0" rIns="0">
            <a:spAutoFit/>
          </a:bodyPr>
          <a:lstStyle/>
          <a:p>
            <a:pPr algn="l">
              <a:lnSpc>
                <a:spcPts val="4629"/>
              </a:lnSpc>
            </a:pPr>
            <a:r>
              <a:rPr lang="en-US" sz="3307">
                <a:solidFill>
                  <a:srgbClr val="000000"/>
                </a:solidFill>
                <a:latin typeface="Rokkitt"/>
                <a:ea typeface="Rokkitt"/>
                <a:cs typeface="Rokkitt"/>
                <a:sym typeface="Rokkitt"/>
              </a:rPr>
              <a:t>Thực</a:t>
            </a:r>
            <a:r>
              <a:rPr lang="en-US" sz="3307" strike="noStrike" u="none">
                <a:solidFill>
                  <a:srgbClr val="000000"/>
                </a:solidFill>
                <a:latin typeface="Rokkitt"/>
                <a:ea typeface="Rokkitt"/>
                <a:cs typeface="Rokkitt"/>
                <a:sym typeface="Rokkitt"/>
              </a:rPr>
              <a:t> t</a:t>
            </a:r>
            <a:r>
              <a:rPr lang="en-US" sz="3307" strike="noStrike" u="none">
                <a:solidFill>
                  <a:srgbClr val="000000"/>
                </a:solidFill>
                <a:latin typeface="Rokkitt"/>
                <a:ea typeface="Rokkitt"/>
                <a:cs typeface="Rokkitt"/>
                <a:sym typeface="Rokkitt"/>
              </a:rPr>
              <a:t>ế</a:t>
            </a:r>
            <a:r>
              <a:rPr lang="en-US" sz="3307" strike="noStrike" u="none">
                <a:solidFill>
                  <a:srgbClr val="000000"/>
                </a:solidFill>
                <a:latin typeface="Rokkitt"/>
                <a:ea typeface="Rokkitt"/>
                <a:cs typeface="Rokkitt"/>
                <a:sym typeface="Rokkitt"/>
              </a:rPr>
              <a:t> l</a:t>
            </a:r>
            <a:r>
              <a:rPr lang="en-US" sz="3307" strike="noStrike" u="none">
                <a:solidFill>
                  <a:srgbClr val="000000"/>
                </a:solidFill>
                <a:latin typeface="Rokkitt"/>
                <a:ea typeface="Rokkitt"/>
                <a:cs typeface="Rokkitt"/>
                <a:sym typeface="Rokkitt"/>
              </a:rPr>
              <a:t>ậ</a:t>
            </a:r>
            <a:r>
              <a:rPr lang="en-US" sz="3307" strike="noStrike" u="none">
                <a:solidFill>
                  <a:srgbClr val="000000"/>
                </a:solidFill>
                <a:latin typeface="Rokkitt"/>
                <a:ea typeface="Rokkitt"/>
                <a:cs typeface="Rokkitt"/>
                <a:sym typeface="Rokkitt"/>
              </a:rPr>
              <a:t>p </a:t>
            </a:r>
            <a:r>
              <a:rPr lang="en-US" sz="3307" strike="noStrike" u="none">
                <a:solidFill>
                  <a:srgbClr val="000000"/>
                </a:solidFill>
                <a:latin typeface="Rokkitt"/>
                <a:ea typeface="Rokkitt"/>
                <a:cs typeface="Rokkitt"/>
                <a:sym typeface="Rokkitt"/>
              </a:rPr>
              <a:t>trì</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 th</a:t>
            </a:r>
            <a:r>
              <a:rPr lang="en-US" sz="3307" strike="noStrike" u="none">
                <a:solidFill>
                  <a:srgbClr val="000000"/>
                </a:solidFill>
                <a:latin typeface="Rokkitt"/>
                <a:ea typeface="Rokkitt"/>
                <a:cs typeface="Rokkitt"/>
                <a:sym typeface="Rokkitt"/>
              </a:rPr>
              <a:t>ườn</a:t>
            </a:r>
            <a:r>
              <a:rPr lang="en-US" sz="3307" strike="noStrike" u="none">
                <a:solidFill>
                  <a:srgbClr val="000000"/>
                </a:solidFill>
                <a:latin typeface="Rokkitt"/>
                <a:ea typeface="Rokkitt"/>
                <a:cs typeface="Rokkitt"/>
                <a:sym typeface="Rokkitt"/>
              </a:rPr>
              <a:t>g </a:t>
            </a:r>
            <a:r>
              <a:rPr lang="en-US" sz="3307" strike="noStrike" u="none">
                <a:solidFill>
                  <a:srgbClr val="000000"/>
                </a:solidFill>
                <a:latin typeface="Rokkitt"/>
                <a:ea typeface="Rokkitt"/>
                <a:cs typeface="Rokkitt"/>
                <a:sym typeface="Rokkitt"/>
              </a:rPr>
              <a:t>phứ</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ạp</a:t>
            </a:r>
            <a:r>
              <a:rPr lang="en-US" sz="3307" strike="noStrike" u="none">
                <a:solidFill>
                  <a:srgbClr val="000000"/>
                </a:solidFill>
                <a:latin typeface="Rokkitt"/>
                <a:ea typeface="Rokkitt"/>
                <a:cs typeface="Rokkitt"/>
                <a:sym typeface="Rokkitt"/>
              </a:rPr>
              <a:t> h</a:t>
            </a:r>
            <a:r>
              <a:rPr lang="en-US" sz="3307" strike="noStrike" u="none">
                <a:solidFill>
                  <a:srgbClr val="000000"/>
                </a:solidFill>
                <a:latin typeface="Rokkitt"/>
                <a:ea typeface="Rokkitt"/>
                <a:cs typeface="Rokkitt"/>
                <a:sym typeface="Rokkitt"/>
              </a:rPr>
              <a:t>ơn n</a:t>
            </a:r>
            <a:r>
              <a:rPr lang="en-US" sz="3307" strike="noStrike" u="none">
                <a:solidFill>
                  <a:srgbClr val="000000"/>
                </a:solidFill>
                <a:latin typeface="Rokkitt"/>
                <a:ea typeface="Rokkitt"/>
                <a:cs typeface="Rokkitt"/>
                <a:sym typeface="Rokkitt"/>
              </a:rPr>
              <a:t>hi</a:t>
            </a:r>
            <a:r>
              <a:rPr lang="en-US" sz="3307" strike="noStrike" u="none">
                <a:solidFill>
                  <a:srgbClr val="000000"/>
                </a:solidFill>
                <a:latin typeface="Rokkitt"/>
                <a:ea typeface="Rokkitt"/>
                <a:cs typeface="Rokkitt"/>
                <a:sym typeface="Rokkitt"/>
              </a:rPr>
              <a:t>ều</a:t>
            </a:r>
            <a:r>
              <a:rPr lang="en-US" sz="3307" strike="noStrike" u="none">
                <a:solidFill>
                  <a:srgbClr val="000000"/>
                </a:solidFill>
                <a:latin typeface="Rokkitt"/>
                <a:ea typeface="Rokkitt"/>
                <a:cs typeface="Rokkitt"/>
                <a:sym typeface="Rokkitt"/>
              </a:rPr>
              <a:t> s</a:t>
            </a:r>
            <a:r>
              <a:rPr lang="en-US" sz="3307" strike="noStrike" u="none">
                <a:solidFill>
                  <a:srgbClr val="000000"/>
                </a:solidFill>
                <a:latin typeface="Rokkitt"/>
                <a:ea typeface="Rokkitt"/>
                <a:cs typeface="Rokkitt"/>
                <a:sym typeface="Rokkitt"/>
              </a:rPr>
              <a:t>o</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vớ</a:t>
            </a:r>
            <a:r>
              <a:rPr lang="en-US" sz="3307" strike="noStrike" u="none">
                <a:solidFill>
                  <a:srgbClr val="000000"/>
                </a:solidFill>
                <a:latin typeface="Rokkitt"/>
                <a:ea typeface="Rokkitt"/>
                <a:cs typeface="Rokkitt"/>
                <a:sym typeface="Rokkitt"/>
              </a:rPr>
              <a:t>i c</a:t>
            </a:r>
            <a:r>
              <a:rPr lang="en-US" sz="3307" strike="noStrike" u="none">
                <a:solidFill>
                  <a:srgbClr val="000000"/>
                </a:solidFill>
                <a:latin typeface="Rokkitt"/>
                <a:ea typeface="Rokkitt"/>
                <a:cs typeface="Rokkitt"/>
                <a:sym typeface="Rokkitt"/>
              </a:rPr>
              <a:t>ác</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hàm</a:t>
            </a:r>
            <a:r>
              <a:rPr lang="en-US" sz="3307" strike="noStrike" u="none">
                <a:solidFill>
                  <a:srgbClr val="000000"/>
                </a:solidFill>
                <a:latin typeface="Rokkitt"/>
                <a:ea typeface="Rokkitt"/>
                <a:cs typeface="Rokkitt"/>
                <a:sym typeface="Rokkitt"/>
              </a:rPr>
              <a:t> ng</a:t>
            </a:r>
            <a:r>
              <a:rPr lang="en-US" sz="3307" strike="noStrike" u="none">
                <a:solidFill>
                  <a:srgbClr val="000000"/>
                </a:solidFill>
                <a:latin typeface="Rokkitt"/>
                <a:ea typeface="Rokkitt"/>
                <a:cs typeface="Rokkitt"/>
                <a:sym typeface="Rokkitt"/>
              </a:rPr>
              <a:t>ắn vài</a:t>
            </a:r>
            <a:r>
              <a:rPr lang="en-US" sz="3307" strike="noStrike" u="none">
                <a:solidFill>
                  <a:srgbClr val="000000"/>
                </a:solidFill>
                <a:latin typeface="Rokkitt"/>
                <a:ea typeface="Rokkitt"/>
                <a:cs typeface="Rokkitt"/>
                <a:sym typeface="Rokkitt"/>
              </a:rPr>
              <a:t> dòng </a:t>
            </a:r>
            <a:r>
              <a:rPr lang="en-US" sz="3307" strike="noStrike" u="none">
                <a:solidFill>
                  <a:srgbClr val="000000"/>
                </a:solidFill>
                <a:latin typeface="Rokkitt"/>
                <a:ea typeface="Rokkitt"/>
                <a:cs typeface="Rokkitt"/>
                <a:sym typeface="Rokkitt"/>
              </a:rPr>
              <a:t>mã, đặ</a:t>
            </a:r>
            <a:r>
              <a:rPr lang="en-US" sz="3307" strike="noStrike" u="none">
                <a:solidFill>
                  <a:srgbClr val="000000"/>
                </a:solidFill>
                <a:latin typeface="Rokkitt"/>
                <a:ea typeface="Rokkitt"/>
                <a:cs typeface="Rokkitt"/>
                <a:sym typeface="Rokkitt"/>
              </a:rPr>
              <a:t>c </a:t>
            </a:r>
            <a:r>
              <a:rPr lang="en-US" sz="3307" strike="noStrike" u="none">
                <a:solidFill>
                  <a:srgbClr val="000000"/>
                </a:solidFill>
                <a:latin typeface="Rokkitt"/>
                <a:ea typeface="Rokkitt"/>
                <a:cs typeface="Rokkitt"/>
                <a:sym typeface="Rokkitt"/>
              </a:rPr>
              <a:t>biệ</a:t>
            </a:r>
            <a:r>
              <a:rPr lang="en-US" sz="3307" strike="noStrike" u="none">
                <a:solidFill>
                  <a:srgbClr val="000000"/>
                </a:solidFill>
                <a:latin typeface="Rokkitt"/>
                <a:ea typeface="Rokkitt"/>
                <a:cs typeface="Rokkitt"/>
                <a:sym typeface="Rokkitt"/>
              </a:rPr>
              <a:t>t </a:t>
            </a:r>
            <a:r>
              <a:rPr lang="en-US" sz="3307" strike="noStrike" u="none">
                <a:solidFill>
                  <a:srgbClr val="000000"/>
                </a:solidFill>
                <a:latin typeface="Rokkitt"/>
                <a:ea typeface="Rokkitt"/>
                <a:cs typeface="Rokkitt"/>
                <a:sym typeface="Rokkitt"/>
              </a:rPr>
              <a:t>k</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i</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phải xử</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lý</a:t>
            </a:r>
            <a:r>
              <a:rPr lang="en-US" sz="3307" strike="noStrike" u="none">
                <a:solidFill>
                  <a:srgbClr val="000000"/>
                </a:solidFill>
                <a:latin typeface="Rokkitt"/>
                <a:ea typeface="Rokkitt"/>
                <a:cs typeface="Rokkitt"/>
                <a:sym typeface="Rokkitt"/>
              </a:rPr>
              <a:t> c</a:t>
            </a:r>
            <a:r>
              <a:rPr lang="en-US" sz="3307" strike="noStrike" u="none">
                <a:solidFill>
                  <a:srgbClr val="000000"/>
                </a:solidFill>
                <a:latin typeface="Rokkitt"/>
                <a:ea typeface="Rokkitt"/>
                <a:cs typeface="Rokkitt"/>
                <a:sym typeface="Rokkitt"/>
              </a:rPr>
              <a:t>ác</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yêu</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cầ</a:t>
            </a:r>
            <a:r>
              <a:rPr lang="en-US" sz="3307" strike="noStrike" u="none">
                <a:solidFill>
                  <a:srgbClr val="000000"/>
                </a:solidFill>
                <a:latin typeface="Rokkitt"/>
                <a:ea typeface="Rokkitt"/>
                <a:cs typeface="Rokkitt"/>
                <a:sym typeface="Rokkitt"/>
              </a:rPr>
              <a:t>u </a:t>
            </a:r>
            <a:r>
              <a:rPr lang="en-US" sz="3307" strike="noStrike" u="none">
                <a:solidFill>
                  <a:srgbClr val="000000"/>
                </a:solidFill>
                <a:latin typeface="Rokkitt"/>
                <a:ea typeface="Rokkitt"/>
                <a:cs typeface="Rokkitt"/>
                <a:sym typeface="Rokkitt"/>
              </a:rPr>
              <a:t>như</a:t>
            </a:r>
            <a:r>
              <a:rPr lang="en-US" sz="3307" strike="noStrike" u="none">
                <a:solidFill>
                  <a:srgbClr val="000000"/>
                </a:solidFill>
                <a:latin typeface="Rokkitt"/>
                <a:ea typeface="Rokkitt"/>
                <a:cs typeface="Rokkitt"/>
                <a:sym typeface="Rokkitt"/>
              </a:rPr>
              <a:t> cần xử lý </a:t>
            </a:r>
            <a:r>
              <a:rPr lang="en-US" sz="3307" strike="noStrike" u="none">
                <a:solidFill>
                  <a:srgbClr val="000000"/>
                </a:solidFill>
                <a:latin typeface="Rokkitt"/>
                <a:ea typeface="Rokkitt"/>
                <a:cs typeface="Rokkitt"/>
                <a:sym typeface="Rokkitt"/>
              </a:rPr>
              <a:t>ép k</a:t>
            </a:r>
            <a:r>
              <a:rPr lang="en-US" sz="3307" strike="noStrike" u="none">
                <a:solidFill>
                  <a:srgbClr val="000000"/>
                </a:solidFill>
                <a:latin typeface="Rokkitt"/>
                <a:ea typeface="Rokkitt"/>
                <a:cs typeface="Rokkitt"/>
                <a:sym typeface="Rokkitt"/>
              </a:rPr>
              <a:t>i</a:t>
            </a:r>
            <a:r>
              <a:rPr lang="en-US" sz="3307" strike="noStrike" u="none">
                <a:solidFill>
                  <a:srgbClr val="000000"/>
                </a:solidFill>
                <a:latin typeface="Rokkitt"/>
                <a:ea typeface="Rokkitt"/>
                <a:cs typeface="Rokkitt"/>
                <a:sym typeface="Rokkitt"/>
              </a:rPr>
              <a:t>ể</a:t>
            </a:r>
            <a:r>
              <a:rPr lang="en-US" sz="3307" strike="noStrike" u="none">
                <a:solidFill>
                  <a:srgbClr val="000000"/>
                </a:solidFill>
                <a:latin typeface="Rokkitt"/>
                <a:ea typeface="Rokkitt"/>
                <a:cs typeface="Rokkitt"/>
                <a:sym typeface="Rokkitt"/>
              </a:rPr>
              <a:t>u</a:t>
            </a:r>
            <a:r>
              <a:rPr lang="en-US" sz="3307" strike="noStrike" u="none">
                <a:solidFill>
                  <a:srgbClr val="000000"/>
                </a:solidFill>
                <a:latin typeface="Rokkitt"/>
                <a:ea typeface="Rokkitt"/>
                <a:cs typeface="Rokkitt"/>
                <a:sym typeface="Rokkitt"/>
              </a:rPr>
              <a:t>, các trường hợp</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rẽ</a:t>
            </a:r>
            <a:r>
              <a:rPr lang="en-US" sz="3307" strike="noStrike" u="none">
                <a:solidFill>
                  <a:srgbClr val="000000"/>
                </a:solidFill>
                <a:latin typeface="Rokkitt"/>
                <a:ea typeface="Rokkitt"/>
                <a:cs typeface="Rokkitt"/>
                <a:sym typeface="Rokkitt"/>
              </a:rPr>
              <a:t> n</a:t>
            </a:r>
            <a:r>
              <a:rPr lang="en-US" sz="3307" strike="noStrike" u="none">
                <a:solidFill>
                  <a:srgbClr val="000000"/>
                </a:solidFill>
                <a:latin typeface="Rokkitt"/>
                <a:ea typeface="Rokkitt"/>
                <a:cs typeface="Rokkitt"/>
                <a:sym typeface="Rokkitt"/>
              </a:rPr>
              <a:t>há</a:t>
            </a:r>
            <a:r>
              <a:rPr lang="en-US" sz="3307" strike="noStrike" u="none">
                <a:solidFill>
                  <a:srgbClr val="000000"/>
                </a:solidFill>
                <a:latin typeface="Rokkitt"/>
                <a:ea typeface="Rokkitt"/>
                <a:cs typeface="Rokkitt"/>
                <a:sym typeface="Rokkitt"/>
              </a:rPr>
              <a:t>nh </a:t>
            </a:r>
            <a:r>
              <a:rPr lang="en-US" sz="3307" strike="noStrike" u="none">
                <a:solidFill>
                  <a:srgbClr val="000000"/>
                </a:solidFill>
                <a:latin typeface="Rokkitt"/>
                <a:ea typeface="Rokkitt"/>
                <a:cs typeface="Rokkitt"/>
                <a:sym typeface="Rokkitt"/>
              </a:rPr>
              <a:t>phức</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tạp </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oặc</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th</a:t>
            </a:r>
            <a:r>
              <a:rPr lang="en-US" sz="3307" strike="noStrike" u="none">
                <a:solidFill>
                  <a:srgbClr val="000000"/>
                </a:solidFill>
                <a:latin typeface="Rokkitt"/>
                <a:ea typeface="Rokkitt"/>
                <a:cs typeface="Rokkitt"/>
                <a:sym typeface="Rokkitt"/>
              </a:rPr>
              <a:t>u</a:t>
            </a:r>
            <a:r>
              <a:rPr lang="en-US" sz="3307" strike="noStrike" u="none">
                <a:solidFill>
                  <a:srgbClr val="000000"/>
                </a:solidFill>
                <a:latin typeface="Rokkitt"/>
                <a:ea typeface="Rokkitt"/>
                <a:cs typeface="Rokkitt"/>
                <a:sym typeface="Rokkitt"/>
              </a:rPr>
              <a:t>ật</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toán t</a:t>
            </a:r>
            <a:r>
              <a:rPr lang="en-US" sz="3307" strike="noStrike" u="none">
                <a:solidFill>
                  <a:srgbClr val="000000"/>
                </a:solidFill>
                <a:latin typeface="Rokkitt"/>
                <a:ea typeface="Rokkitt"/>
                <a:cs typeface="Rokkitt"/>
                <a:sym typeface="Rokkitt"/>
              </a:rPr>
              <a:t>ài chính</a:t>
            </a:r>
            <a:r>
              <a:rPr lang="en-US" sz="3307" strike="noStrike" u="none">
                <a:solidFill>
                  <a:srgbClr val="000000"/>
                </a:solidFill>
                <a:latin typeface="Rokkitt"/>
                <a:ea typeface="Rokkitt"/>
                <a:cs typeface="Rokkitt"/>
                <a:sym typeface="Rokkitt"/>
              </a:rPr>
              <a:t> đặc</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thù.</a:t>
            </a:r>
          </a:p>
          <a:p>
            <a:pPr algn="l">
              <a:lnSpc>
                <a:spcPts val="4629"/>
              </a:lnSpc>
            </a:pP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ron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 nh</a:t>
            </a:r>
            <a:r>
              <a:rPr lang="en-US" sz="3307" strike="noStrike" u="none">
                <a:solidFill>
                  <a:srgbClr val="000000"/>
                </a:solidFill>
                <a:latin typeface="Rokkitt"/>
                <a:ea typeface="Rokkitt"/>
                <a:cs typeface="Rokkitt"/>
                <a:sym typeface="Rokkitt"/>
              </a:rPr>
              <a:t>ữ</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tr</a:t>
            </a:r>
            <a:r>
              <a:rPr lang="en-US" sz="3307" strike="noStrike" u="none">
                <a:solidFill>
                  <a:srgbClr val="000000"/>
                </a:solidFill>
                <a:latin typeface="Rokkitt"/>
                <a:ea typeface="Rokkitt"/>
                <a:cs typeface="Rokkitt"/>
                <a:sym typeface="Rokkitt"/>
              </a:rPr>
              <a:t>ư</a:t>
            </a:r>
            <a:r>
              <a:rPr lang="en-US" sz="3307" strike="noStrike" u="none">
                <a:solidFill>
                  <a:srgbClr val="000000"/>
                </a:solidFill>
                <a:latin typeface="Rokkitt"/>
                <a:ea typeface="Rokkitt"/>
                <a:cs typeface="Rokkitt"/>
                <a:sym typeface="Rokkitt"/>
              </a:rPr>
              <a:t>ờng h</a:t>
            </a:r>
            <a:r>
              <a:rPr lang="en-US" sz="3307" strike="noStrike" u="none">
                <a:solidFill>
                  <a:srgbClr val="000000"/>
                </a:solidFill>
                <a:latin typeface="Rokkitt"/>
                <a:ea typeface="Rokkitt"/>
                <a:cs typeface="Rokkitt"/>
                <a:sym typeface="Rokkitt"/>
              </a:rPr>
              <a:t>ợ</a:t>
            </a:r>
            <a:r>
              <a:rPr lang="en-US" sz="3307" strike="noStrike" u="none">
                <a:solidFill>
                  <a:srgbClr val="000000"/>
                </a:solidFill>
                <a:latin typeface="Rokkitt"/>
                <a:ea typeface="Rokkitt"/>
                <a:cs typeface="Rokkitt"/>
                <a:sym typeface="Rokkitt"/>
              </a:rPr>
              <a:t>p này, cá</a:t>
            </a:r>
            <a:r>
              <a:rPr lang="en-US" sz="3307" strike="noStrike" u="none">
                <a:solidFill>
                  <a:srgbClr val="000000"/>
                </a:solidFill>
                <a:latin typeface="Rokkitt"/>
                <a:ea typeface="Rokkitt"/>
                <a:cs typeface="Rokkitt"/>
                <a:sym typeface="Rokkitt"/>
              </a:rPr>
              <a:t>c </a:t>
            </a:r>
            <a:r>
              <a:rPr lang="en-US" sz="3307" strike="noStrike" u="none">
                <a:solidFill>
                  <a:srgbClr val="000000"/>
                </a:solidFill>
                <a:latin typeface="Rokkitt"/>
                <a:ea typeface="Rokkitt"/>
                <a:cs typeface="Rokkitt"/>
                <a:sym typeface="Rokkitt"/>
              </a:rPr>
              <a:t>phương pháp </a:t>
            </a:r>
            <a:r>
              <a:rPr lang="en-US" sz="3307" strike="noStrike" u="none">
                <a:solidFill>
                  <a:srgbClr val="000000"/>
                </a:solidFill>
                <a:latin typeface="Rokkitt"/>
                <a:ea typeface="Rokkitt"/>
                <a:cs typeface="Rokkitt"/>
                <a:sym typeface="Rokkitt"/>
              </a:rPr>
              <a:t>gợi ý c</a:t>
            </a:r>
            <a:r>
              <a:rPr lang="en-US" sz="3307" strike="noStrike" u="none">
                <a:solidFill>
                  <a:srgbClr val="000000"/>
                </a:solidFill>
                <a:latin typeface="Rokkitt"/>
                <a:ea typeface="Rokkitt"/>
                <a:cs typeface="Rokkitt"/>
                <a:sym typeface="Rokkitt"/>
              </a:rPr>
              <a:t>ơ bả</a:t>
            </a:r>
            <a:r>
              <a:rPr lang="en-US" sz="3307" strike="noStrike" u="none">
                <a:solidFill>
                  <a:srgbClr val="000000"/>
                </a:solidFill>
                <a:latin typeface="Rokkitt"/>
                <a:ea typeface="Rokkitt"/>
                <a:cs typeface="Rokkitt"/>
                <a:sym typeface="Rokkitt"/>
              </a:rPr>
              <a:t>n </a:t>
            </a:r>
            <a:r>
              <a:rPr lang="en-US" sz="3307" strike="noStrike" u="none">
                <a:solidFill>
                  <a:srgbClr val="000000"/>
                </a:solidFill>
                <a:latin typeface="Rokkitt"/>
                <a:ea typeface="Rokkitt"/>
                <a:cs typeface="Rokkitt"/>
                <a:sym typeface="Rokkitt"/>
              </a:rPr>
              <a:t>thườ</a:t>
            </a:r>
            <a:r>
              <a:rPr lang="en-US" sz="3307" strike="noStrike" u="none">
                <a:solidFill>
                  <a:srgbClr val="000000"/>
                </a:solidFill>
                <a:latin typeface="Rokkitt"/>
                <a:ea typeface="Rokkitt"/>
                <a:cs typeface="Rokkitt"/>
                <a:sym typeface="Rokkitt"/>
              </a:rPr>
              <a:t>ng kh</a:t>
            </a:r>
            <a:r>
              <a:rPr lang="en-US" sz="3307" strike="noStrike" u="none">
                <a:solidFill>
                  <a:srgbClr val="000000"/>
                </a:solidFill>
                <a:latin typeface="Rokkitt"/>
                <a:ea typeface="Rokkitt"/>
                <a:cs typeface="Rokkitt"/>
                <a:sym typeface="Rokkitt"/>
              </a:rPr>
              <a:t>ô</a:t>
            </a:r>
            <a:r>
              <a:rPr lang="en-US" sz="3307" strike="noStrike" u="none">
                <a:solidFill>
                  <a:srgbClr val="000000"/>
                </a:solidFill>
                <a:latin typeface="Rokkitt"/>
                <a:ea typeface="Rokkitt"/>
                <a:cs typeface="Rokkitt"/>
                <a:sym typeface="Rokkitt"/>
              </a:rPr>
              <a:t>ng </a:t>
            </a:r>
            <a:r>
              <a:rPr lang="en-US" sz="3307" strike="noStrike" u="none">
                <a:solidFill>
                  <a:srgbClr val="000000"/>
                </a:solidFill>
                <a:latin typeface="Rokkitt"/>
                <a:ea typeface="Rokkitt"/>
                <a:cs typeface="Rokkitt"/>
                <a:sym typeface="Rokkitt"/>
              </a:rPr>
              <a:t>đủ</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để</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đảm</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b</a:t>
            </a:r>
            <a:r>
              <a:rPr lang="en-US" sz="3307" strike="noStrike" u="none">
                <a:solidFill>
                  <a:srgbClr val="000000"/>
                </a:solidFill>
                <a:latin typeface="Rokkitt"/>
                <a:ea typeface="Rokkitt"/>
                <a:cs typeface="Rokkitt"/>
                <a:sym typeface="Rokkitt"/>
              </a:rPr>
              <a:t>ả</a:t>
            </a:r>
            <a:r>
              <a:rPr lang="en-US" sz="3307" strike="noStrike" u="none">
                <a:solidFill>
                  <a:srgbClr val="000000"/>
                </a:solidFill>
                <a:latin typeface="Rokkitt"/>
                <a:ea typeface="Rokkitt"/>
                <a:cs typeface="Rokkitt"/>
                <a:sym typeface="Rokkitt"/>
              </a:rPr>
              <a:t>o</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kết</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q</a:t>
            </a:r>
            <a:r>
              <a:rPr lang="en-US" sz="3307" strike="noStrike" u="none">
                <a:solidFill>
                  <a:srgbClr val="000000"/>
                </a:solidFill>
                <a:latin typeface="Rokkitt"/>
                <a:ea typeface="Rokkitt"/>
                <a:cs typeface="Rokkitt"/>
                <a:sym typeface="Rokkitt"/>
              </a:rPr>
              <a:t>u</a:t>
            </a:r>
            <a:r>
              <a:rPr lang="en-US" sz="3307" strike="noStrike" u="none">
                <a:solidFill>
                  <a:srgbClr val="000000"/>
                </a:solidFill>
                <a:latin typeface="Rokkitt"/>
                <a:ea typeface="Rokkitt"/>
                <a:cs typeface="Rokkitt"/>
                <a:sym typeface="Rokkitt"/>
              </a:rPr>
              <a:t>ả</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chín</a:t>
            </a:r>
            <a:r>
              <a:rPr lang="en-US" sz="3307" strike="noStrike" u="none">
                <a:solidFill>
                  <a:srgbClr val="000000"/>
                </a:solidFill>
                <a:latin typeface="Rokkitt"/>
                <a:ea typeface="Rokkitt"/>
                <a:cs typeface="Rokkitt"/>
                <a:sym typeface="Rokkitt"/>
              </a:rPr>
              <a:t>h x</a:t>
            </a:r>
            <a:r>
              <a:rPr lang="en-US" sz="3307" strike="noStrike" u="none">
                <a:solidFill>
                  <a:srgbClr val="000000"/>
                </a:solidFill>
                <a:latin typeface="Rokkitt"/>
                <a:ea typeface="Rokkitt"/>
                <a:cs typeface="Rokkitt"/>
                <a:sym typeface="Rokkitt"/>
              </a:rPr>
              <a:t>ác </a:t>
            </a:r>
            <a:r>
              <a:rPr lang="en-US" sz="3307" strike="noStrike" u="none">
                <a:solidFill>
                  <a:srgbClr val="000000"/>
                </a:solidFill>
                <a:latin typeface="Rokkitt"/>
                <a:ea typeface="Rokkitt"/>
                <a:cs typeface="Rokkitt"/>
                <a:sym typeface="Rokkitt"/>
              </a:rPr>
              <a:t>ngay t</a:t>
            </a:r>
            <a:r>
              <a:rPr lang="en-US" sz="3307" strike="noStrike" u="none">
                <a:solidFill>
                  <a:srgbClr val="000000"/>
                </a:solidFill>
                <a:latin typeface="Rokkitt"/>
                <a:ea typeface="Rokkitt"/>
                <a:cs typeface="Rokkitt"/>
                <a:sym typeface="Rokkitt"/>
              </a:rPr>
              <a:t>ừ</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lần</a:t>
            </a:r>
            <a:r>
              <a:rPr lang="en-US" sz="3307" strike="noStrike" u="none">
                <a:solidFill>
                  <a:srgbClr val="000000"/>
                </a:solidFill>
                <a:latin typeface="Rokkitt"/>
                <a:ea typeface="Rokkitt"/>
                <a:cs typeface="Rokkitt"/>
                <a:sym typeface="Rokkitt"/>
              </a:rPr>
              <a:t> t</a:t>
            </a:r>
            <a:r>
              <a:rPr lang="en-US" sz="3307" strike="noStrike" u="none">
                <a:solidFill>
                  <a:srgbClr val="000000"/>
                </a:solidFill>
                <a:latin typeface="Rokkitt"/>
                <a:ea typeface="Rokkitt"/>
                <a:cs typeface="Rokkitt"/>
                <a:sym typeface="Rokkitt"/>
              </a:rPr>
              <a:t>hử</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đầ</a:t>
            </a:r>
            <a:r>
              <a:rPr lang="en-US" sz="3307" strike="noStrike" u="none">
                <a:solidFill>
                  <a:srgbClr val="000000"/>
                </a:solidFill>
                <a:latin typeface="Rokkitt"/>
                <a:ea typeface="Rokkitt"/>
                <a:cs typeface="Rokkitt"/>
                <a:sym typeface="Rokkitt"/>
              </a:rPr>
              <a:t>u t</a:t>
            </a:r>
            <a:r>
              <a:rPr lang="en-US" sz="3307" strike="noStrike" u="none">
                <a:solidFill>
                  <a:srgbClr val="000000"/>
                </a:solidFill>
                <a:latin typeface="Rokkitt"/>
                <a:ea typeface="Rokkitt"/>
                <a:cs typeface="Rokkitt"/>
                <a:sym typeface="Rokkitt"/>
              </a:rPr>
              <a:t>iên.</a:t>
            </a:r>
          </a:p>
          <a:p>
            <a:pPr algn="l">
              <a:lnSpc>
                <a:spcPts val="4629"/>
              </a:lnSpc>
            </a:pP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ươ</a:t>
            </a:r>
            <a:r>
              <a:rPr lang="en-US" sz="3307" strike="noStrike" u="none">
                <a:solidFill>
                  <a:srgbClr val="000000"/>
                </a:solidFill>
                <a:latin typeface="Rokkitt"/>
                <a:ea typeface="Rokkitt"/>
                <a:cs typeface="Rokkitt"/>
                <a:sym typeface="Rokkitt"/>
              </a:rPr>
              <a:t>ng </a:t>
            </a:r>
            <a:r>
              <a:rPr lang="en-US" sz="3307" strike="noStrike" u="none">
                <a:solidFill>
                  <a:srgbClr val="000000"/>
                </a:solidFill>
                <a:latin typeface="Rokkitt"/>
                <a:ea typeface="Rokkitt"/>
                <a:cs typeface="Rokkitt"/>
                <a:sym typeface="Rokkitt"/>
              </a:rPr>
              <a:t>nà</a:t>
            </a:r>
            <a:r>
              <a:rPr lang="en-US" sz="3307" strike="noStrike" u="none">
                <a:solidFill>
                  <a:srgbClr val="000000"/>
                </a:solidFill>
                <a:latin typeface="Rokkitt"/>
                <a:ea typeface="Rokkitt"/>
                <a:cs typeface="Rokkitt"/>
                <a:sym typeface="Rokkitt"/>
              </a:rPr>
              <a:t>y </a:t>
            </a:r>
            <a:r>
              <a:rPr lang="en-US" sz="3307" strike="noStrike" u="none">
                <a:solidFill>
                  <a:srgbClr val="000000"/>
                </a:solidFill>
                <a:latin typeface="Rokkitt"/>
                <a:ea typeface="Rokkitt"/>
                <a:cs typeface="Rokkitt"/>
                <a:sym typeface="Rokkitt"/>
              </a:rPr>
              <a:t>tập</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tru</a:t>
            </a:r>
            <a:r>
              <a:rPr lang="en-US" sz="3307" strike="noStrike" u="none">
                <a:solidFill>
                  <a:srgbClr val="000000"/>
                </a:solidFill>
                <a:latin typeface="Rokkitt"/>
                <a:ea typeface="Rokkitt"/>
                <a:cs typeface="Rokkitt"/>
                <a:sym typeface="Rokkitt"/>
              </a:rPr>
              <a:t>ng </a:t>
            </a:r>
            <a:r>
              <a:rPr lang="en-US" sz="3307" strike="noStrike" u="none">
                <a:solidFill>
                  <a:srgbClr val="000000"/>
                </a:solidFill>
                <a:latin typeface="Rokkitt"/>
                <a:ea typeface="Rokkitt"/>
                <a:cs typeface="Rokkitt"/>
                <a:sym typeface="Rokkitt"/>
              </a:rPr>
              <a:t>vào</a:t>
            </a:r>
            <a:r>
              <a:rPr lang="en-US" sz="3307" strike="noStrike" u="none">
                <a:solidFill>
                  <a:srgbClr val="000000"/>
                </a:solidFill>
                <a:latin typeface="Rokkitt"/>
                <a:ea typeface="Rokkitt"/>
                <a:cs typeface="Rokkitt"/>
                <a:sym typeface="Rokkitt"/>
              </a:rPr>
              <a:t> h</a:t>
            </a:r>
            <a:r>
              <a:rPr lang="en-US" sz="3307" strike="noStrike" u="none">
                <a:solidFill>
                  <a:srgbClr val="000000"/>
                </a:solidFill>
                <a:latin typeface="Rokkitt"/>
                <a:ea typeface="Rokkitt"/>
                <a:cs typeface="Rokkitt"/>
                <a:sym typeface="Rokkitt"/>
              </a:rPr>
              <a:t>ai</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kỹ t</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uậ</a:t>
            </a:r>
            <a:r>
              <a:rPr lang="en-US" sz="3307" strike="noStrike" u="none">
                <a:solidFill>
                  <a:srgbClr val="000000"/>
                </a:solidFill>
                <a:latin typeface="Rokkitt"/>
                <a:ea typeface="Rokkitt"/>
                <a:cs typeface="Rokkitt"/>
                <a:sym typeface="Rokkitt"/>
              </a:rPr>
              <a:t>t n</a:t>
            </a:r>
            <a:r>
              <a:rPr lang="en-US" sz="3307" strike="noStrike" u="none">
                <a:solidFill>
                  <a:srgbClr val="000000"/>
                </a:solidFill>
                <a:latin typeface="Rokkitt"/>
                <a:ea typeface="Rokkitt"/>
                <a:cs typeface="Rokkitt"/>
                <a:sym typeface="Rokkitt"/>
              </a:rPr>
              <a:t>â</a:t>
            </a:r>
            <a:r>
              <a:rPr lang="en-US" sz="3307" strike="noStrike" u="none">
                <a:solidFill>
                  <a:srgbClr val="000000"/>
                </a:solidFill>
                <a:latin typeface="Rokkitt"/>
                <a:ea typeface="Rokkitt"/>
                <a:cs typeface="Rokkitt"/>
                <a:sym typeface="Rokkitt"/>
              </a:rPr>
              <a:t>ng c</a:t>
            </a:r>
            <a:r>
              <a:rPr lang="en-US" sz="3307" strike="noStrike" u="none">
                <a:solidFill>
                  <a:srgbClr val="000000"/>
                </a:solidFill>
                <a:latin typeface="Rokkitt"/>
                <a:ea typeface="Rokkitt"/>
                <a:cs typeface="Rokkitt"/>
                <a:sym typeface="Rokkitt"/>
              </a:rPr>
              <a:t>ao:</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Cha</a:t>
            </a:r>
            <a:r>
              <a:rPr lang="en-US" b="true" sz="3307" strike="noStrike" u="none">
                <a:solidFill>
                  <a:srgbClr val="000000"/>
                </a:solidFill>
                <a:latin typeface="Rokkitt Bold"/>
                <a:ea typeface="Rokkitt Bold"/>
                <a:cs typeface="Rokkitt Bold"/>
                <a:sym typeface="Rokkitt Bold"/>
              </a:rPr>
              <a:t>in </a:t>
            </a:r>
            <a:r>
              <a:rPr lang="en-US" b="true" sz="3307" strike="noStrike" u="none">
                <a:solidFill>
                  <a:srgbClr val="000000"/>
                </a:solidFill>
                <a:latin typeface="Rokkitt Bold"/>
                <a:ea typeface="Rokkitt Bold"/>
                <a:cs typeface="Rokkitt Bold"/>
                <a:sym typeface="Rokkitt Bold"/>
              </a:rPr>
              <a:t>of</a:t>
            </a:r>
            <a:r>
              <a:rPr lang="en-US" b="true" sz="3307" strike="noStrike" u="none">
                <a:solidFill>
                  <a:srgbClr val="000000"/>
                </a:solidFill>
                <a:latin typeface="Rokkitt Bold"/>
                <a:ea typeface="Rokkitt Bold"/>
                <a:cs typeface="Rokkitt Bold"/>
                <a:sym typeface="Rokkitt Bold"/>
              </a:rPr>
              <a:t> </a:t>
            </a:r>
            <a:r>
              <a:rPr lang="en-US" b="true" sz="3307" strike="noStrike" u="none">
                <a:solidFill>
                  <a:srgbClr val="000000"/>
                </a:solidFill>
                <a:latin typeface="Rokkitt Bold"/>
                <a:ea typeface="Rokkitt Bold"/>
                <a:cs typeface="Rokkitt Bold"/>
                <a:sym typeface="Rokkitt Bold"/>
              </a:rPr>
              <a:t>T</a:t>
            </a:r>
            <a:r>
              <a:rPr lang="en-US" b="true" sz="3307" strike="noStrike" u="none">
                <a:solidFill>
                  <a:srgbClr val="000000"/>
                </a:solidFill>
                <a:latin typeface="Rokkitt Bold"/>
                <a:ea typeface="Rokkitt Bold"/>
                <a:cs typeface="Rokkitt Bold"/>
                <a:sym typeface="Rokkitt Bold"/>
              </a:rPr>
              <a:t>h</a:t>
            </a:r>
            <a:r>
              <a:rPr lang="en-US" b="true" sz="3307" strike="noStrike" u="none">
                <a:solidFill>
                  <a:srgbClr val="000000"/>
                </a:solidFill>
                <a:latin typeface="Rokkitt Bold"/>
                <a:ea typeface="Rokkitt Bold"/>
                <a:cs typeface="Rokkitt Bold"/>
                <a:sym typeface="Rokkitt Bold"/>
              </a:rPr>
              <a:t>o</a:t>
            </a:r>
            <a:r>
              <a:rPr lang="en-US" b="true" sz="3307" strike="noStrike" u="none">
                <a:solidFill>
                  <a:srgbClr val="000000"/>
                </a:solidFill>
                <a:latin typeface="Rokkitt Bold"/>
                <a:ea typeface="Rokkitt Bold"/>
                <a:cs typeface="Rokkitt Bold"/>
                <a:sym typeface="Rokkitt Bold"/>
              </a:rPr>
              <a:t>u</a:t>
            </a:r>
            <a:r>
              <a:rPr lang="en-US" b="true" sz="3307" strike="noStrike" u="none">
                <a:solidFill>
                  <a:srgbClr val="000000"/>
                </a:solidFill>
                <a:latin typeface="Rokkitt Bold"/>
                <a:ea typeface="Rokkitt Bold"/>
                <a:cs typeface="Rokkitt Bold"/>
                <a:sym typeface="Rokkitt Bold"/>
              </a:rPr>
              <a:t>ght</a:t>
            </a:r>
            <a:r>
              <a:rPr lang="en-US" b="true" sz="3307" strike="noStrike" u="none">
                <a:solidFill>
                  <a:srgbClr val="000000"/>
                </a:solidFill>
                <a:latin typeface="Rokkitt Bold"/>
                <a:ea typeface="Rokkitt Bold"/>
                <a:cs typeface="Rokkitt Bold"/>
                <a:sym typeface="Rokkitt Bold"/>
              </a:rPr>
              <a:t> </a:t>
            </a:r>
            <a:r>
              <a:rPr lang="en-US" b="true" sz="3307" strike="noStrike" u="none">
                <a:solidFill>
                  <a:srgbClr val="000000"/>
                </a:solidFill>
                <a:latin typeface="Rokkitt Bold"/>
                <a:ea typeface="Rokkitt Bold"/>
                <a:cs typeface="Rokkitt Bold"/>
                <a:sym typeface="Rokkitt Bold"/>
              </a:rPr>
              <a:t>(CoT)</a:t>
            </a:r>
            <a:r>
              <a:rPr lang="en-US" b="true" sz="3307" strike="noStrike" u="none">
                <a:solidFill>
                  <a:srgbClr val="000000"/>
                </a:solidFill>
                <a:latin typeface="Rokkitt Bold"/>
                <a:ea typeface="Rokkitt Bold"/>
                <a:cs typeface="Rokkitt Bold"/>
                <a:sym typeface="Rokkitt Bold"/>
              </a:rPr>
              <a:t> </a:t>
            </a:r>
            <a:r>
              <a:rPr lang="en-US" sz="3307" strike="noStrike" u="none">
                <a:solidFill>
                  <a:srgbClr val="000000"/>
                </a:solidFill>
                <a:latin typeface="Rokkitt"/>
                <a:ea typeface="Rokkitt"/>
                <a:cs typeface="Rokkitt"/>
                <a:sym typeface="Rokkitt"/>
              </a:rPr>
              <a:t>–</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giúp</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mô hì</a:t>
            </a:r>
            <a:r>
              <a:rPr lang="en-US" sz="3307" strike="noStrike" u="none">
                <a:solidFill>
                  <a:srgbClr val="000000"/>
                </a:solidFill>
                <a:latin typeface="Rokkitt"/>
                <a:ea typeface="Rokkitt"/>
                <a:cs typeface="Rokkitt"/>
                <a:sym typeface="Rokkitt"/>
              </a:rPr>
              <a:t>nh</a:t>
            </a:r>
            <a:r>
              <a:rPr lang="en-US" sz="3307" strike="noStrike" u="none">
                <a:solidFill>
                  <a:srgbClr val="000000"/>
                </a:solidFill>
                <a:latin typeface="Rokkitt"/>
                <a:ea typeface="Rokkitt"/>
                <a:cs typeface="Rokkitt"/>
                <a:sym typeface="Rokkitt"/>
              </a:rPr>
              <a:t> suy</a:t>
            </a:r>
            <a:r>
              <a:rPr lang="en-US" sz="3307" strike="noStrike" u="none">
                <a:solidFill>
                  <a:srgbClr val="000000"/>
                </a:solidFill>
                <a:latin typeface="Rokkitt"/>
                <a:ea typeface="Rokkitt"/>
                <a:cs typeface="Rokkitt"/>
                <a:sym typeface="Rokkitt"/>
              </a:rPr>
              <a:t> l</a:t>
            </a:r>
            <a:r>
              <a:rPr lang="en-US" sz="3307" strike="noStrike" u="none">
                <a:solidFill>
                  <a:srgbClr val="000000"/>
                </a:solidFill>
                <a:latin typeface="Rokkitt"/>
                <a:ea typeface="Rokkitt"/>
                <a:cs typeface="Rokkitt"/>
                <a:sym typeface="Rokkitt"/>
              </a:rPr>
              <a:t>uận</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tuần</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tự</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từ</a:t>
            </a:r>
            <a:r>
              <a:rPr lang="en-US" sz="3307" strike="noStrike" u="none">
                <a:solidFill>
                  <a:srgbClr val="000000"/>
                </a:solidFill>
                <a:latin typeface="Rokkitt"/>
                <a:ea typeface="Rokkitt"/>
                <a:cs typeface="Rokkitt"/>
                <a:sym typeface="Rokkitt"/>
              </a:rPr>
              <a:t>ng </a:t>
            </a:r>
            <a:r>
              <a:rPr lang="en-US" sz="3307" strike="noStrike" u="none">
                <a:solidFill>
                  <a:srgbClr val="000000"/>
                </a:solidFill>
                <a:latin typeface="Rokkitt"/>
                <a:ea typeface="Rokkitt"/>
                <a:cs typeface="Rokkitt"/>
                <a:sym typeface="Rokkitt"/>
              </a:rPr>
              <a:t>bướ</a:t>
            </a:r>
            <a:r>
              <a:rPr lang="en-US" sz="3307" strike="noStrike" u="none">
                <a:solidFill>
                  <a:srgbClr val="000000"/>
                </a:solidFill>
                <a:latin typeface="Rokkitt"/>
                <a:ea typeface="Rokkitt"/>
                <a:cs typeface="Rokkitt"/>
                <a:sym typeface="Rokkitt"/>
              </a:rPr>
              <a:t>c</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C</a:t>
            </a:r>
            <a:r>
              <a:rPr lang="en-US" b="true" sz="3307" strike="noStrike" u="none">
                <a:solidFill>
                  <a:srgbClr val="000000"/>
                </a:solidFill>
                <a:latin typeface="Rokkitt Bold"/>
                <a:ea typeface="Rokkitt Bold"/>
                <a:cs typeface="Rokkitt Bold"/>
                <a:sym typeface="Rokkitt Bold"/>
              </a:rPr>
              <a:t>h</a:t>
            </a:r>
            <a:r>
              <a:rPr lang="en-US" b="true" sz="3307" strike="noStrike" u="none">
                <a:solidFill>
                  <a:srgbClr val="000000"/>
                </a:solidFill>
                <a:latin typeface="Rokkitt Bold"/>
                <a:ea typeface="Rokkitt Bold"/>
                <a:cs typeface="Rokkitt Bold"/>
                <a:sym typeface="Rokkitt Bold"/>
              </a:rPr>
              <a:t>aining</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kết</a:t>
            </a:r>
            <a:r>
              <a:rPr lang="en-US" sz="3307" strike="noStrike" u="none">
                <a:solidFill>
                  <a:srgbClr val="000000"/>
                </a:solidFill>
                <a:latin typeface="Rokkitt"/>
                <a:ea typeface="Rokkitt"/>
                <a:cs typeface="Rokkitt"/>
                <a:sym typeface="Rokkitt"/>
              </a:rPr>
              <a:t> h</a:t>
            </a:r>
            <a:r>
              <a:rPr lang="en-US" sz="3307" strike="noStrike" u="none">
                <a:solidFill>
                  <a:srgbClr val="000000"/>
                </a:solidFill>
                <a:latin typeface="Rokkitt"/>
                <a:ea typeface="Rokkitt"/>
                <a:cs typeface="Rokkitt"/>
                <a:sym typeface="Rokkitt"/>
              </a:rPr>
              <a:t>ợp</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iề</a:t>
            </a:r>
            <a:r>
              <a:rPr lang="en-US" sz="3307" strike="noStrike" u="none">
                <a:solidFill>
                  <a:srgbClr val="000000"/>
                </a:solidFill>
                <a:latin typeface="Rokkitt"/>
                <a:ea typeface="Rokkitt"/>
                <a:cs typeface="Rokkitt"/>
                <a:sym typeface="Rokkitt"/>
              </a:rPr>
              <a:t>u p</a:t>
            </a:r>
            <a:r>
              <a:rPr lang="en-US" sz="3307" strike="noStrike" u="none">
                <a:solidFill>
                  <a:srgbClr val="000000"/>
                </a:solidFill>
                <a:latin typeface="Rokkitt"/>
                <a:ea typeface="Rokkitt"/>
                <a:cs typeface="Rokkitt"/>
                <a:sym typeface="Rokkitt"/>
              </a:rPr>
              <a:t>r</a:t>
            </a:r>
            <a:r>
              <a:rPr lang="en-US" sz="3307" strike="noStrike" u="none">
                <a:solidFill>
                  <a:srgbClr val="000000"/>
                </a:solidFill>
                <a:latin typeface="Rokkitt"/>
                <a:ea typeface="Rokkitt"/>
                <a:cs typeface="Rokkitt"/>
                <a:sym typeface="Rokkitt"/>
              </a:rPr>
              <a:t>o</a:t>
            </a:r>
            <a:r>
              <a:rPr lang="en-US" sz="3307" strike="noStrike" u="none">
                <a:solidFill>
                  <a:srgbClr val="000000"/>
                </a:solidFill>
                <a:latin typeface="Rokkitt"/>
                <a:ea typeface="Rokkitt"/>
                <a:cs typeface="Rokkitt"/>
                <a:sym typeface="Rokkitt"/>
              </a:rPr>
              <a:t>mpt</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liê</a:t>
            </a:r>
            <a:r>
              <a:rPr lang="en-US" sz="3307" strike="noStrike" u="none">
                <a:solidFill>
                  <a:srgbClr val="000000"/>
                </a:solidFill>
                <a:latin typeface="Rokkitt"/>
                <a:ea typeface="Rokkitt"/>
                <a:cs typeface="Rokkitt"/>
                <a:sym typeface="Rokkitt"/>
              </a:rPr>
              <a:t>n t</a:t>
            </a:r>
            <a:r>
              <a:rPr lang="en-US" sz="3307" strike="noStrike" u="none">
                <a:solidFill>
                  <a:srgbClr val="000000"/>
                </a:solidFill>
                <a:latin typeface="Rokkitt"/>
                <a:ea typeface="Rokkitt"/>
                <a:cs typeface="Rokkitt"/>
                <a:sym typeface="Rokkitt"/>
              </a:rPr>
              <a:t>iếp</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để</a:t>
            </a:r>
            <a:r>
              <a:rPr lang="en-US" sz="3307" strike="noStrike" u="none">
                <a:solidFill>
                  <a:srgbClr val="000000"/>
                </a:solidFill>
                <a:latin typeface="Rokkitt"/>
                <a:ea typeface="Rokkitt"/>
                <a:cs typeface="Rokkitt"/>
                <a:sym typeface="Rokkitt"/>
              </a:rPr>
              <a:t> gi</a:t>
            </a:r>
            <a:r>
              <a:rPr lang="en-US" sz="3307" strike="noStrike" u="none">
                <a:solidFill>
                  <a:srgbClr val="000000"/>
                </a:solidFill>
                <a:latin typeface="Rokkitt"/>
                <a:ea typeface="Rokkitt"/>
                <a:cs typeface="Rokkitt"/>
                <a:sym typeface="Rokkitt"/>
              </a:rPr>
              <a:t>ải quy</a:t>
            </a:r>
            <a:r>
              <a:rPr lang="en-US" sz="3307" strike="noStrike" u="none">
                <a:solidFill>
                  <a:srgbClr val="000000"/>
                </a:solidFill>
                <a:latin typeface="Rokkitt"/>
                <a:ea typeface="Rokkitt"/>
                <a:cs typeface="Rokkitt"/>
                <a:sym typeface="Rokkitt"/>
              </a:rPr>
              <a:t>ết </a:t>
            </a:r>
            <a:r>
              <a:rPr lang="en-US" sz="3307" strike="noStrike" u="none">
                <a:solidFill>
                  <a:srgbClr val="000000"/>
                </a:solidFill>
                <a:latin typeface="Rokkitt"/>
                <a:ea typeface="Rokkitt"/>
                <a:cs typeface="Rokkitt"/>
                <a:sym typeface="Rokkitt"/>
              </a:rPr>
              <a:t>nhiệ</a:t>
            </a:r>
            <a:r>
              <a:rPr lang="en-US" sz="3307" strike="noStrike" u="none">
                <a:solidFill>
                  <a:srgbClr val="000000"/>
                </a:solidFill>
                <a:latin typeface="Rokkitt"/>
                <a:ea typeface="Rokkitt"/>
                <a:cs typeface="Rokkitt"/>
                <a:sym typeface="Rokkitt"/>
              </a:rPr>
              <a:t>m </a:t>
            </a:r>
            <a:r>
              <a:rPr lang="en-US" sz="3307" strike="noStrike" u="none">
                <a:solidFill>
                  <a:srgbClr val="000000"/>
                </a:solidFill>
                <a:latin typeface="Rokkitt"/>
                <a:ea typeface="Rokkitt"/>
                <a:cs typeface="Rokkitt"/>
                <a:sym typeface="Rokkitt"/>
              </a:rPr>
              <a:t>vụ</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phức</a:t>
            </a:r>
            <a:r>
              <a:rPr lang="en-US" sz="3307" strike="noStrike" u="none">
                <a:solidFill>
                  <a:srgbClr val="000000"/>
                </a:solidFill>
                <a:latin typeface="Rokkitt"/>
                <a:ea typeface="Rokkitt"/>
                <a:cs typeface="Rokkitt"/>
                <a:sym typeface="Rokkitt"/>
              </a:rPr>
              <a:t> t</a:t>
            </a:r>
            <a:r>
              <a:rPr lang="en-US" sz="3307" strike="noStrike" u="none">
                <a:solidFill>
                  <a:srgbClr val="000000"/>
                </a:solidFill>
                <a:latin typeface="Rokkitt"/>
                <a:ea typeface="Rokkitt"/>
                <a:cs typeface="Rokkitt"/>
                <a:sym typeface="Rokkitt"/>
              </a:rPr>
              <a:t>ạp, c</a:t>
            </a:r>
            <a:r>
              <a:rPr lang="en-US" sz="3307" strike="noStrike" u="none">
                <a:solidFill>
                  <a:srgbClr val="000000"/>
                </a:solidFill>
                <a:latin typeface="Rokkitt"/>
                <a:ea typeface="Rokkitt"/>
                <a:cs typeface="Rokkitt"/>
                <a:sym typeface="Rokkitt"/>
              </a:rPr>
              <a:t>ả</a:t>
            </a:r>
            <a:r>
              <a:rPr lang="en-US" sz="3307" strike="noStrike" u="none">
                <a:solidFill>
                  <a:srgbClr val="000000"/>
                </a:solidFill>
                <a:latin typeface="Rokkitt"/>
                <a:ea typeface="Rokkitt"/>
                <a:cs typeface="Rokkitt"/>
                <a:sym typeface="Rokkitt"/>
              </a:rPr>
              <a:t>i</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thiệ</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 độ</a:t>
            </a:r>
            <a:r>
              <a:rPr lang="en-US" sz="3307" strike="noStrike" u="none">
                <a:solidFill>
                  <a:srgbClr val="000000"/>
                </a:solidFill>
                <a:latin typeface="Rokkitt"/>
                <a:ea typeface="Rokkitt"/>
                <a:cs typeface="Rokkitt"/>
                <a:sym typeface="Rokkitt"/>
              </a:rPr>
              <a:t> ch</a:t>
            </a:r>
            <a:r>
              <a:rPr lang="en-US" sz="3307" strike="noStrike" u="none">
                <a:solidFill>
                  <a:srgbClr val="000000"/>
                </a:solidFill>
                <a:latin typeface="Rokkitt"/>
                <a:ea typeface="Rokkitt"/>
                <a:cs typeface="Rokkitt"/>
                <a:sym typeface="Rokkitt"/>
              </a:rPr>
              <a:t>ính</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xá</a:t>
            </a:r>
            <a:r>
              <a:rPr lang="en-US" sz="3307" strike="noStrike" u="none">
                <a:solidFill>
                  <a:srgbClr val="000000"/>
                </a:solidFill>
                <a:latin typeface="Rokkitt"/>
                <a:ea typeface="Rokkitt"/>
                <a:cs typeface="Rokkitt"/>
                <a:sym typeface="Rokkitt"/>
              </a:rPr>
              <a:t>c </a:t>
            </a:r>
            <a:r>
              <a:rPr lang="en-US" sz="3307" strike="noStrike" u="none">
                <a:solidFill>
                  <a:srgbClr val="000000"/>
                </a:solidFill>
                <a:latin typeface="Rokkitt"/>
                <a:ea typeface="Rokkitt"/>
                <a:cs typeface="Rokkitt"/>
                <a:sym typeface="Rokkitt"/>
              </a:rPr>
              <a:t>và </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í</a:t>
            </a:r>
            <a:r>
              <a:rPr lang="en-US" sz="3307" strike="noStrike" u="none">
                <a:solidFill>
                  <a:srgbClr val="000000"/>
                </a:solidFill>
                <a:latin typeface="Rokkitt"/>
                <a:ea typeface="Rokkitt"/>
                <a:cs typeface="Rokkitt"/>
                <a:sym typeface="Rokkitt"/>
              </a:rPr>
              <a:t>nh n</a:t>
            </a:r>
            <a:r>
              <a:rPr lang="en-US" sz="3307" strike="noStrike" u="none">
                <a:solidFill>
                  <a:srgbClr val="000000"/>
                </a:solidFill>
                <a:latin typeface="Rokkitt"/>
                <a:ea typeface="Rokkitt"/>
                <a:cs typeface="Rokkitt"/>
                <a:sym typeface="Rokkitt"/>
              </a:rPr>
              <a:t>hất</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q</a:t>
            </a:r>
            <a:r>
              <a:rPr lang="en-US" sz="3307" strike="noStrike" u="none">
                <a:solidFill>
                  <a:srgbClr val="000000"/>
                </a:solidFill>
                <a:latin typeface="Rokkitt"/>
                <a:ea typeface="Rokkitt"/>
                <a:cs typeface="Rokkitt"/>
                <a:sym typeface="Rokkitt"/>
              </a:rPr>
              <a:t>u</a:t>
            </a:r>
            <a:r>
              <a:rPr lang="en-US" sz="3307" strike="noStrike" u="none">
                <a:solidFill>
                  <a:srgbClr val="000000"/>
                </a:solidFill>
                <a:latin typeface="Rokkitt"/>
                <a:ea typeface="Rokkitt"/>
                <a:cs typeface="Rokkitt"/>
                <a:sym typeface="Rokkitt"/>
              </a:rPr>
              <a:t>á</a:t>
            </a:r>
            <a:r>
              <a:rPr lang="en-US" sz="3307" strike="noStrike" u="none">
                <a:solidFill>
                  <a:srgbClr val="000000"/>
                </a:solidFill>
                <a:latin typeface="Rokkitt"/>
                <a:ea typeface="Rokkitt"/>
                <a:cs typeface="Rokkitt"/>
                <a:sym typeface="Rokkitt"/>
              </a:rPr>
              <a:t>n </a:t>
            </a:r>
            <a:r>
              <a:rPr lang="en-US" sz="3307" strike="noStrike" u="none">
                <a:solidFill>
                  <a:srgbClr val="000000"/>
                </a:solidFill>
                <a:latin typeface="Rokkitt"/>
                <a:ea typeface="Rokkitt"/>
                <a:cs typeface="Rokkitt"/>
                <a:sym typeface="Rokkitt"/>
              </a:rPr>
              <a:t>của đầ</a:t>
            </a:r>
            <a:r>
              <a:rPr lang="en-US" sz="3307" strike="noStrike" u="none">
                <a:solidFill>
                  <a:srgbClr val="000000"/>
                </a:solidFill>
                <a:latin typeface="Rokkitt"/>
                <a:ea typeface="Rokkitt"/>
                <a:cs typeface="Rokkitt"/>
                <a:sym typeface="Rokkitt"/>
              </a:rPr>
              <a:t>u </a:t>
            </a:r>
            <a:r>
              <a:rPr lang="en-US" sz="3307" strike="noStrike" u="none">
                <a:solidFill>
                  <a:srgbClr val="000000"/>
                </a:solidFill>
                <a:latin typeface="Rokkitt"/>
                <a:ea typeface="Rokkitt"/>
                <a:cs typeface="Rokkitt"/>
                <a:sym typeface="Rokkitt"/>
              </a:rPr>
              <a:t>ra</a:t>
            </a:r>
            <a:r>
              <a:rPr lang="en-US" sz="3307" strike="noStrike" u="none">
                <a:solidFill>
                  <a:srgbClr val="000000"/>
                </a:solidFill>
                <a:latin typeface="Rokkitt"/>
                <a:ea typeface="Rokkitt"/>
                <a:cs typeface="Rokkitt"/>
                <a:sym typeface="Rokkitt"/>
              </a:rPr>
              <a:t>.</a:t>
            </a:r>
          </a:p>
          <a:p>
            <a:pPr algn="l">
              <a:lnSpc>
                <a:spcPts val="4629"/>
              </a:lnSpc>
            </a:pP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66033" y="1028700"/>
            <a:ext cx="17032187" cy="2166641"/>
            <a:chOff x="0" y="0"/>
            <a:chExt cx="1324559" cy="168495"/>
          </a:xfrm>
        </p:grpSpPr>
        <p:sp>
          <p:nvSpPr>
            <p:cNvPr name="Freeform 3" id="3"/>
            <p:cNvSpPr/>
            <p:nvPr/>
          </p:nvSpPr>
          <p:spPr>
            <a:xfrm flipH="false" flipV="false" rot="0">
              <a:off x="0" y="0"/>
              <a:ext cx="1324559" cy="168495"/>
            </a:xfrm>
            <a:custGeom>
              <a:avLst/>
              <a:gdLst/>
              <a:ahLst/>
              <a:cxnLst/>
              <a:rect r="r" b="b" t="t" l="l"/>
              <a:pathLst>
                <a:path h="168495" w="1324559">
                  <a:moveTo>
                    <a:pt x="0" y="0"/>
                  </a:moveTo>
                  <a:lnTo>
                    <a:pt x="1324559" y="0"/>
                  </a:lnTo>
                  <a:lnTo>
                    <a:pt x="1324559" y="168495"/>
                  </a:lnTo>
                  <a:lnTo>
                    <a:pt x="0" y="168495"/>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235170"/>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3501496" y="1070019"/>
            <a:ext cx="11161261" cy="1941127"/>
          </a:xfrm>
          <a:prstGeom prst="rect">
            <a:avLst/>
          </a:prstGeom>
        </p:spPr>
        <p:txBody>
          <a:bodyPr anchor="t" rtlCol="false" tIns="0" lIns="0" bIns="0" rIns="0">
            <a:spAutoFit/>
          </a:bodyPr>
          <a:lstStyle/>
          <a:p>
            <a:pPr algn="ctr">
              <a:lnSpc>
                <a:spcPts val="7845"/>
              </a:lnSpc>
            </a:pPr>
            <a:r>
              <a:rPr lang="en-US" b="true" sz="5336">
                <a:solidFill>
                  <a:srgbClr val="000000"/>
                </a:solidFill>
                <a:latin typeface="Tomorrow Bold"/>
                <a:ea typeface="Tomorrow Bold"/>
                <a:cs typeface="Tomorrow Bold"/>
                <a:sym typeface="Tomorrow Bold"/>
              </a:rPr>
              <a:t>9.2. Kỹ thuật Chuỗi suy nghĩ (Chain of Thought - CoT)</a:t>
            </a:r>
          </a:p>
        </p:txBody>
      </p:sp>
      <p:sp>
        <p:nvSpPr>
          <p:cNvPr name="TextBox 6" id="6"/>
          <p:cNvSpPr txBox="true"/>
          <p:nvPr/>
        </p:nvSpPr>
        <p:spPr>
          <a:xfrm rot="0">
            <a:off x="566033" y="3289283"/>
            <a:ext cx="17155933" cy="6373664"/>
          </a:xfrm>
          <a:prstGeom prst="rect">
            <a:avLst/>
          </a:prstGeom>
        </p:spPr>
        <p:txBody>
          <a:bodyPr anchor="t" rtlCol="false" tIns="0" lIns="0" bIns="0" rIns="0">
            <a:spAutoFit/>
          </a:bodyPr>
          <a:lstStyle/>
          <a:p>
            <a:pPr algn="l">
              <a:lnSpc>
                <a:spcPts val="4629"/>
              </a:lnSpc>
            </a:pPr>
            <a:r>
              <a:rPr lang="en-US" sz="3307">
                <a:solidFill>
                  <a:srgbClr val="000000"/>
                </a:solidFill>
                <a:latin typeface="Rokkitt"/>
                <a:ea typeface="Rokkitt"/>
                <a:cs typeface="Rokkitt"/>
                <a:sym typeface="Rokkitt"/>
              </a:rPr>
              <a:t>Chain of Thought (CoT) dẫn</a:t>
            </a:r>
            <a:r>
              <a:rPr lang="en-US" sz="3307" strike="noStrike" u="none">
                <a:solidFill>
                  <a:srgbClr val="000000"/>
                </a:solidFill>
                <a:latin typeface="Rokkitt"/>
                <a:ea typeface="Rokkitt"/>
                <a:cs typeface="Rokkitt"/>
                <a:sym typeface="Rokkitt"/>
              </a:rPr>
              <a:t> dắt LLM qua quá trình lập luận từng bước trước khi đưa </a:t>
            </a:r>
            <a:r>
              <a:rPr lang="en-US" sz="3307" strike="noStrike" u="none">
                <a:solidFill>
                  <a:srgbClr val="000000"/>
                </a:solidFill>
                <a:latin typeface="Rokkitt"/>
                <a:ea typeface="Rokkitt"/>
                <a:cs typeface="Rokkitt"/>
                <a:sym typeface="Rokkitt"/>
              </a:rPr>
              <a:t>ra</a:t>
            </a:r>
            <a:r>
              <a:rPr lang="en-US" sz="3307" strike="noStrike" u="none">
                <a:solidFill>
                  <a:srgbClr val="000000"/>
                </a:solidFill>
                <a:latin typeface="Rokkitt"/>
                <a:ea typeface="Rokkitt"/>
                <a:cs typeface="Rokkitt"/>
                <a:sym typeface="Rokkitt"/>
              </a:rPr>
              <a:t> kết quả cuối cùng</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Cơ c</a:t>
            </a:r>
            <a:r>
              <a:rPr lang="en-US" b="true" sz="3307" strike="noStrike" u="none">
                <a:solidFill>
                  <a:srgbClr val="000000"/>
                </a:solidFill>
                <a:latin typeface="Rokkitt Bold"/>
                <a:ea typeface="Rokkitt Bold"/>
                <a:cs typeface="Rokkitt Bold"/>
                <a:sym typeface="Rokkitt Bold"/>
              </a:rPr>
              <a:t>hế:</a:t>
            </a:r>
            <a:r>
              <a:rPr lang="en-US" sz="3307" strike="noStrike" u="none">
                <a:solidFill>
                  <a:srgbClr val="000000"/>
                </a:solidFill>
                <a:latin typeface="Rokkitt"/>
                <a:ea typeface="Rokkitt"/>
                <a:cs typeface="Rokkitt"/>
                <a:sym typeface="Rokkitt"/>
              </a:rPr>
              <a:t> Th</a:t>
            </a:r>
            <a:r>
              <a:rPr lang="en-US" sz="3307" strike="noStrike" u="none">
                <a:solidFill>
                  <a:srgbClr val="000000"/>
                </a:solidFill>
                <a:latin typeface="Rokkitt"/>
                <a:ea typeface="Rokkitt"/>
                <a:cs typeface="Rokkitt"/>
                <a:sym typeface="Rokkitt"/>
              </a:rPr>
              <a:t>ay</a:t>
            </a:r>
            <a:r>
              <a:rPr lang="en-US" sz="3307" strike="noStrike" u="none">
                <a:solidFill>
                  <a:srgbClr val="000000"/>
                </a:solidFill>
                <a:latin typeface="Rokkitt"/>
                <a:ea typeface="Rokkitt"/>
                <a:cs typeface="Rokkitt"/>
                <a:sym typeface="Rokkitt"/>
              </a:rPr>
              <a:t> vì giải quyết toàn </a:t>
            </a:r>
            <a:r>
              <a:rPr lang="en-US" sz="3307" strike="noStrike" u="none">
                <a:solidFill>
                  <a:srgbClr val="000000"/>
                </a:solidFill>
                <a:latin typeface="Rokkitt"/>
                <a:ea typeface="Rokkitt"/>
                <a:cs typeface="Rokkitt"/>
                <a:sym typeface="Rokkitt"/>
              </a:rPr>
              <a:t>bộ b</a:t>
            </a:r>
            <a:r>
              <a:rPr lang="en-US" sz="3307" strike="noStrike" u="none">
                <a:solidFill>
                  <a:srgbClr val="000000"/>
                </a:solidFill>
                <a:latin typeface="Rokkitt"/>
                <a:ea typeface="Rokkitt"/>
                <a:cs typeface="Rokkitt"/>
                <a:sym typeface="Rokkitt"/>
              </a:rPr>
              <a:t>ài toán ngay lập </a:t>
            </a:r>
            <a:r>
              <a:rPr lang="en-US" sz="3307" strike="noStrike" u="none">
                <a:solidFill>
                  <a:srgbClr val="000000"/>
                </a:solidFill>
                <a:latin typeface="Rokkitt"/>
                <a:ea typeface="Rokkitt"/>
                <a:cs typeface="Rokkitt"/>
                <a:sym typeface="Rokkitt"/>
              </a:rPr>
              <a:t>tứ</a:t>
            </a:r>
            <a:r>
              <a:rPr lang="en-US" sz="3307" strike="noStrike" u="none">
                <a:solidFill>
                  <a:srgbClr val="000000"/>
                </a:solidFill>
                <a:latin typeface="Rokkitt"/>
                <a:ea typeface="Rokkitt"/>
                <a:cs typeface="Rokkitt"/>
                <a:sym typeface="Rokkitt"/>
              </a:rPr>
              <a:t>c, logi</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 được chi</a:t>
            </a:r>
            <a:r>
              <a:rPr lang="en-US" sz="3307" strike="noStrike" u="none">
                <a:solidFill>
                  <a:srgbClr val="000000"/>
                </a:solidFill>
                <a:latin typeface="Rokkitt"/>
                <a:ea typeface="Rokkitt"/>
                <a:cs typeface="Rokkitt"/>
                <a:sym typeface="Rokkitt"/>
              </a:rPr>
              <a:t>a</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nhỏ</a:t>
            </a:r>
            <a:r>
              <a:rPr lang="en-US" sz="3307" strike="noStrike" u="none">
                <a:solidFill>
                  <a:srgbClr val="000000"/>
                </a:solidFill>
                <a:latin typeface="Rokkitt"/>
                <a:ea typeface="Rokkitt"/>
                <a:cs typeface="Rokkitt"/>
                <a:sym typeface="Rokkitt"/>
              </a:rPr>
              <a:t> thành các bước trừu tượn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 trong lập </a:t>
            </a:r>
            <a:r>
              <a:rPr lang="en-US" sz="3307" strike="noStrike" u="none">
                <a:solidFill>
                  <a:srgbClr val="000000"/>
                </a:solidFill>
                <a:latin typeface="Rokkitt"/>
                <a:ea typeface="Rokkitt"/>
                <a:cs typeface="Rokkitt"/>
                <a:sym typeface="Rokkitt"/>
              </a:rPr>
              <a:t>trình</a:t>
            </a:r>
            <a:r>
              <a:rPr lang="en-US" sz="3307" strike="noStrike" u="none">
                <a:solidFill>
                  <a:srgbClr val="000000"/>
                </a:solidFill>
                <a:latin typeface="Rokkitt"/>
                <a:ea typeface="Rokkitt"/>
                <a:cs typeface="Rokkitt"/>
                <a:sym typeface="Rokkitt"/>
              </a:rPr>
              <a:t>, t</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ường </a:t>
            </a:r>
            <a:r>
              <a:rPr lang="en-US" sz="3307" strike="noStrike" u="none">
                <a:solidFill>
                  <a:srgbClr val="000000"/>
                </a:solidFill>
                <a:latin typeface="Rokkitt"/>
                <a:ea typeface="Rokkitt"/>
                <a:cs typeface="Rokkitt"/>
                <a:sym typeface="Rokkitt"/>
              </a:rPr>
              <a:t>địn</a:t>
            </a:r>
            <a:r>
              <a:rPr lang="en-US" sz="3307" strike="noStrike" u="none">
                <a:solidFill>
                  <a:srgbClr val="000000"/>
                </a:solidFill>
                <a:latin typeface="Rokkitt"/>
                <a:ea typeface="Rokkitt"/>
                <a:cs typeface="Rokkitt"/>
                <a:sym typeface="Rokkitt"/>
              </a:rPr>
              <a:t>h ngh</a:t>
            </a:r>
            <a:r>
              <a:rPr lang="en-US" sz="3307" strike="noStrike" u="none">
                <a:solidFill>
                  <a:srgbClr val="000000"/>
                </a:solidFill>
                <a:latin typeface="Rokkitt"/>
                <a:ea typeface="Rokkitt"/>
                <a:cs typeface="Rokkitt"/>
                <a:sym typeface="Rokkitt"/>
              </a:rPr>
              <a:t>ĩa</a:t>
            </a:r>
            <a:r>
              <a:rPr lang="en-US" sz="3307" strike="noStrike" u="none">
                <a:solidFill>
                  <a:srgbClr val="000000"/>
                </a:solidFill>
                <a:latin typeface="Rokkitt"/>
                <a:ea typeface="Rokkitt"/>
                <a:cs typeface="Rokkitt"/>
                <a:sym typeface="Rokkitt"/>
              </a:rPr>
              <a:t> c</a:t>
            </a:r>
            <a:r>
              <a:rPr lang="en-US" sz="3307" strike="noStrike" u="none">
                <a:solidFill>
                  <a:srgbClr val="000000"/>
                </a:solidFill>
                <a:latin typeface="Rokkitt"/>
                <a:ea typeface="Rokkitt"/>
                <a:cs typeface="Rokkitt"/>
                <a:sym typeface="Rokkitt"/>
              </a:rPr>
              <a:t>á</a:t>
            </a:r>
            <a:r>
              <a:rPr lang="en-US" sz="3307" strike="noStrike" u="none">
                <a:solidFill>
                  <a:srgbClr val="000000"/>
                </a:solidFill>
                <a:latin typeface="Rokkitt"/>
                <a:ea typeface="Rokkitt"/>
                <a:cs typeface="Rokkitt"/>
                <a:sym typeface="Rokkitt"/>
              </a:rPr>
              <a:t>c h</a:t>
            </a:r>
            <a:r>
              <a:rPr lang="en-US" sz="3307" strike="noStrike" u="none">
                <a:solidFill>
                  <a:srgbClr val="000000"/>
                </a:solidFill>
                <a:latin typeface="Rokkitt"/>
                <a:ea typeface="Rokkitt"/>
                <a:cs typeface="Rokkitt"/>
                <a:sym typeface="Rokkitt"/>
              </a:rPr>
              <a:t>àm</a:t>
            </a:r>
            <a:r>
              <a:rPr lang="en-US" sz="3307" strike="noStrike" u="none">
                <a:solidFill>
                  <a:srgbClr val="000000"/>
                </a:solidFill>
                <a:latin typeface="Rokkitt"/>
                <a:ea typeface="Rokkitt"/>
                <a:cs typeface="Rokkitt"/>
                <a:sym typeface="Rokkitt"/>
              </a:rPr>
              <a:t> con chưa thực thi đ</a:t>
            </a:r>
            <a:r>
              <a:rPr lang="en-US" sz="3307" strike="noStrike" u="none">
                <a:solidFill>
                  <a:srgbClr val="000000"/>
                </a:solidFill>
                <a:latin typeface="Rokkitt"/>
                <a:ea typeface="Rokkitt"/>
                <a:cs typeface="Rokkitt"/>
                <a:sym typeface="Rokkitt"/>
              </a:rPr>
              <a:t>ể phá</a:t>
            </a:r>
            <a:r>
              <a:rPr lang="en-US" sz="3307" strike="noStrike" u="none">
                <a:solidFill>
                  <a:srgbClr val="000000"/>
                </a:solidFill>
                <a:latin typeface="Rokkitt"/>
                <a:ea typeface="Rokkitt"/>
                <a:cs typeface="Rokkitt"/>
                <a:sym typeface="Rokkitt"/>
              </a:rPr>
              <a:t>c th</a:t>
            </a:r>
            <a:r>
              <a:rPr lang="en-US" sz="3307" strike="noStrike" u="none">
                <a:solidFill>
                  <a:srgbClr val="000000"/>
                </a:solidFill>
                <a:latin typeface="Rokkitt"/>
                <a:ea typeface="Rokkitt"/>
                <a:cs typeface="Rokkitt"/>
                <a:sym typeface="Rokkitt"/>
              </a:rPr>
              <a:t>ả</a:t>
            </a:r>
            <a:r>
              <a:rPr lang="en-US" sz="3307" strike="noStrike" u="none">
                <a:solidFill>
                  <a:srgbClr val="000000"/>
                </a:solidFill>
                <a:latin typeface="Rokkitt"/>
                <a:ea typeface="Rokkitt"/>
                <a:cs typeface="Rokkitt"/>
                <a:sym typeface="Rokkitt"/>
              </a:rPr>
              <a:t>o luồng xử lý</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Ứng dụng </a:t>
            </a:r>
            <a:r>
              <a:rPr lang="en-US" b="true" sz="3307" strike="noStrike" u="none">
                <a:solidFill>
                  <a:srgbClr val="000000"/>
                </a:solidFill>
                <a:latin typeface="Rokkitt Bold"/>
                <a:ea typeface="Rokkitt Bold"/>
                <a:cs typeface="Rokkitt Bold"/>
                <a:sym typeface="Rokkitt Bold"/>
              </a:rPr>
              <a:t>với</a:t>
            </a:r>
            <a:r>
              <a:rPr lang="en-US" b="true" sz="3307" strike="noStrike" u="none">
                <a:solidFill>
                  <a:srgbClr val="000000"/>
                </a:solidFill>
                <a:latin typeface="Rokkitt Bold"/>
                <a:ea typeface="Rokkitt Bold"/>
                <a:cs typeface="Rokkitt Bold"/>
                <a:sym typeface="Rokkitt Bold"/>
              </a:rPr>
              <a:t> </a:t>
            </a:r>
            <a:r>
              <a:rPr lang="en-US" b="true" sz="3307" strike="noStrike" u="none">
                <a:solidFill>
                  <a:srgbClr val="000000"/>
                </a:solidFill>
                <a:latin typeface="Rokkitt Bold"/>
                <a:ea typeface="Rokkitt Bold"/>
                <a:cs typeface="Rokkitt Bold"/>
                <a:sym typeface="Rokkitt Bold"/>
              </a:rPr>
              <a:t>GitHub</a:t>
            </a:r>
            <a:r>
              <a:rPr lang="en-US" b="true" sz="3307" strike="noStrike" u="none">
                <a:solidFill>
                  <a:srgbClr val="000000"/>
                </a:solidFill>
                <a:latin typeface="Rokkitt Bold"/>
                <a:ea typeface="Rokkitt Bold"/>
                <a:cs typeface="Rokkitt Bold"/>
                <a:sym typeface="Rokkitt Bold"/>
              </a:rPr>
              <a:t> </a:t>
            </a:r>
            <a:r>
              <a:rPr lang="en-US" b="true" sz="3307" strike="noStrike" u="none">
                <a:solidFill>
                  <a:srgbClr val="000000"/>
                </a:solidFill>
                <a:latin typeface="Rokkitt Bold"/>
                <a:ea typeface="Rokkitt Bold"/>
                <a:cs typeface="Rokkitt Bold"/>
                <a:sym typeface="Rokkitt Bold"/>
              </a:rPr>
              <a:t>Copilot:</a:t>
            </a:r>
            <a:r>
              <a:rPr lang="en-US" sz="3307" strike="noStrike" u="none">
                <a:solidFill>
                  <a:srgbClr val="000000"/>
                </a:solidFill>
                <a:latin typeface="Rokkitt"/>
                <a:ea typeface="Rokkitt"/>
                <a:cs typeface="Rokkitt"/>
                <a:sym typeface="Rokkitt"/>
              </a:rPr>
              <a:t> Nh</a:t>
            </a:r>
            <a:r>
              <a:rPr lang="en-US" sz="3307" strike="noStrike" u="none">
                <a:solidFill>
                  <a:srgbClr val="000000"/>
                </a:solidFill>
                <a:latin typeface="Rokkitt"/>
                <a:ea typeface="Rokkitt"/>
                <a:cs typeface="Rokkitt"/>
                <a:sym typeface="Rokkitt"/>
              </a:rPr>
              <a:t>à</a:t>
            </a:r>
            <a:r>
              <a:rPr lang="en-US" sz="3307" strike="noStrike" u="none">
                <a:solidFill>
                  <a:srgbClr val="000000"/>
                </a:solidFill>
                <a:latin typeface="Rokkitt"/>
                <a:ea typeface="Rokkitt"/>
                <a:cs typeface="Rokkitt"/>
                <a:sym typeface="Rokkitt"/>
              </a:rPr>
              <a:t> phá</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tr</a:t>
            </a:r>
            <a:r>
              <a:rPr lang="en-US" sz="3307" strike="noStrike" u="none">
                <a:solidFill>
                  <a:srgbClr val="000000"/>
                </a:solidFill>
                <a:latin typeface="Rokkitt"/>
                <a:ea typeface="Rokkitt"/>
                <a:cs typeface="Rokkitt"/>
                <a:sym typeface="Rokkitt"/>
              </a:rPr>
              <a:t>iển liệt kê </a:t>
            </a:r>
            <a:r>
              <a:rPr lang="en-US" sz="3307" strike="noStrike" u="none">
                <a:solidFill>
                  <a:srgbClr val="000000"/>
                </a:solidFill>
                <a:latin typeface="Rokkitt"/>
                <a:ea typeface="Rokkitt"/>
                <a:cs typeface="Rokkitt"/>
                <a:sym typeface="Rokkitt"/>
              </a:rPr>
              <a:t>các</a:t>
            </a:r>
            <a:r>
              <a:rPr lang="en-US" sz="3307" strike="noStrike" u="none">
                <a:solidFill>
                  <a:srgbClr val="000000"/>
                </a:solidFill>
                <a:latin typeface="Rokkitt"/>
                <a:ea typeface="Rokkitt"/>
                <a:cs typeface="Rokkitt"/>
                <a:sym typeface="Rokkitt"/>
              </a:rPr>
              <a:t> lờ</a:t>
            </a:r>
            <a:r>
              <a:rPr lang="en-US" sz="3307" strike="noStrike" u="none">
                <a:solidFill>
                  <a:srgbClr val="000000"/>
                </a:solidFill>
                <a:latin typeface="Rokkitt"/>
                <a:ea typeface="Rokkitt"/>
                <a:cs typeface="Rokkitt"/>
                <a:sym typeface="Rokkitt"/>
              </a:rPr>
              <a:t>i </a:t>
            </a:r>
            <a:r>
              <a:rPr lang="en-US" sz="3307" strike="noStrike" u="none">
                <a:solidFill>
                  <a:srgbClr val="000000"/>
                </a:solidFill>
                <a:latin typeface="Rokkitt"/>
                <a:ea typeface="Rokkitt"/>
                <a:cs typeface="Rokkitt"/>
                <a:sym typeface="Rokkitt"/>
              </a:rPr>
              <a:t>gọi hàm logic (ví dụ: get_gro</a:t>
            </a:r>
            <a:r>
              <a:rPr lang="en-US" sz="3307" strike="noStrike" u="none">
                <a:solidFill>
                  <a:srgbClr val="000000"/>
                </a:solidFill>
                <a:latin typeface="Rokkitt"/>
                <a:ea typeface="Rokkitt"/>
                <a:cs typeface="Rokkitt"/>
                <a:sym typeface="Rokkitt"/>
              </a:rPr>
              <a:t>ss_re</a:t>
            </a:r>
            <a:r>
              <a:rPr lang="en-US" sz="3307" strike="noStrike" u="none">
                <a:solidFill>
                  <a:srgbClr val="000000"/>
                </a:solidFill>
                <a:latin typeface="Rokkitt"/>
                <a:ea typeface="Rokkitt"/>
                <a:cs typeface="Rokkitt"/>
                <a:sym typeface="Rokkitt"/>
              </a:rPr>
              <a:t>turns -&gt; get_geometric</a:t>
            </a:r>
            <a:r>
              <a:rPr lang="en-US" sz="3307" strike="noStrike" u="none">
                <a:solidFill>
                  <a:srgbClr val="000000"/>
                </a:solidFill>
                <a:latin typeface="Rokkitt"/>
                <a:ea typeface="Rokkitt"/>
                <a:cs typeface="Rokkitt"/>
                <a:sym typeface="Rokkitt"/>
              </a:rPr>
              <a:t>_mea</a:t>
            </a:r>
            <a:r>
              <a:rPr lang="en-US" sz="3307" strike="noStrike" u="none">
                <a:solidFill>
                  <a:srgbClr val="000000"/>
                </a:solidFill>
                <a:latin typeface="Rokkitt"/>
                <a:ea typeface="Rokkitt"/>
                <a:cs typeface="Rokkitt"/>
                <a:sym typeface="Rokkitt"/>
              </a:rPr>
              <a:t>n -&gt; get_n</a:t>
            </a:r>
            <a:r>
              <a:rPr lang="en-US" sz="3307" strike="noStrike" u="none">
                <a:solidFill>
                  <a:srgbClr val="000000"/>
                </a:solidFill>
                <a:latin typeface="Rokkitt"/>
                <a:ea typeface="Rokkitt"/>
                <a:cs typeface="Rokkitt"/>
                <a:sym typeface="Rokkitt"/>
              </a:rPr>
              <a:t>et_average);</a:t>
            </a:r>
            <a:r>
              <a:rPr lang="en-US" sz="3307" strike="noStrike" u="none">
                <a:solidFill>
                  <a:srgbClr val="000000"/>
                </a:solidFill>
                <a:latin typeface="Rokkitt"/>
                <a:ea typeface="Rokkitt"/>
                <a:cs typeface="Rokkitt"/>
                <a:sym typeface="Rokkitt"/>
              </a:rPr>
              <a:t> Copilot hiểu ngữ cản</a:t>
            </a:r>
            <a:r>
              <a:rPr lang="en-US" sz="3307" strike="noStrike" u="none">
                <a:solidFill>
                  <a:srgbClr val="000000"/>
                </a:solidFill>
                <a:latin typeface="Rokkitt"/>
                <a:ea typeface="Rokkitt"/>
                <a:cs typeface="Rokkitt"/>
                <a:sym typeface="Rokkitt"/>
              </a:rPr>
              <a:t>h v</a:t>
            </a:r>
            <a:r>
              <a:rPr lang="en-US" sz="3307" strike="noStrike" u="none">
                <a:solidFill>
                  <a:srgbClr val="000000"/>
                </a:solidFill>
                <a:latin typeface="Rokkitt"/>
                <a:ea typeface="Rokkitt"/>
                <a:cs typeface="Rokkitt"/>
                <a:sym typeface="Rokkitt"/>
              </a:rPr>
              <a:t>à</a:t>
            </a:r>
            <a:r>
              <a:rPr lang="en-US" sz="3307" strike="noStrike" u="none">
                <a:solidFill>
                  <a:srgbClr val="000000"/>
                </a:solidFill>
                <a:latin typeface="Rokkitt"/>
                <a:ea typeface="Rokkitt"/>
                <a:cs typeface="Rokkitt"/>
                <a:sym typeface="Rokkitt"/>
              </a:rPr>
              <a:t> gợi</a:t>
            </a:r>
            <a:r>
              <a:rPr lang="en-US" sz="3307" strike="noStrike" u="none">
                <a:solidFill>
                  <a:srgbClr val="000000"/>
                </a:solidFill>
                <a:latin typeface="Rokkitt"/>
                <a:ea typeface="Rokkitt"/>
                <a:cs typeface="Rokkitt"/>
                <a:sym typeface="Rokkitt"/>
              </a:rPr>
              <a:t> ý tr</a:t>
            </a:r>
            <a:r>
              <a:rPr lang="en-US" sz="3307" strike="noStrike" u="none">
                <a:solidFill>
                  <a:srgbClr val="000000"/>
                </a:solidFill>
                <a:latin typeface="Rokkitt"/>
                <a:ea typeface="Rokkitt"/>
                <a:cs typeface="Rokkitt"/>
                <a:sym typeface="Rokkitt"/>
              </a:rPr>
              <a:t>iể</a:t>
            </a:r>
            <a:r>
              <a:rPr lang="en-US" sz="3307" strike="noStrike" u="none">
                <a:solidFill>
                  <a:srgbClr val="000000"/>
                </a:solidFill>
                <a:latin typeface="Rokkitt"/>
                <a:ea typeface="Rokkitt"/>
                <a:cs typeface="Rokkitt"/>
                <a:sym typeface="Rokkitt"/>
              </a:rPr>
              <a:t>n khai chi t</a:t>
            </a:r>
            <a:r>
              <a:rPr lang="en-US" sz="3307" strike="noStrike" u="none">
                <a:solidFill>
                  <a:srgbClr val="000000"/>
                </a:solidFill>
                <a:latin typeface="Rokkitt"/>
                <a:ea typeface="Rokkitt"/>
                <a:cs typeface="Rokkitt"/>
                <a:sym typeface="Rokkitt"/>
              </a:rPr>
              <a:t>iết c</a:t>
            </a:r>
            <a:r>
              <a:rPr lang="en-US" sz="3307" strike="noStrike" u="none">
                <a:solidFill>
                  <a:srgbClr val="000000"/>
                </a:solidFill>
                <a:latin typeface="Rokkitt"/>
                <a:ea typeface="Rokkitt"/>
                <a:cs typeface="Rokkitt"/>
                <a:sym typeface="Rokkitt"/>
              </a:rPr>
              <a:t>ho từng h</a:t>
            </a:r>
            <a:r>
              <a:rPr lang="en-US" sz="3307" strike="noStrike" u="none">
                <a:solidFill>
                  <a:srgbClr val="000000"/>
                </a:solidFill>
                <a:latin typeface="Rokkitt"/>
                <a:ea typeface="Rokkitt"/>
                <a:cs typeface="Rokkitt"/>
                <a:sym typeface="Rokkitt"/>
              </a:rPr>
              <a:t>àm</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e</a:t>
            </a:r>
            <a:r>
              <a:rPr lang="en-US" sz="3307" strike="noStrike" u="none">
                <a:solidFill>
                  <a:srgbClr val="000000"/>
                </a:solidFill>
                <a:latin typeface="Rokkitt"/>
                <a:ea typeface="Rokkitt"/>
                <a:cs typeface="Rokkitt"/>
                <a:sym typeface="Rokkitt"/>
              </a:rPr>
              <a:t>o</a:t>
            </a:r>
            <a:r>
              <a:rPr lang="en-US" sz="3307" strike="noStrike" u="none">
                <a:solidFill>
                  <a:srgbClr val="000000"/>
                </a:solidFill>
                <a:latin typeface="Rokkitt"/>
                <a:ea typeface="Rokkitt"/>
                <a:cs typeface="Rokkitt"/>
                <a:sym typeface="Rokkitt"/>
              </a:rPr>
              <a:t> đún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 trìn</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ự</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Dòng</a:t>
            </a:r>
            <a:r>
              <a:rPr lang="en-US" b="true" sz="3307" strike="noStrike" u="none">
                <a:solidFill>
                  <a:srgbClr val="000000"/>
                </a:solidFill>
                <a:latin typeface="Rokkitt Bold"/>
                <a:ea typeface="Rokkitt Bold"/>
                <a:cs typeface="Rokkitt Bold"/>
                <a:sym typeface="Rokkitt Bold"/>
              </a:rPr>
              <a:t> mô hình o-ser</a:t>
            </a:r>
            <a:r>
              <a:rPr lang="en-US" b="true" sz="3307" strike="noStrike" u="none">
                <a:solidFill>
                  <a:srgbClr val="000000"/>
                </a:solidFill>
                <a:latin typeface="Rokkitt Bold"/>
                <a:ea typeface="Rokkitt Bold"/>
                <a:cs typeface="Rokkitt Bold"/>
                <a:sym typeface="Rokkitt Bold"/>
              </a:rPr>
              <a:t>ies:</a:t>
            </a:r>
            <a:r>
              <a:rPr lang="en-US" sz="3307" strike="noStrike" u="none">
                <a:solidFill>
                  <a:srgbClr val="000000"/>
                </a:solidFill>
                <a:latin typeface="Rokkitt"/>
                <a:ea typeface="Rokkitt"/>
                <a:cs typeface="Rokkitt"/>
                <a:sym typeface="Rokkitt"/>
              </a:rPr>
              <a:t> Các</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mô hì</a:t>
            </a:r>
            <a:r>
              <a:rPr lang="en-US" sz="3307" strike="noStrike" u="none">
                <a:solidFill>
                  <a:srgbClr val="000000"/>
                </a:solidFill>
                <a:latin typeface="Rokkitt"/>
                <a:ea typeface="Rokkitt"/>
                <a:cs typeface="Rokkitt"/>
                <a:sym typeface="Rokkitt"/>
              </a:rPr>
              <a:t>nh</a:t>
            </a:r>
            <a:r>
              <a:rPr lang="en-US" sz="3307" strike="noStrike" u="none">
                <a:solidFill>
                  <a:srgbClr val="000000"/>
                </a:solidFill>
                <a:latin typeface="Rokkitt"/>
                <a:ea typeface="Rokkitt"/>
                <a:cs typeface="Rokkitt"/>
                <a:sym typeface="Rokkitt"/>
              </a:rPr>
              <a:t> mới</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như</a:t>
            </a:r>
            <a:r>
              <a:rPr lang="en-US" sz="3307" strike="noStrike" u="none">
                <a:solidFill>
                  <a:srgbClr val="000000"/>
                </a:solidFill>
                <a:latin typeface="Rokkitt"/>
                <a:ea typeface="Rokkitt"/>
                <a:cs typeface="Rokkitt"/>
                <a:sym typeface="Rokkitt"/>
              </a:rPr>
              <a:t> Ope</a:t>
            </a:r>
            <a:r>
              <a:rPr lang="en-US" sz="3307" strike="noStrike" u="none">
                <a:solidFill>
                  <a:srgbClr val="000000"/>
                </a:solidFill>
                <a:latin typeface="Rokkitt"/>
                <a:ea typeface="Rokkitt"/>
                <a:cs typeface="Rokkitt"/>
                <a:sym typeface="Rokkitt"/>
              </a:rPr>
              <a:t>nAI</a:t>
            </a:r>
            <a:r>
              <a:rPr lang="en-US" sz="3307" strike="noStrike" u="none">
                <a:solidFill>
                  <a:srgbClr val="000000"/>
                </a:solidFill>
                <a:latin typeface="Rokkitt"/>
                <a:ea typeface="Rokkitt"/>
                <a:cs typeface="Rokkitt"/>
                <a:sym typeface="Rokkitt"/>
              </a:rPr>
              <a:t> o1 và o3-mini </a:t>
            </a:r>
            <a:r>
              <a:rPr lang="en-US" sz="3307" strike="noStrike" u="none">
                <a:solidFill>
                  <a:srgbClr val="000000"/>
                </a:solidFill>
                <a:latin typeface="Rokkitt"/>
                <a:ea typeface="Rokkitt"/>
                <a:cs typeface="Rokkitt"/>
                <a:sym typeface="Rokkitt"/>
              </a:rPr>
              <a:t>tích</a:t>
            </a:r>
            <a:r>
              <a:rPr lang="en-US" sz="3307" strike="noStrike" u="none">
                <a:solidFill>
                  <a:srgbClr val="000000"/>
                </a:solidFill>
                <a:latin typeface="Rokkitt"/>
                <a:ea typeface="Rokkitt"/>
                <a:cs typeface="Rokkitt"/>
                <a:sym typeface="Rokkitt"/>
              </a:rPr>
              <a:t> h</a:t>
            </a:r>
            <a:r>
              <a:rPr lang="en-US" sz="3307" strike="noStrike" u="none">
                <a:solidFill>
                  <a:srgbClr val="000000"/>
                </a:solidFill>
                <a:latin typeface="Rokkitt"/>
                <a:ea typeface="Rokkitt"/>
                <a:cs typeface="Rokkitt"/>
                <a:sym typeface="Rokkitt"/>
              </a:rPr>
              <a:t>ợp</a:t>
            </a:r>
            <a:r>
              <a:rPr lang="en-US" sz="3307" strike="noStrike" u="none">
                <a:solidFill>
                  <a:srgbClr val="000000"/>
                </a:solidFill>
                <a:latin typeface="Rokkitt"/>
                <a:ea typeface="Rokkitt"/>
                <a:cs typeface="Rokkitt"/>
                <a:sym typeface="Rokkitt"/>
              </a:rPr>
              <a:t> sẵ</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 CoT tự </a:t>
            </a:r>
            <a:r>
              <a:rPr lang="en-US" sz="3307" strike="noStrike" u="none">
                <a:solidFill>
                  <a:srgbClr val="000000"/>
                </a:solidFill>
                <a:latin typeface="Rokkitt"/>
                <a:ea typeface="Rokkitt"/>
                <a:cs typeface="Rokkitt"/>
                <a:sym typeface="Rokkitt"/>
              </a:rPr>
              <a:t>độn</a:t>
            </a:r>
            <a:r>
              <a:rPr lang="en-US" sz="3307" strike="noStrike" u="none">
                <a:solidFill>
                  <a:srgbClr val="000000"/>
                </a:solidFill>
                <a:latin typeface="Rokkitt"/>
                <a:ea typeface="Rokkitt"/>
                <a:cs typeface="Rokkitt"/>
                <a:sym typeface="Rokkitt"/>
              </a:rPr>
              <a:t>g, xử lý</a:t>
            </a:r>
            <a:r>
              <a:rPr lang="en-US" sz="3307" strike="noStrike" u="none">
                <a:solidFill>
                  <a:srgbClr val="000000"/>
                </a:solidFill>
                <a:latin typeface="Rokkitt"/>
                <a:ea typeface="Rokkitt"/>
                <a:cs typeface="Rokkitt"/>
                <a:sym typeface="Rokkitt"/>
              </a:rPr>
              <a:t> suy</a:t>
            </a:r>
            <a:r>
              <a:rPr lang="en-US" sz="3307" strike="noStrike" u="none">
                <a:solidFill>
                  <a:srgbClr val="000000"/>
                </a:solidFill>
                <a:latin typeface="Rokkitt"/>
                <a:ea typeface="Rokkitt"/>
                <a:cs typeface="Rokkitt"/>
                <a:sym typeface="Rokkitt"/>
              </a:rPr>
              <a:t> luậ</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 đa bước độ</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 lậ</a:t>
            </a:r>
            <a:r>
              <a:rPr lang="en-US" sz="3307" strike="noStrike" u="none">
                <a:solidFill>
                  <a:srgbClr val="000000"/>
                </a:solidFill>
                <a:latin typeface="Rokkitt"/>
                <a:ea typeface="Rokkitt"/>
                <a:cs typeface="Rokkitt"/>
                <a:sym typeface="Rokkitt"/>
              </a:rPr>
              <a:t>p, dù chi</a:t>
            </a:r>
            <a:r>
              <a:rPr lang="en-US" sz="3307" strike="noStrike" u="none">
                <a:solidFill>
                  <a:srgbClr val="000000"/>
                </a:solidFill>
                <a:latin typeface="Rokkitt"/>
                <a:ea typeface="Rokkitt"/>
                <a:cs typeface="Rokkitt"/>
                <a:sym typeface="Rokkitt"/>
              </a:rPr>
              <a:t> p</a:t>
            </a:r>
            <a:r>
              <a:rPr lang="en-US" sz="3307" strike="noStrike" u="none">
                <a:solidFill>
                  <a:srgbClr val="000000"/>
                </a:solidFill>
                <a:latin typeface="Rokkitt"/>
                <a:ea typeface="Rokkitt"/>
                <a:cs typeface="Rokkitt"/>
                <a:sym typeface="Rokkitt"/>
              </a:rPr>
              <a:t>hí vậ</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hà</a:t>
            </a:r>
            <a:r>
              <a:rPr lang="en-US" sz="3307" strike="noStrike" u="none">
                <a:solidFill>
                  <a:srgbClr val="000000"/>
                </a:solidFill>
                <a:latin typeface="Rokkitt"/>
                <a:ea typeface="Rokkitt"/>
                <a:cs typeface="Rokkitt"/>
                <a:sym typeface="Rokkitt"/>
              </a:rPr>
              <a:t>nh</a:t>
            </a:r>
            <a:r>
              <a:rPr lang="en-US" sz="3307" strike="noStrike" u="none">
                <a:solidFill>
                  <a:srgbClr val="000000"/>
                </a:solidFill>
                <a:latin typeface="Rokkitt"/>
                <a:ea typeface="Rokkitt"/>
                <a:cs typeface="Rokkitt"/>
                <a:sym typeface="Rokkitt"/>
              </a:rPr>
              <a:t> cao </a:t>
            </a:r>
            <a:r>
              <a:rPr lang="en-US" sz="3307" strike="noStrike" u="none">
                <a:solidFill>
                  <a:srgbClr val="000000"/>
                </a:solidFill>
                <a:latin typeface="Rokkitt"/>
                <a:ea typeface="Rokkitt"/>
                <a:cs typeface="Rokkitt"/>
                <a:sym typeface="Rokkitt"/>
              </a:rPr>
              <a:t>hơ</a:t>
            </a:r>
            <a:r>
              <a:rPr lang="en-US" sz="3307" strike="noStrike" u="none">
                <a:solidFill>
                  <a:srgbClr val="000000"/>
                </a:solidFill>
                <a:latin typeface="Rokkitt"/>
                <a:ea typeface="Rokkitt"/>
                <a:cs typeface="Rokkitt"/>
                <a:sym typeface="Rokkitt"/>
              </a:rPr>
              <a:t>n so</a:t>
            </a:r>
            <a:r>
              <a:rPr lang="en-US" sz="3307" strike="noStrike" u="none">
                <a:solidFill>
                  <a:srgbClr val="000000"/>
                </a:solidFill>
                <a:latin typeface="Rokkitt"/>
                <a:ea typeface="Rokkitt"/>
                <a:cs typeface="Rokkitt"/>
                <a:sym typeface="Rokkitt"/>
              </a:rPr>
              <a:t> với</a:t>
            </a:r>
            <a:r>
              <a:rPr lang="en-US" sz="3307" strike="noStrike" u="none">
                <a:solidFill>
                  <a:srgbClr val="000000"/>
                </a:solidFill>
                <a:latin typeface="Rokkitt"/>
                <a:ea typeface="Rokkitt"/>
                <a:cs typeface="Rokkitt"/>
                <a:sym typeface="Rokkitt"/>
              </a:rPr>
              <a:t> GPT-4o</a:t>
            </a:r>
          </a:p>
          <a:p>
            <a:pPr algn="l">
              <a:lnSpc>
                <a:spcPts val="4629"/>
              </a:lnSpc>
            </a:pP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66033" y="1028700"/>
            <a:ext cx="17032187" cy="2166641"/>
            <a:chOff x="0" y="0"/>
            <a:chExt cx="1324559" cy="168495"/>
          </a:xfrm>
        </p:grpSpPr>
        <p:sp>
          <p:nvSpPr>
            <p:cNvPr name="Freeform 3" id="3"/>
            <p:cNvSpPr/>
            <p:nvPr/>
          </p:nvSpPr>
          <p:spPr>
            <a:xfrm flipH="false" flipV="false" rot="0">
              <a:off x="0" y="0"/>
              <a:ext cx="1324559" cy="168495"/>
            </a:xfrm>
            <a:custGeom>
              <a:avLst/>
              <a:gdLst/>
              <a:ahLst/>
              <a:cxnLst/>
              <a:rect r="r" b="b" t="t" l="l"/>
              <a:pathLst>
                <a:path h="168495" w="1324559">
                  <a:moveTo>
                    <a:pt x="0" y="0"/>
                  </a:moveTo>
                  <a:lnTo>
                    <a:pt x="1324559" y="0"/>
                  </a:lnTo>
                  <a:lnTo>
                    <a:pt x="1324559" y="168495"/>
                  </a:lnTo>
                  <a:lnTo>
                    <a:pt x="0" y="168495"/>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235170"/>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3501496" y="1070019"/>
            <a:ext cx="11161261" cy="2931753"/>
          </a:xfrm>
          <a:prstGeom prst="rect">
            <a:avLst/>
          </a:prstGeom>
        </p:spPr>
        <p:txBody>
          <a:bodyPr anchor="t" rtlCol="false" tIns="0" lIns="0" bIns="0" rIns="0">
            <a:spAutoFit/>
          </a:bodyPr>
          <a:lstStyle/>
          <a:p>
            <a:pPr algn="ctr">
              <a:lnSpc>
                <a:spcPts val="7845"/>
              </a:lnSpc>
            </a:pPr>
            <a:r>
              <a:rPr lang="en-US" b="true" sz="5336">
                <a:solidFill>
                  <a:srgbClr val="000000"/>
                </a:solidFill>
                <a:latin typeface="Tomorrow Bold"/>
                <a:ea typeface="Tomorrow Bold"/>
                <a:cs typeface="Tomorrow Bold"/>
                <a:sym typeface="Tomorrow Bold"/>
              </a:rPr>
              <a:t>9.3. Kỹ thuật Chuỗi gợi ý (Chaining)</a:t>
            </a:r>
          </a:p>
          <a:p>
            <a:pPr algn="ctr">
              <a:lnSpc>
                <a:spcPts val="7845"/>
              </a:lnSpc>
            </a:pPr>
          </a:p>
        </p:txBody>
      </p:sp>
      <p:sp>
        <p:nvSpPr>
          <p:cNvPr name="TextBox 6" id="6"/>
          <p:cNvSpPr txBox="true"/>
          <p:nvPr/>
        </p:nvSpPr>
        <p:spPr>
          <a:xfrm rot="0">
            <a:off x="718433" y="3441683"/>
            <a:ext cx="17155933" cy="5792665"/>
          </a:xfrm>
          <a:prstGeom prst="rect">
            <a:avLst/>
          </a:prstGeom>
        </p:spPr>
        <p:txBody>
          <a:bodyPr anchor="t" rtlCol="false" tIns="0" lIns="0" bIns="0" rIns="0">
            <a:spAutoFit/>
          </a:bodyPr>
          <a:lstStyle/>
          <a:p>
            <a:pPr algn="l">
              <a:lnSpc>
                <a:spcPts val="4629"/>
              </a:lnSpc>
            </a:pPr>
            <a:r>
              <a:rPr lang="en-US" sz="3307">
                <a:solidFill>
                  <a:srgbClr val="000000"/>
                </a:solidFill>
                <a:latin typeface="Rokkitt"/>
                <a:ea typeface="Rokkitt"/>
                <a:cs typeface="Rokkitt"/>
                <a:sym typeface="Rokkitt"/>
              </a:rPr>
              <a:t>Chaining là quá trình chia nhỏ một nhiệm vụ lớn</a:t>
            </a:r>
            <a:r>
              <a:rPr lang="en-US" sz="3307" strike="noStrike" u="none">
                <a:solidFill>
                  <a:srgbClr val="000000"/>
                </a:solidFill>
                <a:latin typeface="Rokkitt"/>
                <a:ea typeface="Rokkitt"/>
                <a:cs typeface="Rokkitt"/>
                <a:sym typeface="Rokkitt"/>
              </a:rPr>
              <a:t> thành các yêu cầu tiếp nối nhau, trong đó đầu ra của bước trước có thể làm đầu vào cho bước sau.</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Lợi</a:t>
            </a:r>
            <a:r>
              <a:rPr lang="en-US" b="true" sz="3307" strike="noStrike" u="none">
                <a:solidFill>
                  <a:srgbClr val="000000"/>
                </a:solidFill>
                <a:latin typeface="Rokkitt Bold"/>
                <a:ea typeface="Rokkitt Bold"/>
                <a:cs typeface="Rokkitt Bold"/>
                <a:sym typeface="Rokkitt Bold"/>
              </a:rPr>
              <a:t> ích:</a:t>
            </a:r>
            <a:r>
              <a:rPr lang="en-US" sz="3307" strike="noStrike" u="none">
                <a:solidFill>
                  <a:srgbClr val="000000"/>
                </a:solidFill>
                <a:latin typeface="Rokkitt"/>
                <a:ea typeface="Rokkitt"/>
                <a:cs typeface="Rokkitt"/>
                <a:sym typeface="Rokkitt"/>
              </a:rPr>
              <a:t> Tránh việc vi phạm nguyên tắc "nhiệm vụ</a:t>
            </a:r>
            <a:r>
              <a:rPr lang="en-US" sz="3307" strike="noStrike" u="none">
                <a:solidFill>
                  <a:srgbClr val="000000"/>
                </a:solidFill>
                <a:latin typeface="Rokkitt"/>
                <a:ea typeface="Rokkitt"/>
                <a:cs typeface="Rokkitt"/>
                <a:sym typeface="Rokkitt"/>
              </a:rPr>
              <a:t> đơn</a:t>
            </a:r>
            <a:r>
              <a:rPr lang="en-US" sz="3307" strike="noStrike" u="none">
                <a:solidFill>
                  <a:srgbClr val="000000"/>
                </a:solidFill>
                <a:latin typeface="Rokkitt"/>
                <a:ea typeface="Rokkitt"/>
                <a:cs typeface="Rokkitt"/>
                <a:sym typeface="Rokkitt"/>
              </a:rPr>
              <a:t> nhất" (single-task) trong mộ</a:t>
            </a:r>
            <a:r>
              <a:rPr lang="en-US" sz="3307" strike="noStrike" u="none">
                <a:solidFill>
                  <a:srgbClr val="000000"/>
                </a:solidFill>
                <a:latin typeface="Rokkitt"/>
                <a:ea typeface="Rokkitt"/>
                <a:cs typeface="Rokkitt"/>
                <a:sym typeface="Rokkitt"/>
              </a:rPr>
              <a:t>t </a:t>
            </a:r>
            <a:r>
              <a:rPr lang="en-US" sz="3307" strike="noStrike" u="none">
                <a:solidFill>
                  <a:srgbClr val="000000"/>
                </a:solidFill>
                <a:latin typeface="Rokkitt"/>
                <a:ea typeface="Rokkitt"/>
                <a:cs typeface="Rokkitt"/>
                <a:sym typeface="Rokkitt"/>
              </a:rPr>
              <a:t>câu lệnh, giúp giảm thiểu s</a:t>
            </a:r>
            <a:r>
              <a:rPr lang="en-US" sz="3307" strike="noStrike" u="none">
                <a:solidFill>
                  <a:srgbClr val="000000"/>
                </a:solidFill>
                <a:latin typeface="Rokkitt"/>
                <a:ea typeface="Rokkitt"/>
                <a:cs typeface="Rokkitt"/>
                <a:sym typeface="Rokkitt"/>
              </a:rPr>
              <a:t>ai</a:t>
            </a:r>
            <a:r>
              <a:rPr lang="en-US" sz="3307" strike="noStrike" u="none">
                <a:solidFill>
                  <a:srgbClr val="000000"/>
                </a:solidFill>
                <a:latin typeface="Rokkitt"/>
                <a:ea typeface="Rokkitt"/>
                <a:cs typeface="Rokkitt"/>
                <a:sym typeface="Rokkitt"/>
              </a:rPr>
              <a:t> sót và sự lộn xộn trong kết quả đầu ra.</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Quy </a:t>
            </a:r>
            <a:r>
              <a:rPr lang="en-US" b="true" sz="3307" strike="noStrike" u="none">
                <a:solidFill>
                  <a:srgbClr val="000000"/>
                </a:solidFill>
                <a:latin typeface="Rokkitt Bold"/>
                <a:ea typeface="Rokkitt Bold"/>
                <a:cs typeface="Rokkitt Bold"/>
                <a:sym typeface="Rokkitt Bold"/>
              </a:rPr>
              <a:t>trình</a:t>
            </a:r>
            <a:r>
              <a:rPr lang="en-US" b="true" sz="3307" strike="noStrike" u="none">
                <a:solidFill>
                  <a:srgbClr val="000000"/>
                </a:solidFill>
                <a:latin typeface="Rokkitt Bold"/>
                <a:ea typeface="Rokkitt Bold"/>
                <a:cs typeface="Rokkitt Bold"/>
                <a:sym typeface="Rokkitt Bold"/>
              </a:rPr>
              <a:t> t</a:t>
            </a:r>
            <a:r>
              <a:rPr lang="en-US" b="true" sz="3307" strike="noStrike" u="none">
                <a:solidFill>
                  <a:srgbClr val="000000"/>
                </a:solidFill>
                <a:latin typeface="Rokkitt Bold"/>
                <a:ea typeface="Rokkitt Bold"/>
                <a:cs typeface="Rokkitt Bold"/>
                <a:sym typeface="Rokkitt Bold"/>
              </a:rPr>
              <a:t>hực</a:t>
            </a:r>
            <a:r>
              <a:rPr lang="en-US" b="true" sz="3307" strike="noStrike" u="none">
                <a:solidFill>
                  <a:srgbClr val="000000"/>
                </a:solidFill>
                <a:latin typeface="Rokkitt Bold"/>
                <a:ea typeface="Rokkitt Bold"/>
                <a:cs typeface="Rokkitt Bold"/>
                <a:sym typeface="Rokkitt Bold"/>
              </a:rPr>
              <a:t> hiện: </a:t>
            </a:r>
          </a:p>
          <a:p>
            <a:pPr algn="l">
              <a:lnSpc>
                <a:spcPts val="4629"/>
              </a:lnSpc>
            </a:pPr>
            <a:r>
              <a:rPr lang="en-US" sz="3307" strike="noStrike" u="none">
                <a:solidFill>
                  <a:srgbClr val="000000"/>
                </a:solidFill>
                <a:latin typeface="Rokkitt"/>
                <a:ea typeface="Rokkitt"/>
                <a:cs typeface="Rokkitt"/>
                <a:sym typeface="Rokkitt"/>
              </a:rPr>
              <a:t>Bước 1: Tạo mã nguồn thực thi chính xác v</a:t>
            </a:r>
            <a:r>
              <a:rPr lang="en-US" sz="3307" strike="noStrike" u="none">
                <a:solidFill>
                  <a:srgbClr val="000000"/>
                </a:solidFill>
                <a:latin typeface="Rokkitt"/>
                <a:ea typeface="Rokkitt"/>
                <a:cs typeface="Rokkitt"/>
                <a:sym typeface="Rokkitt"/>
              </a:rPr>
              <a:t>ề</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mặ</a:t>
            </a:r>
            <a:r>
              <a:rPr lang="en-US" sz="3307" strike="noStrike" u="none">
                <a:solidFill>
                  <a:srgbClr val="000000"/>
                </a:solidFill>
                <a:latin typeface="Rokkitt"/>
                <a:ea typeface="Rokkitt"/>
                <a:cs typeface="Rokkitt"/>
                <a:sym typeface="Rokkitt"/>
              </a:rPr>
              <a:t>t </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hức năng (thường kết hợp với CoT). </a:t>
            </a:r>
          </a:p>
          <a:p>
            <a:pPr algn="l">
              <a:lnSpc>
                <a:spcPts val="4629"/>
              </a:lnSpc>
            </a:pPr>
            <a:r>
              <a:rPr lang="en-US" sz="3307" strike="noStrike" u="none">
                <a:solidFill>
                  <a:srgbClr val="000000"/>
                </a:solidFill>
                <a:latin typeface="Rokkitt"/>
                <a:ea typeface="Rokkitt"/>
                <a:cs typeface="Rokkitt"/>
                <a:sym typeface="Rokkitt"/>
              </a:rPr>
              <a:t>Bước 2: Bổ sung</a:t>
            </a:r>
            <a:r>
              <a:rPr lang="en-US" sz="3307" strike="noStrike" u="none">
                <a:solidFill>
                  <a:srgbClr val="000000"/>
                </a:solidFill>
                <a:latin typeface="Rokkitt"/>
                <a:ea typeface="Rokkitt"/>
                <a:cs typeface="Rokkitt"/>
                <a:sym typeface="Rokkitt"/>
              </a:rPr>
              <a:t> gợi</a:t>
            </a:r>
            <a:r>
              <a:rPr lang="en-US" sz="3307" strike="noStrike" u="none">
                <a:solidFill>
                  <a:srgbClr val="000000"/>
                </a:solidFill>
                <a:latin typeface="Rokkitt"/>
                <a:ea typeface="Rokkitt"/>
                <a:cs typeface="Rokkitt"/>
                <a:sym typeface="Rokkitt"/>
              </a:rPr>
              <a:t> ý k</a:t>
            </a:r>
            <a:r>
              <a:rPr lang="en-US" sz="3307" strike="noStrike" u="none">
                <a:solidFill>
                  <a:srgbClr val="000000"/>
                </a:solidFill>
                <a:latin typeface="Rokkitt"/>
                <a:ea typeface="Rokkitt"/>
                <a:cs typeface="Rokkitt"/>
                <a:sym typeface="Rokkitt"/>
              </a:rPr>
              <a:t>iểu</a:t>
            </a:r>
            <a:r>
              <a:rPr lang="en-US" sz="3307" strike="noStrike" u="none">
                <a:solidFill>
                  <a:srgbClr val="000000"/>
                </a:solidFill>
                <a:latin typeface="Rokkitt"/>
                <a:ea typeface="Rokkitt"/>
                <a:cs typeface="Rokkitt"/>
                <a:sym typeface="Rokkitt"/>
              </a:rPr>
              <a:t> (type hints) cho tấ</a:t>
            </a:r>
            <a:r>
              <a:rPr lang="en-US" sz="3307" strike="noStrike" u="none">
                <a:solidFill>
                  <a:srgbClr val="000000"/>
                </a:solidFill>
                <a:latin typeface="Rokkitt"/>
                <a:ea typeface="Rokkitt"/>
                <a:cs typeface="Rokkitt"/>
                <a:sym typeface="Rokkitt"/>
              </a:rPr>
              <a:t>t cả các</a:t>
            </a:r>
            <a:r>
              <a:rPr lang="en-US" sz="3307" strike="noStrike" u="none">
                <a:solidFill>
                  <a:srgbClr val="000000"/>
                </a:solidFill>
                <a:latin typeface="Rokkitt"/>
                <a:ea typeface="Rokkitt"/>
                <a:cs typeface="Rokkitt"/>
                <a:sym typeface="Rokkitt"/>
              </a:rPr>
              <a:t> biến. </a:t>
            </a:r>
          </a:p>
          <a:p>
            <a:pPr algn="l">
              <a:lnSpc>
                <a:spcPts val="4629"/>
              </a:lnSpc>
            </a:pPr>
            <a:r>
              <a:rPr lang="en-US" sz="3307" strike="noStrike" u="none">
                <a:solidFill>
                  <a:srgbClr val="000000"/>
                </a:solidFill>
                <a:latin typeface="Rokkitt"/>
                <a:ea typeface="Rokkitt"/>
                <a:cs typeface="Rokkitt"/>
                <a:sym typeface="Rokkitt"/>
              </a:rPr>
              <a:t>Bước</a:t>
            </a:r>
            <a:r>
              <a:rPr lang="en-US" sz="3307" strike="noStrike" u="none">
                <a:solidFill>
                  <a:srgbClr val="000000"/>
                </a:solidFill>
                <a:latin typeface="Rokkitt"/>
                <a:ea typeface="Rokkitt"/>
                <a:cs typeface="Rokkitt"/>
                <a:sym typeface="Rokkitt"/>
              </a:rPr>
              <a:t> 3: Địn</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 dạ</a:t>
            </a:r>
            <a:r>
              <a:rPr lang="en-US" sz="3307" strike="noStrike" u="none">
                <a:solidFill>
                  <a:srgbClr val="000000"/>
                </a:solidFill>
                <a:latin typeface="Rokkitt"/>
                <a:ea typeface="Rokkitt"/>
                <a:cs typeface="Rokkitt"/>
                <a:sym typeface="Rokkitt"/>
              </a:rPr>
              <a:t>ng </a:t>
            </a:r>
            <a:r>
              <a:rPr lang="en-US" sz="3307" strike="noStrike" u="none">
                <a:solidFill>
                  <a:srgbClr val="000000"/>
                </a:solidFill>
                <a:latin typeface="Rokkitt"/>
                <a:ea typeface="Rokkitt"/>
                <a:cs typeface="Rokkitt"/>
                <a:sym typeface="Rokkitt"/>
              </a:rPr>
              <a:t>lại</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d</a:t>
            </a:r>
            <a:r>
              <a:rPr lang="en-US" sz="3307" strike="noStrike" u="none">
                <a:solidFill>
                  <a:srgbClr val="000000"/>
                </a:solidFill>
                <a:latin typeface="Rokkitt"/>
                <a:ea typeface="Rokkitt"/>
                <a:cs typeface="Rokkitt"/>
                <a:sym typeface="Rokkitt"/>
              </a:rPr>
              <a:t>o</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s</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ring</a:t>
            </a:r>
            <a:r>
              <a:rPr lang="en-US" sz="3307" strike="noStrike" u="none">
                <a:solidFill>
                  <a:srgbClr val="000000"/>
                </a:solidFill>
                <a:latin typeface="Rokkitt"/>
                <a:ea typeface="Rokkitt"/>
                <a:cs typeface="Rokkitt"/>
                <a:sym typeface="Rokkitt"/>
              </a:rPr>
              <a:t> th</a:t>
            </a:r>
            <a:r>
              <a:rPr lang="en-US" sz="3307" strike="noStrike" u="none">
                <a:solidFill>
                  <a:srgbClr val="000000"/>
                </a:solidFill>
                <a:latin typeface="Rokkitt"/>
                <a:ea typeface="Rokkitt"/>
                <a:cs typeface="Rokkitt"/>
                <a:sym typeface="Rokkitt"/>
              </a:rPr>
              <a:t>eo </a:t>
            </a:r>
            <a:r>
              <a:rPr lang="en-US" sz="3307" strike="noStrike" u="none">
                <a:solidFill>
                  <a:srgbClr val="000000"/>
                </a:solidFill>
                <a:latin typeface="Rokkitt"/>
                <a:ea typeface="Rokkitt"/>
                <a:cs typeface="Rokkitt"/>
                <a:sym typeface="Rokkitt"/>
              </a:rPr>
              <a:t>chuẩn</a:t>
            </a:r>
            <a:r>
              <a:rPr lang="en-US" sz="3307" strike="noStrike" u="none">
                <a:solidFill>
                  <a:srgbClr val="000000"/>
                </a:solidFill>
                <a:latin typeface="Rokkitt"/>
                <a:ea typeface="Rokkitt"/>
                <a:cs typeface="Rokkitt"/>
                <a:sym typeface="Rokkitt"/>
              </a:rPr>
              <a:t> (ví dụ: Google</a:t>
            </a:r>
            <a:r>
              <a:rPr lang="en-US" sz="3307" strike="noStrike" u="none">
                <a:solidFill>
                  <a:srgbClr val="000000"/>
                </a:solidFill>
                <a:latin typeface="Rokkitt"/>
                <a:ea typeface="Rokkitt"/>
                <a:cs typeface="Rokkitt"/>
                <a:sym typeface="Rokkitt"/>
              </a:rPr>
              <a:t> Sty</a:t>
            </a:r>
            <a:r>
              <a:rPr lang="en-US" sz="3307" strike="noStrike" u="none">
                <a:solidFill>
                  <a:srgbClr val="000000"/>
                </a:solidFill>
                <a:latin typeface="Rokkitt"/>
                <a:ea typeface="Rokkitt"/>
                <a:cs typeface="Rokkitt"/>
                <a:sym typeface="Rokkitt"/>
              </a:rPr>
              <a:t>le). </a:t>
            </a:r>
          </a:p>
          <a:p>
            <a:pPr algn="l">
              <a:lnSpc>
                <a:spcPts val="4629"/>
              </a:lnSpc>
            </a:pPr>
            <a:r>
              <a:rPr lang="en-US" sz="3307" strike="noStrike" u="none">
                <a:solidFill>
                  <a:srgbClr val="000000"/>
                </a:solidFill>
                <a:latin typeface="Rokkitt"/>
                <a:ea typeface="Rokkitt"/>
                <a:cs typeface="Rokkitt"/>
                <a:sym typeface="Rokkitt"/>
              </a:rPr>
              <a:t>Bước 4:</a:t>
            </a:r>
            <a:r>
              <a:rPr lang="en-US" sz="3307" strike="noStrike" u="none">
                <a:solidFill>
                  <a:srgbClr val="000000"/>
                </a:solidFill>
                <a:latin typeface="Rokkitt"/>
                <a:ea typeface="Rokkitt"/>
                <a:cs typeface="Rokkitt"/>
                <a:sym typeface="Rokkitt"/>
              </a:rPr>
              <a:t> Viết các</a:t>
            </a:r>
            <a:r>
              <a:rPr lang="en-US" sz="3307" strike="noStrike" u="none">
                <a:solidFill>
                  <a:srgbClr val="000000"/>
                </a:solidFill>
                <a:latin typeface="Rokkitt"/>
                <a:ea typeface="Rokkitt"/>
                <a:cs typeface="Rokkitt"/>
                <a:sym typeface="Rokkitt"/>
              </a:rPr>
              <a:t> bộ</a:t>
            </a:r>
            <a:r>
              <a:rPr lang="en-US" sz="3307" strike="noStrike" u="none">
                <a:solidFill>
                  <a:srgbClr val="000000"/>
                </a:solidFill>
                <a:latin typeface="Rokkitt"/>
                <a:ea typeface="Rokkitt"/>
                <a:cs typeface="Rokkitt"/>
                <a:sym typeface="Rokkitt"/>
              </a:rPr>
              <a:t> kiểm thử</a:t>
            </a:r>
            <a:r>
              <a:rPr lang="en-US" sz="3307" strike="noStrike" u="none">
                <a:solidFill>
                  <a:srgbClr val="000000"/>
                </a:solidFill>
                <a:latin typeface="Rokkitt"/>
                <a:ea typeface="Rokkitt"/>
                <a:cs typeface="Rokkitt"/>
                <a:sym typeface="Rokkitt"/>
              </a:rPr>
              <a:t> đ</a:t>
            </a:r>
            <a:r>
              <a:rPr lang="en-US" sz="3307" strike="noStrike" u="none">
                <a:solidFill>
                  <a:srgbClr val="000000"/>
                </a:solidFill>
                <a:latin typeface="Rokkitt"/>
                <a:ea typeface="Rokkitt"/>
                <a:cs typeface="Rokkitt"/>
                <a:sym typeface="Rokkitt"/>
              </a:rPr>
              <a:t>ơ</a:t>
            </a:r>
            <a:r>
              <a:rPr lang="en-US" sz="3307" strike="noStrike" u="none">
                <a:solidFill>
                  <a:srgbClr val="000000"/>
                </a:solidFill>
                <a:latin typeface="Rokkitt"/>
                <a:ea typeface="Rokkitt"/>
                <a:cs typeface="Rokkitt"/>
                <a:sym typeface="Rokkitt"/>
              </a:rPr>
              <a:t>n vị</a:t>
            </a:r>
            <a:r>
              <a:rPr lang="en-US" sz="3307" strike="noStrike" u="none">
                <a:solidFill>
                  <a:srgbClr val="000000"/>
                </a:solidFill>
                <a:latin typeface="Rokkitt"/>
                <a:ea typeface="Rokkitt"/>
                <a:cs typeface="Rokkitt"/>
                <a:sym typeface="Rokkitt"/>
              </a:rPr>
              <a:t> (unit</a:t>
            </a:r>
            <a:r>
              <a:rPr lang="en-US" sz="3307" strike="noStrike" u="none">
                <a:solidFill>
                  <a:srgbClr val="000000"/>
                </a:solidFill>
                <a:latin typeface="Rokkitt"/>
                <a:ea typeface="Rokkitt"/>
                <a:cs typeface="Rokkitt"/>
                <a:sym typeface="Rokkitt"/>
              </a:rPr>
              <a:t> tests).</a:t>
            </a:r>
          </a:p>
          <a:p>
            <a:pPr algn="l">
              <a:lnSpc>
                <a:spcPts val="4629"/>
              </a:lnSpc>
            </a:pP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18433" y="1181100"/>
            <a:ext cx="17032187" cy="2166641"/>
            <a:chOff x="0" y="0"/>
            <a:chExt cx="1324559" cy="168495"/>
          </a:xfrm>
        </p:grpSpPr>
        <p:sp>
          <p:nvSpPr>
            <p:cNvPr name="Freeform 3" id="3"/>
            <p:cNvSpPr/>
            <p:nvPr/>
          </p:nvSpPr>
          <p:spPr>
            <a:xfrm flipH="false" flipV="false" rot="0">
              <a:off x="0" y="0"/>
              <a:ext cx="1324559" cy="168495"/>
            </a:xfrm>
            <a:custGeom>
              <a:avLst/>
              <a:gdLst/>
              <a:ahLst/>
              <a:cxnLst/>
              <a:rect r="r" b="b" t="t" l="l"/>
              <a:pathLst>
                <a:path h="168495" w="1324559">
                  <a:moveTo>
                    <a:pt x="0" y="0"/>
                  </a:moveTo>
                  <a:lnTo>
                    <a:pt x="1324559" y="0"/>
                  </a:lnTo>
                  <a:lnTo>
                    <a:pt x="1324559" y="168495"/>
                  </a:lnTo>
                  <a:lnTo>
                    <a:pt x="0" y="168495"/>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235170"/>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2186165" y="1201746"/>
            <a:ext cx="14096724" cy="2931753"/>
          </a:xfrm>
          <a:prstGeom prst="rect">
            <a:avLst/>
          </a:prstGeom>
        </p:spPr>
        <p:txBody>
          <a:bodyPr anchor="t" rtlCol="false" tIns="0" lIns="0" bIns="0" rIns="0">
            <a:spAutoFit/>
          </a:bodyPr>
          <a:lstStyle/>
          <a:p>
            <a:pPr algn="ctr">
              <a:lnSpc>
                <a:spcPts val="7845"/>
              </a:lnSpc>
            </a:pPr>
            <a:r>
              <a:rPr lang="en-US" b="true" sz="5336">
                <a:solidFill>
                  <a:srgbClr val="000000"/>
                </a:solidFill>
                <a:latin typeface="Tomorrow Bold"/>
                <a:ea typeface="Tomorrow Bold"/>
                <a:cs typeface="Tomorrow Bold"/>
                <a:sym typeface="Tomorrow Bold"/>
              </a:rPr>
              <a:t>9.4. Chiến lược Quản lý Lịch sử Hội thoại (Selective History)</a:t>
            </a:r>
          </a:p>
          <a:p>
            <a:pPr algn="ctr">
              <a:lnSpc>
                <a:spcPts val="7845"/>
              </a:lnSpc>
            </a:pPr>
          </a:p>
        </p:txBody>
      </p:sp>
      <p:sp>
        <p:nvSpPr>
          <p:cNvPr name="TextBox 6" id="6"/>
          <p:cNvSpPr txBox="true"/>
          <p:nvPr/>
        </p:nvSpPr>
        <p:spPr>
          <a:xfrm rot="0">
            <a:off x="870833" y="3594083"/>
            <a:ext cx="17155933" cy="4630667"/>
          </a:xfrm>
          <a:prstGeom prst="rect">
            <a:avLst/>
          </a:prstGeom>
        </p:spPr>
        <p:txBody>
          <a:bodyPr anchor="t" rtlCol="false" tIns="0" lIns="0" bIns="0" rIns="0">
            <a:spAutoFit/>
          </a:bodyPr>
          <a:lstStyle/>
          <a:p>
            <a:pPr algn="l">
              <a:lnSpc>
                <a:spcPts val="4629"/>
              </a:lnSpc>
            </a:pPr>
            <a:r>
              <a:rPr lang="en-US" sz="3307">
                <a:solidFill>
                  <a:srgbClr val="000000"/>
                </a:solidFill>
                <a:latin typeface="Rokkitt"/>
                <a:ea typeface="Rokkitt"/>
                <a:cs typeface="Rokkitt"/>
                <a:sym typeface="Rokkitt"/>
              </a:rPr>
              <a:t>Khi làm việc với OpenAI</a:t>
            </a:r>
            <a:r>
              <a:rPr lang="en-US" sz="3307" strike="noStrike" u="none">
                <a:solidFill>
                  <a:srgbClr val="000000"/>
                </a:solidFill>
                <a:latin typeface="Rokkitt"/>
                <a:ea typeface="Rokkitt"/>
                <a:cs typeface="Rokkitt"/>
                <a:sym typeface="Rokkitt"/>
              </a:rPr>
              <a:t> API cho các chuỗi gợi ý dài, việc gửi toàn bộ lịch sử hội thoại sẽ làm tăng chi phí token và gây xao nhãng cho mô hình.</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Naive</a:t>
            </a:r>
            <a:r>
              <a:rPr lang="en-US" b="true" sz="3307" strike="noStrike" u="none">
                <a:solidFill>
                  <a:srgbClr val="000000"/>
                </a:solidFill>
                <a:latin typeface="Rokkitt Bold"/>
                <a:ea typeface="Rokkitt Bold"/>
                <a:cs typeface="Rokkitt Bold"/>
                <a:sym typeface="Rokkitt Bold"/>
              </a:rPr>
              <a:t> Approach (Tiếp cận ngây th</a:t>
            </a:r>
            <a:r>
              <a:rPr lang="en-US" b="true" sz="3307" strike="noStrike" u="none">
                <a:solidFill>
                  <a:srgbClr val="000000"/>
                </a:solidFill>
                <a:latin typeface="Rokkitt Bold"/>
                <a:ea typeface="Rokkitt Bold"/>
                <a:cs typeface="Rokkitt Bold"/>
                <a:sym typeface="Rokkitt Bold"/>
              </a:rPr>
              <a:t>ơ):</a:t>
            </a:r>
            <a:r>
              <a:rPr lang="en-US" b="true" sz="3307" strike="noStrike" u="none">
                <a:solidFill>
                  <a:srgbClr val="000000"/>
                </a:solidFill>
                <a:latin typeface="Rokkitt Bold"/>
                <a:ea typeface="Rokkitt Bold"/>
                <a:cs typeface="Rokkitt Bold"/>
                <a:sym typeface="Rokkitt Bold"/>
              </a:rPr>
              <a:t> </a:t>
            </a:r>
            <a:r>
              <a:rPr lang="en-US" sz="3307" strike="noStrike" u="none">
                <a:solidFill>
                  <a:srgbClr val="000000"/>
                </a:solidFill>
                <a:latin typeface="Rokkitt"/>
                <a:ea typeface="Rokkitt"/>
                <a:cs typeface="Rokkitt"/>
                <a:sym typeface="Rokkitt"/>
              </a:rPr>
              <a:t>Lưu trữ và gửi lại toàn bộ hội thoại. Token sẽ tích lũy rất nhanh, dẫn đến tốn kém.</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Selective History (Lịch sử ch</a:t>
            </a:r>
            <a:r>
              <a:rPr lang="en-US" b="true" sz="3307" strike="noStrike" u="none">
                <a:solidFill>
                  <a:srgbClr val="000000"/>
                </a:solidFill>
                <a:latin typeface="Rokkitt Bold"/>
                <a:ea typeface="Rokkitt Bold"/>
                <a:cs typeface="Rokkitt Bold"/>
                <a:sym typeface="Rokkitt Bold"/>
              </a:rPr>
              <a:t>ọn lọ</a:t>
            </a:r>
            <a:r>
              <a:rPr lang="en-US" b="true" sz="3307" strike="noStrike" u="none">
                <a:solidFill>
                  <a:srgbClr val="000000"/>
                </a:solidFill>
                <a:latin typeface="Rokkitt Bold"/>
                <a:ea typeface="Rokkitt Bold"/>
                <a:cs typeface="Rokkitt Bold"/>
                <a:sym typeface="Rokkitt Bold"/>
              </a:rPr>
              <a:t>c</a:t>
            </a:r>
            <a:r>
              <a:rPr lang="en-US" b="true" sz="3307" strike="noStrike" u="none">
                <a:solidFill>
                  <a:srgbClr val="000000"/>
                </a:solidFill>
                <a:latin typeface="Rokkitt Bold"/>
                <a:ea typeface="Rokkitt Bold"/>
                <a:cs typeface="Rokkitt Bold"/>
                <a:sym typeface="Rokkitt Bold"/>
              </a:rPr>
              <a:t>):</a:t>
            </a:r>
            <a:r>
              <a:rPr lang="en-US" b="true" sz="3307" strike="noStrike" u="none">
                <a:solidFill>
                  <a:srgbClr val="000000"/>
                </a:solidFill>
                <a:latin typeface="Rokkitt Bold"/>
                <a:ea typeface="Rokkitt Bold"/>
                <a:cs typeface="Rokkitt Bold"/>
                <a:sym typeface="Rokkitt Bold"/>
              </a:rPr>
              <a:t> </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ỉ</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trí</a:t>
            </a:r>
            <a:r>
              <a:rPr lang="en-US" sz="3307" strike="noStrike" u="none">
                <a:solidFill>
                  <a:srgbClr val="000000"/>
                </a:solidFill>
                <a:latin typeface="Rokkitt"/>
                <a:ea typeface="Rokkitt"/>
                <a:cs typeface="Rokkitt"/>
                <a:sym typeface="Rokkitt"/>
              </a:rPr>
              <a:t>ch xuất phần mã nguồn cần thiết từ phản hồi của AI và gửi kè</a:t>
            </a:r>
            <a:r>
              <a:rPr lang="en-US" sz="3307" strike="noStrike" u="none">
                <a:solidFill>
                  <a:srgbClr val="000000"/>
                </a:solidFill>
                <a:latin typeface="Rokkitt"/>
                <a:ea typeface="Rokkitt"/>
                <a:cs typeface="Rokkitt"/>
                <a:sym typeface="Rokkitt"/>
              </a:rPr>
              <a:t>m với mộ</a:t>
            </a:r>
            <a:r>
              <a:rPr lang="en-US" sz="3307" strike="noStrike" u="none">
                <a:solidFill>
                  <a:srgbClr val="000000"/>
                </a:solidFill>
                <a:latin typeface="Rokkitt"/>
                <a:ea typeface="Rokkitt"/>
                <a:cs typeface="Rokkitt"/>
                <a:sym typeface="Rokkitt"/>
              </a:rPr>
              <a:t>t </a:t>
            </a:r>
            <a:r>
              <a:rPr lang="en-US" sz="3307" strike="noStrike" u="none">
                <a:solidFill>
                  <a:srgbClr val="000000"/>
                </a:solidFill>
                <a:latin typeface="Rokkitt"/>
                <a:ea typeface="Rokkitt"/>
                <a:cs typeface="Rokkitt"/>
                <a:sym typeface="Rokkitt"/>
              </a:rPr>
              <a:t>câu</a:t>
            </a:r>
            <a:r>
              <a:rPr lang="en-US" sz="3307" strike="noStrike" u="none">
                <a:solidFill>
                  <a:srgbClr val="000000"/>
                </a:solidFill>
                <a:latin typeface="Rokkitt"/>
                <a:ea typeface="Rokkitt"/>
                <a:cs typeface="Rokkitt"/>
                <a:sym typeface="Rokkitt"/>
              </a:rPr>
              <a:t> lệnh hệ thống mới cho bước ti</a:t>
            </a:r>
            <a:r>
              <a:rPr lang="en-US" sz="3307" strike="noStrike" u="none">
                <a:solidFill>
                  <a:srgbClr val="000000"/>
                </a:solidFill>
                <a:latin typeface="Rokkitt"/>
                <a:ea typeface="Rokkitt"/>
                <a:cs typeface="Rokkitt"/>
                <a:sym typeface="Rokkitt"/>
              </a:rPr>
              <a:t>ếp</a:t>
            </a:r>
            <a:r>
              <a:rPr lang="en-US" sz="3307" strike="noStrike" u="none">
                <a:solidFill>
                  <a:srgbClr val="000000"/>
                </a:solidFill>
                <a:latin typeface="Rokkitt"/>
                <a:ea typeface="Rokkitt"/>
                <a:cs typeface="Rokkitt"/>
                <a:sym typeface="Rokkitt"/>
              </a:rPr>
              <a:t> theo. Phương phá</a:t>
            </a:r>
            <a:r>
              <a:rPr lang="en-US" sz="3307" strike="noStrike" u="none">
                <a:solidFill>
                  <a:srgbClr val="000000"/>
                </a:solidFill>
                <a:latin typeface="Rokkitt"/>
                <a:ea typeface="Rokkitt"/>
                <a:cs typeface="Rokkitt"/>
                <a:sym typeface="Rokkitt"/>
              </a:rPr>
              <a:t>p</a:t>
            </a:r>
            <a:r>
              <a:rPr lang="en-US" sz="3307" strike="noStrike" u="none">
                <a:solidFill>
                  <a:srgbClr val="000000"/>
                </a:solidFill>
                <a:latin typeface="Rokkitt"/>
                <a:ea typeface="Rokkitt"/>
                <a:cs typeface="Rokkitt"/>
                <a:sym typeface="Rokkitt"/>
              </a:rPr>
              <a:t> này có</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hể</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giảm </a:t>
            </a:r>
            <a:r>
              <a:rPr lang="en-US" sz="3307" strike="noStrike" u="none">
                <a:solidFill>
                  <a:srgbClr val="000000"/>
                </a:solidFill>
                <a:latin typeface="Rokkitt"/>
                <a:ea typeface="Rokkitt"/>
                <a:cs typeface="Rokkitt"/>
                <a:sym typeface="Rokkitt"/>
              </a:rPr>
              <a:t>lượng</a:t>
            </a:r>
            <a:r>
              <a:rPr lang="en-US" sz="3307" strike="noStrike" u="none">
                <a:solidFill>
                  <a:srgbClr val="000000"/>
                </a:solidFill>
                <a:latin typeface="Rokkitt"/>
                <a:ea typeface="Rokkitt"/>
                <a:cs typeface="Rokkitt"/>
                <a:sym typeface="Rokkitt"/>
              </a:rPr>
              <a:t> token </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iêu th</a:t>
            </a:r>
            <a:r>
              <a:rPr lang="en-US" sz="3307" strike="noStrike" u="none">
                <a:solidFill>
                  <a:srgbClr val="000000"/>
                </a:solidFill>
                <a:latin typeface="Rokkitt"/>
                <a:ea typeface="Rokkitt"/>
                <a:cs typeface="Rokkitt"/>
                <a:sym typeface="Rokkitt"/>
              </a:rPr>
              <a:t>ụ</a:t>
            </a:r>
            <a:r>
              <a:rPr lang="en-US" sz="3307" strike="noStrike" u="none">
                <a:solidFill>
                  <a:srgbClr val="000000"/>
                </a:solidFill>
                <a:latin typeface="Rokkitt"/>
                <a:ea typeface="Rokkitt"/>
                <a:cs typeface="Rokkitt"/>
                <a:sym typeface="Rokkitt"/>
              </a:rPr>
              <a:t> h</a:t>
            </a:r>
            <a:r>
              <a:rPr lang="en-US" sz="3307" strike="noStrike" u="none">
                <a:solidFill>
                  <a:srgbClr val="000000"/>
                </a:solidFill>
                <a:latin typeface="Rokkitt"/>
                <a:ea typeface="Rokkitt"/>
                <a:cs typeface="Rokkitt"/>
                <a:sym typeface="Rokkitt"/>
              </a:rPr>
              <a:t>ơ</a:t>
            </a:r>
            <a:r>
              <a:rPr lang="en-US" sz="3307" strike="noStrike" u="none">
                <a:solidFill>
                  <a:srgbClr val="000000"/>
                </a:solidFill>
                <a:latin typeface="Rokkitt"/>
                <a:ea typeface="Rokkitt"/>
                <a:cs typeface="Rokkitt"/>
                <a:sym typeface="Rokkitt"/>
              </a:rPr>
              <a:t>n 75% mà vẫn duy t</a:t>
            </a:r>
            <a:r>
              <a:rPr lang="en-US" sz="3307" strike="noStrike" u="none">
                <a:solidFill>
                  <a:srgbClr val="000000"/>
                </a:solidFill>
                <a:latin typeface="Rokkitt"/>
                <a:ea typeface="Rokkitt"/>
                <a:cs typeface="Rokkitt"/>
                <a:sym typeface="Rokkitt"/>
              </a:rPr>
              <a:t>rì</a:t>
            </a:r>
            <a:r>
              <a:rPr lang="en-US" sz="3307" strike="noStrike" u="none">
                <a:solidFill>
                  <a:srgbClr val="000000"/>
                </a:solidFill>
                <a:latin typeface="Rokkitt"/>
                <a:ea typeface="Rokkitt"/>
                <a:cs typeface="Rokkitt"/>
                <a:sym typeface="Rokkitt"/>
              </a:rPr>
              <a:t> chất </a:t>
            </a:r>
            <a:r>
              <a:rPr lang="en-US" sz="3307" strike="noStrike" u="none">
                <a:solidFill>
                  <a:srgbClr val="000000"/>
                </a:solidFill>
                <a:latin typeface="Rokkitt"/>
                <a:ea typeface="Rokkitt"/>
                <a:cs typeface="Rokkitt"/>
                <a:sym typeface="Rokkitt"/>
              </a:rPr>
              <a:t>lượng</a:t>
            </a:r>
            <a:r>
              <a:rPr lang="en-US" sz="3307" strike="noStrike" u="none">
                <a:solidFill>
                  <a:srgbClr val="000000"/>
                </a:solidFill>
                <a:latin typeface="Rokkitt"/>
                <a:ea typeface="Rokkitt"/>
                <a:cs typeface="Rokkitt"/>
                <a:sym typeface="Rokkitt"/>
              </a:rPr>
              <a:t> đầu </a:t>
            </a:r>
            <a:r>
              <a:rPr lang="en-US" sz="3307" strike="noStrike" u="none">
                <a:solidFill>
                  <a:srgbClr val="000000"/>
                </a:solidFill>
                <a:latin typeface="Rokkitt"/>
                <a:ea typeface="Rokkitt"/>
                <a:cs typeface="Rokkitt"/>
                <a:sym typeface="Rokkitt"/>
              </a:rPr>
              <a:t>ra</a:t>
            </a:r>
            <a:r>
              <a:rPr lang="en-US" sz="3307" strike="noStrike" u="none">
                <a:solidFill>
                  <a:srgbClr val="000000"/>
                </a:solidFill>
                <a:latin typeface="Rokkitt"/>
                <a:ea typeface="Rokkitt"/>
                <a:cs typeface="Rokkitt"/>
                <a:sym typeface="Rokkitt"/>
              </a:rPr>
              <a:t> t</a:t>
            </a:r>
            <a:r>
              <a:rPr lang="en-US" sz="3307" strike="noStrike" u="none">
                <a:solidFill>
                  <a:srgbClr val="000000"/>
                </a:solidFill>
                <a:latin typeface="Rokkitt"/>
                <a:ea typeface="Rokkitt"/>
                <a:cs typeface="Rokkitt"/>
                <a:sym typeface="Rokkitt"/>
              </a:rPr>
              <a:t>ư</a:t>
            </a:r>
            <a:r>
              <a:rPr lang="en-US" sz="3307" strike="noStrike" u="none">
                <a:solidFill>
                  <a:srgbClr val="000000"/>
                </a:solidFill>
                <a:latin typeface="Rokkitt"/>
                <a:ea typeface="Rokkitt"/>
                <a:cs typeface="Rokkitt"/>
                <a:sym typeface="Rokkitt"/>
              </a:rPr>
              <a:t>ơng đươn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a:t>
            </a:r>
          </a:p>
          <a:p>
            <a:pPr algn="l">
              <a:lnSpc>
                <a:spcPts val="4629"/>
              </a:lnSpc>
            </a:pPr>
          </a:p>
        </p:txBody>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664014" y="2384472"/>
            <a:ext cx="6959972" cy="3639978"/>
            <a:chOff x="0" y="0"/>
            <a:chExt cx="9279963" cy="4853304"/>
          </a:xfrm>
        </p:grpSpPr>
        <p:grpSp>
          <p:nvGrpSpPr>
            <p:cNvPr name="Group 3" id="3"/>
            <p:cNvGrpSpPr/>
            <p:nvPr/>
          </p:nvGrpSpPr>
          <p:grpSpPr>
            <a:xfrm rot="0">
              <a:off x="122592" y="0"/>
              <a:ext cx="9157370" cy="1791455"/>
              <a:chOff x="0" y="0"/>
              <a:chExt cx="534113" cy="104488"/>
            </a:xfrm>
          </p:grpSpPr>
          <p:sp>
            <p:nvSpPr>
              <p:cNvPr name="Freeform 4" id="4"/>
              <p:cNvSpPr/>
              <p:nvPr/>
            </p:nvSpPr>
            <p:spPr>
              <a:xfrm flipH="false" flipV="false" rot="0">
                <a:off x="0" y="0"/>
                <a:ext cx="534113" cy="104488"/>
              </a:xfrm>
              <a:custGeom>
                <a:avLst/>
                <a:gdLst/>
                <a:ahLst/>
                <a:cxnLst/>
                <a:rect r="r" b="b" t="t" l="l"/>
                <a:pathLst>
                  <a:path h="104488" w="534113">
                    <a:moveTo>
                      <a:pt x="0" y="0"/>
                    </a:moveTo>
                    <a:lnTo>
                      <a:pt x="534113" y="0"/>
                    </a:lnTo>
                    <a:lnTo>
                      <a:pt x="534113"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534113"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9279963" cy="4799168"/>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9.5. Kết luận</a:t>
              </a:r>
            </a:p>
            <a:p>
              <a:pPr algn="ctr">
                <a:lnSpc>
                  <a:spcPts val="9756"/>
                </a:lnSpc>
              </a:pPr>
            </a:p>
            <a:p>
              <a:pPr algn="ctr">
                <a:lnSpc>
                  <a:spcPts val="9756"/>
                </a:lnSpc>
              </a:pPr>
            </a:p>
          </p:txBody>
        </p:sp>
      </p:grpSp>
      <p:sp>
        <p:nvSpPr>
          <p:cNvPr name="TextBox 7" id="7"/>
          <p:cNvSpPr txBox="true"/>
          <p:nvPr/>
        </p:nvSpPr>
        <p:spPr>
          <a:xfrm rot="0">
            <a:off x="527170" y="3970748"/>
            <a:ext cx="17233659" cy="3128525"/>
          </a:xfrm>
          <a:prstGeom prst="rect">
            <a:avLst/>
          </a:prstGeom>
        </p:spPr>
        <p:txBody>
          <a:bodyPr anchor="t" rtlCol="false" tIns="0" lIns="0" bIns="0" rIns="0">
            <a:spAutoFit/>
          </a:bodyPr>
          <a:lstStyle/>
          <a:p>
            <a:pPr algn="l">
              <a:lnSpc>
                <a:spcPts val="5004"/>
              </a:lnSpc>
            </a:pPr>
            <a:r>
              <a:rPr lang="en-US" sz="3574">
                <a:solidFill>
                  <a:srgbClr val="000000"/>
                </a:solidFill>
                <a:latin typeface="Rokkitt"/>
                <a:ea typeface="Rokkitt"/>
                <a:cs typeface="Rokkitt"/>
                <a:sym typeface="Rokkitt"/>
              </a:rPr>
              <a:t>Việc á</a:t>
            </a:r>
            <a:r>
              <a:rPr lang="en-US" sz="3574" strike="noStrike" u="none">
                <a:solidFill>
                  <a:srgbClr val="000000"/>
                </a:solidFill>
                <a:latin typeface="Rokkitt"/>
                <a:ea typeface="Rokkitt"/>
                <a:cs typeface="Rokkitt"/>
                <a:sym typeface="Rokkitt"/>
              </a:rPr>
              <a:t>p dụng CoT và Chaining cho phép các mô hìn</a:t>
            </a:r>
            <a:r>
              <a:rPr lang="en-US" sz="3574" strike="noStrike" u="none">
                <a:solidFill>
                  <a:srgbClr val="000000"/>
                </a:solidFill>
                <a:latin typeface="Rokkitt"/>
                <a:ea typeface="Rokkitt"/>
                <a:cs typeface="Rokkitt"/>
                <a:sym typeface="Rokkitt"/>
              </a:rPr>
              <a:t>h</a:t>
            </a:r>
            <a:r>
              <a:rPr lang="en-US" sz="3574" strike="noStrike" u="none">
                <a:solidFill>
                  <a:srgbClr val="000000"/>
                </a:solidFill>
                <a:latin typeface="Rokkitt"/>
                <a:ea typeface="Rokkitt"/>
                <a:cs typeface="Rokkitt"/>
                <a:sym typeface="Rokkitt"/>
              </a:rPr>
              <a:t> nhỏ và </a:t>
            </a:r>
            <a:r>
              <a:rPr lang="en-US" sz="3574" strike="noStrike" u="none">
                <a:solidFill>
                  <a:srgbClr val="000000"/>
                </a:solidFill>
                <a:latin typeface="Rokkitt"/>
                <a:ea typeface="Rokkitt"/>
                <a:cs typeface="Rokkitt"/>
                <a:sym typeface="Rokkitt"/>
              </a:rPr>
              <a:t>rẻ</a:t>
            </a:r>
            <a:r>
              <a:rPr lang="en-US" sz="3574" strike="noStrike" u="none">
                <a:solidFill>
                  <a:srgbClr val="000000"/>
                </a:solidFill>
                <a:latin typeface="Rokkitt"/>
                <a:ea typeface="Rokkitt"/>
                <a:cs typeface="Rokkitt"/>
                <a:sym typeface="Rokkitt"/>
              </a:rPr>
              <a:t> hơn (như GPT-4o mini) tạo ra kết quả vượt trội so với các mô hình mạnh </a:t>
            </a:r>
            <a:r>
              <a:rPr lang="en-US" sz="3574" strike="noStrike" u="none">
                <a:solidFill>
                  <a:srgbClr val="000000"/>
                </a:solidFill>
                <a:latin typeface="Rokkitt"/>
                <a:ea typeface="Rokkitt"/>
                <a:cs typeface="Rokkitt"/>
                <a:sym typeface="Rokkitt"/>
              </a:rPr>
              <a:t>hơn</a:t>
            </a:r>
            <a:r>
              <a:rPr lang="en-US" sz="3574" strike="noStrike" u="none">
                <a:solidFill>
                  <a:srgbClr val="000000"/>
                </a:solidFill>
                <a:latin typeface="Rokkitt"/>
                <a:ea typeface="Rokkitt"/>
                <a:cs typeface="Rokkitt"/>
                <a:sym typeface="Rokkitt"/>
              </a:rPr>
              <a:t> nhưng ch</a:t>
            </a:r>
            <a:r>
              <a:rPr lang="en-US" sz="3574" strike="noStrike" u="none">
                <a:solidFill>
                  <a:srgbClr val="000000"/>
                </a:solidFill>
                <a:latin typeface="Rokkitt"/>
                <a:ea typeface="Rokkitt"/>
                <a:cs typeface="Rokkitt"/>
                <a:sym typeface="Rokkitt"/>
              </a:rPr>
              <a:t>ỉ</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đượ</a:t>
            </a:r>
            <a:r>
              <a:rPr lang="en-US" sz="3574" strike="noStrike" u="none">
                <a:solidFill>
                  <a:srgbClr val="000000"/>
                </a:solidFill>
                <a:latin typeface="Rokkitt"/>
                <a:ea typeface="Rokkitt"/>
                <a:cs typeface="Rokkitt"/>
                <a:sym typeface="Rokkitt"/>
              </a:rPr>
              <a:t>c </a:t>
            </a:r>
            <a:r>
              <a:rPr lang="en-US" sz="3574" strike="noStrike" u="none">
                <a:solidFill>
                  <a:srgbClr val="000000"/>
                </a:solidFill>
                <a:latin typeface="Rokkitt"/>
                <a:ea typeface="Rokkitt"/>
                <a:cs typeface="Rokkitt"/>
                <a:sym typeface="Rokkitt"/>
              </a:rPr>
              <a:t>yêu</a:t>
            </a:r>
            <a:r>
              <a:rPr lang="en-US" sz="3574" strike="noStrike" u="none">
                <a:solidFill>
                  <a:srgbClr val="000000"/>
                </a:solidFill>
                <a:latin typeface="Rokkitt"/>
                <a:ea typeface="Rokkitt"/>
                <a:cs typeface="Rokkitt"/>
                <a:sym typeface="Rokkitt"/>
              </a:rPr>
              <a:t> </a:t>
            </a:r>
            <a:r>
              <a:rPr lang="en-US" sz="3574" strike="noStrike" u="none">
                <a:solidFill>
                  <a:srgbClr val="000000"/>
                </a:solidFill>
                <a:latin typeface="Rokkitt"/>
                <a:ea typeface="Rokkitt"/>
                <a:cs typeface="Rokkitt"/>
                <a:sym typeface="Rokkitt"/>
              </a:rPr>
              <a:t>cầu</a:t>
            </a:r>
            <a:r>
              <a:rPr lang="en-US" sz="3574" strike="noStrike" u="none">
                <a:solidFill>
                  <a:srgbClr val="000000"/>
                </a:solidFill>
                <a:latin typeface="Rokkitt"/>
                <a:ea typeface="Rokkitt"/>
                <a:cs typeface="Rokkitt"/>
                <a:sym typeface="Rokkitt"/>
              </a:rPr>
              <a:t> bằng các câu lệnh đơn lẻ. </a:t>
            </a:r>
          </a:p>
          <a:p>
            <a:pPr algn="l">
              <a:lnSpc>
                <a:spcPts val="5004"/>
              </a:lnSpc>
            </a:pPr>
            <a:r>
              <a:rPr lang="en-US" sz="3574" strike="noStrike" u="none">
                <a:solidFill>
                  <a:srgbClr val="000000"/>
                </a:solidFill>
                <a:latin typeface="Rokkitt"/>
                <a:ea typeface="Rokkitt"/>
                <a:cs typeface="Rokkitt"/>
                <a:sym typeface="Rokkitt"/>
              </a:rPr>
              <a:t>Kỹ thuật này không chỉ cải thiện độ chính xác mà còn giúp mã nguồn trở nên sạch sẽ, có cấu trúc và sẵn sàng sử dụng trong môi trường thực tế</a:t>
            </a:r>
          </a:p>
        </p:txBody>
      </p:sp>
    </p:spTree>
  </p:cSld>
  <p:clrMapOvr>
    <a:masterClrMapping/>
  </p:clrMapOvr>
</p:sld>
</file>

<file path=ppt/slides/slide3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39985" y="3224791"/>
            <a:ext cx="16608030" cy="3916929"/>
            <a:chOff x="0" y="0"/>
            <a:chExt cx="2142977" cy="505412"/>
          </a:xfrm>
        </p:grpSpPr>
        <p:sp>
          <p:nvSpPr>
            <p:cNvPr name="Freeform 3" id="3"/>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4" id="4"/>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5" id="5"/>
          <p:cNvGrpSpPr/>
          <p:nvPr/>
        </p:nvGrpSpPr>
        <p:grpSpPr>
          <a:xfrm rot="0">
            <a:off x="839985" y="3224791"/>
            <a:ext cx="16608030" cy="1742925"/>
            <a:chOff x="0" y="0"/>
            <a:chExt cx="2142977" cy="224894"/>
          </a:xfrm>
        </p:grpSpPr>
        <p:sp>
          <p:nvSpPr>
            <p:cNvPr name="Freeform 6" id="6"/>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7" id="7"/>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8" id="8"/>
          <p:cNvSpPr txBox="true"/>
          <p:nvPr/>
        </p:nvSpPr>
        <p:spPr>
          <a:xfrm rot="0">
            <a:off x="1158183" y="5435812"/>
            <a:ext cx="16289832" cy="852323"/>
          </a:xfrm>
          <a:prstGeom prst="rect">
            <a:avLst/>
          </a:prstGeom>
        </p:spPr>
        <p:txBody>
          <a:bodyPr anchor="t" rtlCol="false" tIns="0" lIns="0" bIns="0" rIns="0">
            <a:spAutoFit/>
          </a:bodyPr>
          <a:lstStyle/>
          <a:p>
            <a:pPr algn="ctr">
              <a:lnSpc>
                <a:spcPts val="7088"/>
              </a:lnSpc>
            </a:pPr>
            <a:r>
              <a:rPr lang="en-US" b="true" sz="4694" spc="239">
                <a:solidFill>
                  <a:srgbClr val="000000"/>
                </a:solidFill>
                <a:latin typeface="Tomorrow Bold"/>
                <a:ea typeface="Tomorrow Bold"/>
                <a:cs typeface="Tomorrow Bold"/>
                <a:sym typeface="Tomorrow Bold"/>
              </a:rPr>
              <a:t>TÁI CẤU TRÚC MÃ VỚI GENAI</a:t>
            </a:r>
          </a:p>
        </p:txBody>
      </p:sp>
      <p:sp>
        <p:nvSpPr>
          <p:cNvPr name="TextBox 9" id="9"/>
          <p:cNvSpPr txBox="true"/>
          <p:nvPr/>
        </p:nvSpPr>
        <p:spPr>
          <a:xfrm rot="0">
            <a:off x="7744542" y="2690307"/>
            <a:ext cx="2798915" cy="2283457"/>
          </a:xfrm>
          <a:prstGeom prst="rect">
            <a:avLst/>
          </a:prstGeom>
        </p:spPr>
        <p:txBody>
          <a:bodyPr anchor="t" rtlCol="false" tIns="0" lIns="0" bIns="0" rIns="0">
            <a:spAutoFit/>
          </a:bodyPr>
          <a:lstStyle/>
          <a:p>
            <a:pPr algn="ctr">
              <a:lnSpc>
                <a:spcPts val="18891"/>
              </a:lnSpc>
            </a:pPr>
            <a:r>
              <a:rPr lang="en-US" b="true" sz="12851">
                <a:solidFill>
                  <a:srgbClr val="000000"/>
                </a:solidFill>
                <a:latin typeface="Tomorrow Bold"/>
                <a:ea typeface="Tomorrow Bold"/>
                <a:cs typeface="Tomorrow Bold"/>
                <a:sym typeface="Tomorrow Bold"/>
              </a:rPr>
              <a:t>10</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18433" y="1181100"/>
            <a:ext cx="17032187" cy="2166641"/>
            <a:chOff x="0" y="0"/>
            <a:chExt cx="1324559" cy="168495"/>
          </a:xfrm>
        </p:grpSpPr>
        <p:sp>
          <p:nvSpPr>
            <p:cNvPr name="Freeform 3" id="3"/>
            <p:cNvSpPr/>
            <p:nvPr/>
          </p:nvSpPr>
          <p:spPr>
            <a:xfrm flipH="false" flipV="false" rot="0">
              <a:off x="0" y="0"/>
              <a:ext cx="1324559" cy="168495"/>
            </a:xfrm>
            <a:custGeom>
              <a:avLst/>
              <a:gdLst/>
              <a:ahLst/>
              <a:cxnLst/>
              <a:rect r="r" b="b" t="t" l="l"/>
              <a:pathLst>
                <a:path h="168495" w="1324559">
                  <a:moveTo>
                    <a:pt x="0" y="0"/>
                  </a:moveTo>
                  <a:lnTo>
                    <a:pt x="1324559" y="0"/>
                  </a:lnTo>
                  <a:lnTo>
                    <a:pt x="1324559" y="168495"/>
                  </a:lnTo>
                  <a:lnTo>
                    <a:pt x="0" y="168495"/>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235170"/>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2186165" y="1201746"/>
            <a:ext cx="14096724" cy="2931753"/>
          </a:xfrm>
          <a:prstGeom prst="rect">
            <a:avLst/>
          </a:prstGeom>
        </p:spPr>
        <p:txBody>
          <a:bodyPr anchor="t" rtlCol="false" tIns="0" lIns="0" bIns="0" rIns="0">
            <a:spAutoFit/>
          </a:bodyPr>
          <a:lstStyle/>
          <a:p>
            <a:pPr algn="ctr">
              <a:lnSpc>
                <a:spcPts val="7845"/>
              </a:lnSpc>
            </a:pPr>
            <a:r>
              <a:rPr lang="en-US" b="true" sz="5336">
                <a:solidFill>
                  <a:srgbClr val="000000"/>
                </a:solidFill>
                <a:latin typeface="Tomorrow Bold"/>
                <a:ea typeface="Tomorrow Bold"/>
                <a:cs typeface="Tomorrow Bold"/>
                <a:sym typeface="Tomorrow Bold"/>
              </a:rPr>
              <a:t>10.1. Khái niệm và Tầm quan trọng của Refactoring trong kỷ nguyên AI</a:t>
            </a:r>
          </a:p>
          <a:p>
            <a:pPr algn="ctr">
              <a:lnSpc>
                <a:spcPts val="7845"/>
              </a:lnSpc>
            </a:pPr>
          </a:p>
        </p:txBody>
      </p:sp>
      <p:sp>
        <p:nvSpPr>
          <p:cNvPr name="TextBox 6" id="6"/>
          <p:cNvSpPr txBox="true"/>
          <p:nvPr/>
        </p:nvSpPr>
        <p:spPr>
          <a:xfrm rot="0">
            <a:off x="718433" y="3465635"/>
            <a:ext cx="17155933" cy="5792665"/>
          </a:xfrm>
          <a:prstGeom prst="rect">
            <a:avLst/>
          </a:prstGeom>
        </p:spPr>
        <p:txBody>
          <a:bodyPr anchor="t" rtlCol="false" tIns="0" lIns="0" bIns="0" rIns="0">
            <a:spAutoFit/>
          </a:bodyPr>
          <a:lstStyle/>
          <a:p>
            <a:pPr algn="l">
              <a:lnSpc>
                <a:spcPts val="4629"/>
              </a:lnSpc>
            </a:pPr>
            <a:r>
              <a:rPr lang="en-US" sz="3307">
                <a:solidFill>
                  <a:srgbClr val="000000"/>
                </a:solidFill>
                <a:latin typeface="Rokkitt"/>
                <a:ea typeface="Rokkitt"/>
                <a:cs typeface="Rokkitt"/>
                <a:sym typeface="Rokkitt"/>
              </a:rPr>
              <a:t>Tái cấu trúc mã nguồn</a:t>
            </a:r>
            <a:r>
              <a:rPr lang="en-US" sz="3307" strike="noStrike" u="none">
                <a:solidFill>
                  <a:srgbClr val="000000"/>
                </a:solidFill>
                <a:latin typeface="Rokkitt"/>
                <a:ea typeface="Rokkitt"/>
                <a:cs typeface="Rokkitt"/>
                <a:sym typeface="Rokkitt"/>
              </a:rPr>
              <a:t> (Refactoring) là quá trình cải thiện cấu trúc bên tr</a:t>
            </a:r>
            <a:r>
              <a:rPr lang="en-US" sz="3307" strike="noStrike" u="none">
                <a:solidFill>
                  <a:srgbClr val="000000"/>
                </a:solidFill>
                <a:latin typeface="Rokkitt"/>
                <a:ea typeface="Rokkitt"/>
                <a:cs typeface="Rokkitt"/>
                <a:sym typeface="Rokkitt"/>
              </a:rPr>
              <a:t>ong củ</a:t>
            </a:r>
            <a:r>
              <a:rPr lang="en-US" sz="3307" strike="noStrike" u="none">
                <a:solidFill>
                  <a:srgbClr val="000000"/>
                </a:solidFill>
                <a:latin typeface="Rokkitt"/>
                <a:ea typeface="Rokkitt"/>
                <a:cs typeface="Rokkitt"/>
                <a:sym typeface="Rokkitt"/>
              </a:rPr>
              <a:t>a mã nguồn mà không </a:t>
            </a:r>
            <a:r>
              <a:rPr lang="en-US" sz="3307" strike="noStrike" u="none">
                <a:solidFill>
                  <a:srgbClr val="000000"/>
                </a:solidFill>
                <a:latin typeface="Rokkitt"/>
                <a:ea typeface="Rokkitt"/>
                <a:cs typeface="Rokkitt"/>
                <a:sym typeface="Rokkitt"/>
              </a:rPr>
              <a:t>làm</a:t>
            </a:r>
            <a:r>
              <a:rPr lang="en-US" sz="3307" strike="noStrike" u="none">
                <a:solidFill>
                  <a:srgbClr val="000000"/>
                </a:solidFill>
                <a:latin typeface="Rokkitt"/>
                <a:ea typeface="Rokkitt"/>
                <a:cs typeface="Rokkitt"/>
                <a:sym typeface="Rokkitt"/>
              </a:rPr>
              <a:t> th</a:t>
            </a:r>
            <a:r>
              <a:rPr lang="en-US" sz="3307" strike="noStrike" u="none">
                <a:solidFill>
                  <a:srgbClr val="000000"/>
                </a:solidFill>
                <a:latin typeface="Rokkitt"/>
                <a:ea typeface="Rokkitt"/>
                <a:cs typeface="Rokkitt"/>
                <a:sym typeface="Rokkitt"/>
              </a:rPr>
              <a:t>ay</a:t>
            </a:r>
            <a:r>
              <a:rPr lang="en-US" sz="3307" strike="noStrike" u="none">
                <a:solidFill>
                  <a:srgbClr val="000000"/>
                </a:solidFill>
                <a:latin typeface="Rokkitt"/>
                <a:ea typeface="Rokkitt"/>
                <a:cs typeface="Rokkitt"/>
                <a:sym typeface="Rokkitt"/>
              </a:rPr>
              <a:t> đổi hành vi </a:t>
            </a:r>
            <a:r>
              <a:rPr lang="en-US" sz="3307" strike="noStrike" u="none">
                <a:solidFill>
                  <a:srgbClr val="000000"/>
                </a:solidFill>
                <a:latin typeface="Rokkitt"/>
                <a:ea typeface="Rokkitt"/>
                <a:cs typeface="Rokkitt"/>
                <a:sym typeface="Rokkitt"/>
              </a:rPr>
              <a:t>bên ngo</a:t>
            </a:r>
            <a:r>
              <a:rPr lang="en-US" sz="3307" strike="noStrike" u="none">
                <a:solidFill>
                  <a:srgbClr val="000000"/>
                </a:solidFill>
                <a:latin typeface="Rokkitt"/>
                <a:ea typeface="Rokkitt"/>
                <a:cs typeface="Rokkitt"/>
                <a:sym typeface="Rokkitt"/>
              </a:rPr>
              <a:t>ài của nó. Trong kỷ nguyên GenAI, việ</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 refactoring không chỉ dừ</a:t>
            </a:r>
            <a:r>
              <a:rPr lang="en-US" sz="3307" strike="noStrike" u="none">
                <a:solidFill>
                  <a:srgbClr val="000000"/>
                </a:solidFill>
                <a:latin typeface="Rokkitt"/>
                <a:ea typeface="Rokkitt"/>
                <a:cs typeface="Rokkitt"/>
                <a:sym typeface="Rokkitt"/>
              </a:rPr>
              <a:t>ng lại ở</a:t>
            </a:r>
            <a:r>
              <a:rPr lang="en-US" sz="3307" strike="noStrike" u="none">
                <a:solidFill>
                  <a:srgbClr val="000000"/>
                </a:solidFill>
                <a:latin typeface="Rokkitt"/>
                <a:ea typeface="Rokkitt"/>
                <a:cs typeface="Rokkitt"/>
                <a:sym typeface="Rokkitt"/>
              </a:rPr>
              <a:t> việc dọn dẹp code mà còn là bước đệm quan trọn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 để:</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Nâng cao </a:t>
            </a:r>
            <a:r>
              <a:rPr lang="en-US" b="true" sz="3307" strike="noStrike" u="none">
                <a:solidFill>
                  <a:srgbClr val="000000"/>
                </a:solidFill>
                <a:latin typeface="Rokkitt Bold"/>
                <a:ea typeface="Rokkitt Bold"/>
                <a:cs typeface="Rokkitt Bold"/>
                <a:sym typeface="Rokkitt Bold"/>
              </a:rPr>
              <a:t>tính đọc</a:t>
            </a:r>
            <a:r>
              <a:rPr lang="en-US" b="true" sz="3307" strike="noStrike" u="none">
                <a:solidFill>
                  <a:srgbClr val="000000"/>
                </a:solidFill>
                <a:latin typeface="Rokkitt Bold"/>
                <a:ea typeface="Rokkitt Bold"/>
                <a:cs typeface="Rokkitt Bold"/>
                <a:sym typeface="Rokkitt Bold"/>
              </a:rPr>
              <a:t> hiểu (Readability): </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huyể</a:t>
            </a:r>
            <a:r>
              <a:rPr lang="en-US" sz="3307" strike="noStrike" u="none">
                <a:solidFill>
                  <a:srgbClr val="000000"/>
                </a:solidFill>
                <a:latin typeface="Rokkitt"/>
                <a:ea typeface="Rokkitt"/>
                <a:cs typeface="Rokkitt"/>
                <a:sym typeface="Rokkitt"/>
              </a:rPr>
              <a:t>n </a:t>
            </a:r>
            <a:r>
              <a:rPr lang="en-US" sz="3307" strike="noStrike" u="none">
                <a:solidFill>
                  <a:srgbClr val="000000"/>
                </a:solidFill>
                <a:latin typeface="Rokkitt"/>
                <a:ea typeface="Rokkitt"/>
                <a:cs typeface="Rokkitt"/>
                <a:sym typeface="Rokkitt"/>
              </a:rPr>
              <a:t>đổi</a:t>
            </a:r>
            <a:r>
              <a:rPr lang="en-US" sz="3307" strike="noStrike" u="none">
                <a:solidFill>
                  <a:srgbClr val="000000"/>
                </a:solidFill>
                <a:latin typeface="Rokkitt"/>
                <a:ea typeface="Rokkitt"/>
                <a:cs typeface="Rokkitt"/>
                <a:sym typeface="Rokkitt"/>
              </a:rPr>
              <a:t> c</a:t>
            </a:r>
            <a:r>
              <a:rPr lang="en-US" sz="3307" strike="noStrike" u="none">
                <a:solidFill>
                  <a:srgbClr val="000000"/>
                </a:solidFill>
                <a:latin typeface="Rokkitt"/>
                <a:ea typeface="Rokkitt"/>
                <a:cs typeface="Rokkitt"/>
                <a:sym typeface="Rokkitt"/>
              </a:rPr>
              <a:t>á</a:t>
            </a:r>
            <a:r>
              <a:rPr lang="en-US" sz="3307" strike="noStrike" u="none">
                <a:solidFill>
                  <a:srgbClr val="000000"/>
                </a:solidFill>
                <a:latin typeface="Rokkitt"/>
                <a:ea typeface="Rokkitt"/>
                <a:cs typeface="Rokkitt"/>
                <a:sym typeface="Rokkitt"/>
              </a:rPr>
              <a:t>c đoạn mã phức tạp, khó hi</a:t>
            </a:r>
            <a:r>
              <a:rPr lang="en-US" sz="3307" strike="noStrike" u="none">
                <a:solidFill>
                  <a:srgbClr val="000000"/>
                </a:solidFill>
                <a:latin typeface="Rokkitt"/>
                <a:ea typeface="Rokkitt"/>
                <a:cs typeface="Rokkitt"/>
                <a:sym typeface="Rokkitt"/>
              </a:rPr>
              <a:t>ểu thành</a:t>
            </a:r>
            <a:r>
              <a:rPr lang="en-US" sz="3307" strike="noStrike" u="none">
                <a:solidFill>
                  <a:srgbClr val="000000"/>
                </a:solidFill>
                <a:latin typeface="Rokkitt"/>
                <a:ea typeface="Rokkitt"/>
                <a:cs typeface="Rokkitt"/>
                <a:sym typeface="Rokkitt"/>
              </a:rPr>
              <a:t> mã nguồn rõ ràng</a:t>
            </a:r>
            <a:r>
              <a:rPr lang="en-US" sz="3307" strike="noStrike" u="none">
                <a:solidFill>
                  <a:srgbClr val="000000"/>
                </a:solidFill>
                <a:latin typeface="Rokkitt"/>
                <a:ea typeface="Rokkitt"/>
                <a:cs typeface="Rokkitt"/>
                <a:sym typeface="Rokkitt"/>
              </a:rPr>
              <a:t>,</a:t>
            </a:r>
            <a:r>
              <a:rPr lang="en-US" sz="3307" strike="noStrike" u="none">
                <a:solidFill>
                  <a:srgbClr val="000000"/>
                </a:solidFill>
                <a:latin typeface="Rokkitt"/>
                <a:ea typeface="Rokkitt"/>
                <a:cs typeface="Rokkitt"/>
                <a:sym typeface="Rokkitt"/>
              </a:rPr>
              <a:t> tu</a:t>
            </a:r>
            <a:r>
              <a:rPr lang="en-US" sz="3307" strike="noStrike" u="none">
                <a:solidFill>
                  <a:srgbClr val="000000"/>
                </a:solidFill>
                <a:latin typeface="Rokkitt"/>
                <a:ea typeface="Rokkitt"/>
                <a:cs typeface="Rokkitt"/>
                <a:sym typeface="Rokkitt"/>
              </a:rPr>
              <a:t>ân</a:t>
            </a:r>
            <a:r>
              <a:rPr lang="en-US" sz="3307" strike="noStrike" u="none">
                <a:solidFill>
                  <a:srgbClr val="000000"/>
                </a:solidFill>
                <a:latin typeface="Rokkitt"/>
                <a:ea typeface="Rokkitt"/>
                <a:cs typeface="Rokkitt"/>
                <a:sym typeface="Rokkitt"/>
              </a:rPr>
              <a:t> thủ các nguyên tắ</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 thiết kế tốt.</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Giảm nợ kỹ thuật (Technic</a:t>
            </a:r>
            <a:r>
              <a:rPr lang="en-US" b="true" sz="3307" strike="noStrike" u="none">
                <a:solidFill>
                  <a:srgbClr val="000000"/>
                </a:solidFill>
                <a:latin typeface="Rokkitt Bold"/>
                <a:ea typeface="Rokkitt Bold"/>
                <a:cs typeface="Rokkitt Bold"/>
                <a:sym typeface="Rokkitt Bold"/>
              </a:rPr>
              <a:t>al</a:t>
            </a:r>
            <a:r>
              <a:rPr lang="en-US" b="true" sz="3307" strike="noStrike" u="none">
                <a:solidFill>
                  <a:srgbClr val="000000"/>
                </a:solidFill>
                <a:latin typeface="Rokkitt Bold"/>
                <a:ea typeface="Rokkitt Bold"/>
                <a:cs typeface="Rokkitt Bold"/>
                <a:sym typeface="Rokkitt Bold"/>
              </a:rPr>
              <a:t> Debt</a:t>
            </a:r>
            <a:r>
              <a:rPr lang="en-US" b="true" sz="3307" strike="noStrike" u="none">
                <a:solidFill>
                  <a:srgbClr val="000000"/>
                </a:solidFill>
                <a:latin typeface="Rokkitt Bold"/>
                <a:ea typeface="Rokkitt Bold"/>
                <a:cs typeface="Rokkitt Bold"/>
                <a:sym typeface="Rokkitt Bold"/>
              </a:rPr>
              <a:t>):</a:t>
            </a:r>
            <a:r>
              <a:rPr lang="en-US" sz="3307" strike="noStrike" u="none">
                <a:solidFill>
                  <a:srgbClr val="000000"/>
                </a:solidFill>
                <a:latin typeface="Rokkitt"/>
                <a:ea typeface="Rokkitt"/>
                <a:cs typeface="Rokkitt"/>
                <a:sym typeface="Rokkitt"/>
              </a:rPr>
              <a:t> Loại bỏ các đoạn mã dư thừa (Redundant code)</a:t>
            </a:r>
            <a:r>
              <a:rPr lang="en-US" sz="3307" strike="noStrike" u="none">
                <a:solidFill>
                  <a:srgbClr val="000000"/>
                </a:solidFill>
                <a:latin typeface="Rokkitt"/>
                <a:ea typeface="Rokkitt"/>
                <a:cs typeface="Rokkitt"/>
                <a:sym typeface="Rokkitt"/>
              </a:rPr>
              <a:t> v</a:t>
            </a:r>
            <a:r>
              <a:rPr lang="en-US" sz="3307" strike="noStrike" u="none">
                <a:solidFill>
                  <a:srgbClr val="000000"/>
                </a:solidFill>
                <a:latin typeface="Rokkitt"/>
                <a:ea typeface="Rokkitt"/>
                <a:cs typeface="Rokkitt"/>
                <a:sym typeface="Rokkitt"/>
              </a:rPr>
              <a:t>à</a:t>
            </a:r>
            <a:r>
              <a:rPr lang="en-US" sz="3307" strike="noStrike" u="none">
                <a:solidFill>
                  <a:srgbClr val="000000"/>
                </a:solidFill>
                <a:latin typeface="Rokkitt"/>
                <a:ea typeface="Rokkitt"/>
                <a:cs typeface="Rokkitt"/>
                <a:sym typeface="Rokkitt"/>
              </a:rPr>
              <a:t> các</a:t>
            </a:r>
            <a:r>
              <a:rPr lang="en-US" sz="3307" strike="noStrike" u="none">
                <a:solidFill>
                  <a:srgbClr val="000000"/>
                </a:solidFill>
                <a:latin typeface="Rokkitt"/>
                <a:ea typeface="Rokkitt"/>
                <a:cs typeface="Rokkitt"/>
                <a:sym typeface="Rokkitt"/>
              </a:rPr>
              <a:t> cấu trúc lỗ</a:t>
            </a:r>
            <a:r>
              <a:rPr lang="en-US" sz="3307" strike="noStrike" u="none">
                <a:solidFill>
                  <a:srgbClr val="000000"/>
                </a:solidFill>
                <a:latin typeface="Rokkitt"/>
                <a:ea typeface="Rokkitt"/>
                <a:cs typeface="Rokkitt"/>
                <a:sym typeface="Rokkitt"/>
              </a:rPr>
              <a:t>i</a:t>
            </a:r>
            <a:r>
              <a:rPr lang="en-US" sz="3307" strike="noStrike" u="none">
                <a:solidFill>
                  <a:srgbClr val="000000"/>
                </a:solidFill>
                <a:latin typeface="Rokkitt"/>
                <a:ea typeface="Rokkitt"/>
                <a:cs typeface="Rokkitt"/>
                <a:sym typeface="Rokkitt"/>
              </a:rPr>
              <a:t> thời.</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Chuẩn bị</a:t>
            </a:r>
            <a:r>
              <a:rPr lang="en-US" b="true" sz="3307" strike="noStrike" u="none">
                <a:solidFill>
                  <a:srgbClr val="000000"/>
                </a:solidFill>
                <a:latin typeface="Rokkitt Bold"/>
                <a:ea typeface="Rokkitt Bold"/>
                <a:cs typeface="Rokkitt Bold"/>
                <a:sym typeface="Rokkitt Bold"/>
              </a:rPr>
              <a:t> c</a:t>
            </a:r>
            <a:r>
              <a:rPr lang="en-US" b="true" sz="3307" strike="noStrike" u="none">
                <a:solidFill>
                  <a:srgbClr val="000000"/>
                </a:solidFill>
                <a:latin typeface="Rokkitt Bold"/>
                <a:ea typeface="Rokkitt Bold"/>
                <a:cs typeface="Rokkitt Bold"/>
                <a:sym typeface="Rokkitt Bold"/>
              </a:rPr>
              <a:t>ho Fine-tuni</a:t>
            </a:r>
            <a:r>
              <a:rPr lang="en-US" b="true" sz="3307" strike="noStrike" u="none">
                <a:solidFill>
                  <a:srgbClr val="000000"/>
                </a:solidFill>
                <a:latin typeface="Rokkitt Bold"/>
                <a:ea typeface="Rokkitt Bold"/>
                <a:cs typeface="Rokkitt Bold"/>
                <a:sym typeface="Rokkitt Bold"/>
              </a:rPr>
              <a:t>n</a:t>
            </a:r>
            <a:r>
              <a:rPr lang="en-US" b="true" sz="3307" strike="noStrike" u="none">
                <a:solidFill>
                  <a:srgbClr val="000000"/>
                </a:solidFill>
                <a:latin typeface="Rokkitt Bold"/>
                <a:ea typeface="Rokkitt Bold"/>
                <a:cs typeface="Rokkitt Bold"/>
                <a:sym typeface="Rokkitt Bold"/>
              </a:rPr>
              <a:t>g:</a:t>
            </a:r>
            <a:r>
              <a:rPr lang="en-US" sz="3307" strike="noStrike" u="none">
                <a:solidFill>
                  <a:srgbClr val="000000"/>
                </a:solidFill>
                <a:latin typeface="Rokkitt"/>
                <a:ea typeface="Rokkitt"/>
                <a:cs typeface="Rokkitt"/>
                <a:sym typeface="Rokkitt"/>
              </a:rPr>
              <a:t> Mã </a:t>
            </a:r>
            <a:r>
              <a:rPr lang="en-US" sz="3307" strike="noStrike" u="none">
                <a:solidFill>
                  <a:srgbClr val="000000"/>
                </a:solidFill>
                <a:latin typeface="Rokkitt"/>
                <a:ea typeface="Rokkitt"/>
                <a:cs typeface="Rokkitt"/>
                <a:sym typeface="Rokkitt"/>
              </a:rPr>
              <a:t>ng</a:t>
            </a:r>
            <a:r>
              <a:rPr lang="en-US" sz="3307" strike="noStrike" u="none">
                <a:solidFill>
                  <a:srgbClr val="000000"/>
                </a:solidFill>
                <a:latin typeface="Rokkitt"/>
                <a:ea typeface="Rokkitt"/>
                <a:cs typeface="Rokkitt"/>
                <a:sym typeface="Rokkitt"/>
              </a:rPr>
              <a:t>uồn</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sau</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k</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i được</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refact</a:t>
            </a:r>
            <a:r>
              <a:rPr lang="en-US" sz="3307" strike="noStrike" u="none">
                <a:solidFill>
                  <a:srgbClr val="000000"/>
                </a:solidFill>
                <a:latin typeface="Rokkitt"/>
                <a:ea typeface="Rokkitt"/>
                <a:cs typeface="Rokkitt"/>
                <a:sym typeface="Rokkitt"/>
              </a:rPr>
              <a:t>or</a:t>
            </a:r>
            <a:r>
              <a:rPr lang="en-US" sz="3307" strike="noStrike" u="none">
                <a:solidFill>
                  <a:srgbClr val="000000"/>
                </a:solidFill>
                <a:latin typeface="Rokkitt"/>
                <a:ea typeface="Rokkitt"/>
                <a:cs typeface="Rokkitt"/>
                <a:sym typeface="Rokkitt"/>
              </a:rPr>
              <a:t> sạch</a:t>
            </a:r>
            <a:r>
              <a:rPr lang="en-US" sz="3307" strike="noStrike" u="none">
                <a:solidFill>
                  <a:srgbClr val="000000"/>
                </a:solidFill>
                <a:latin typeface="Rokkitt"/>
                <a:ea typeface="Rokkitt"/>
                <a:cs typeface="Rokkitt"/>
                <a:sym typeface="Rokkitt"/>
              </a:rPr>
              <a:t> sẽ là</a:t>
            </a:r>
            <a:r>
              <a:rPr lang="en-US" sz="3307" strike="noStrike" u="none">
                <a:solidFill>
                  <a:srgbClr val="000000"/>
                </a:solidFill>
                <a:latin typeface="Rokkitt"/>
                <a:ea typeface="Rokkitt"/>
                <a:cs typeface="Rokkitt"/>
                <a:sym typeface="Rokkitt"/>
              </a:rPr>
              <a:t> dữ liệu</a:t>
            </a:r>
            <a:r>
              <a:rPr lang="en-US" sz="3307" strike="noStrike" u="none">
                <a:solidFill>
                  <a:srgbClr val="000000"/>
                </a:solidFill>
                <a:latin typeface="Rokkitt"/>
                <a:ea typeface="Rokkitt"/>
                <a:cs typeface="Rokkitt"/>
                <a:sym typeface="Rokkitt"/>
              </a:rPr>
              <a:t> đầu vào </a:t>
            </a:r>
            <a:r>
              <a:rPr lang="en-US" sz="3307" strike="noStrike" u="none">
                <a:solidFill>
                  <a:srgbClr val="000000"/>
                </a:solidFill>
                <a:latin typeface="Rokkitt"/>
                <a:ea typeface="Rokkitt"/>
                <a:cs typeface="Rokkitt"/>
                <a:sym typeface="Rokkitt"/>
              </a:rPr>
              <a:t>chất</a:t>
            </a:r>
            <a:r>
              <a:rPr lang="en-US" sz="3307" strike="noStrike" u="none">
                <a:solidFill>
                  <a:srgbClr val="000000"/>
                </a:solidFill>
                <a:latin typeface="Rokkitt"/>
                <a:ea typeface="Rokkitt"/>
                <a:cs typeface="Rokkitt"/>
                <a:sym typeface="Rokkitt"/>
              </a:rPr>
              <a:t> lư</a:t>
            </a:r>
            <a:r>
              <a:rPr lang="en-US" sz="3307" strike="noStrike" u="none">
                <a:solidFill>
                  <a:srgbClr val="000000"/>
                </a:solidFill>
                <a:latin typeface="Rokkitt"/>
                <a:ea typeface="Rokkitt"/>
                <a:cs typeface="Rokkitt"/>
                <a:sym typeface="Rokkitt"/>
              </a:rPr>
              <a:t>ợng</a:t>
            </a:r>
            <a:r>
              <a:rPr lang="en-US" sz="3307" strike="noStrike" u="none">
                <a:solidFill>
                  <a:srgbClr val="000000"/>
                </a:solidFill>
                <a:latin typeface="Rokkitt"/>
                <a:ea typeface="Rokkitt"/>
                <a:cs typeface="Rokkitt"/>
                <a:sym typeface="Rokkitt"/>
              </a:rPr>
              <a:t> cao </a:t>
            </a:r>
            <a:r>
              <a:rPr lang="en-US" sz="3307" strike="noStrike" u="none">
                <a:solidFill>
                  <a:srgbClr val="000000"/>
                </a:solidFill>
                <a:latin typeface="Rokkitt"/>
                <a:ea typeface="Rokkitt"/>
                <a:cs typeface="Rokkitt"/>
                <a:sym typeface="Rokkitt"/>
              </a:rPr>
              <a:t>để</a:t>
            </a:r>
            <a:r>
              <a:rPr lang="en-US" sz="3307" strike="noStrike" u="none">
                <a:solidFill>
                  <a:srgbClr val="000000"/>
                </a:solidFill>
                <a:latin typeface="Rokkitt"/>
                <a:ea typeface="Rokkitt"/>
                <a:cs typeface="Rokkitt"/>
                <a:sym typeface="Rokkitt"/>
              </a:rPr>
              <a:t> h</a:t>
            </a:r>
            <a:r>
              <a:rPr lang="en-US" sz="3307" strike="noStrike" u="none">
                <a:solidFill>
                  <a:srgbClr val="000000"/>
                </a:solidFill>
                <a:latin typeface="Rokkitt"/>
                <a:ea typeface="Rokkitt"/>
                <a:cs typeface="Rokkitt"/>
                <a:sym typeface="Rokkitt"/>
              </a:rPr>
              <a:t>uấn</a:t>
            </a:r>
            <a:r>
              <a:rPr lang="en-US" sz="3307" strike="noStrike" u="none">
                <a:solidFill>
                  <a:srgbClr val="000000"/>
                </a:solidFill>
                <a:latin typeface="Rokkitt"/>
                <a:ea typeface="Rokkitt"/>
                <a:cs typeface="Rokkitt"/>
                <a:sym typeface="Rokkitt"/>
              </a:rPr>
              <a:t> luyệ</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 cá</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 mô</a:t>
            </a:r>
            <a:r>
              <a:rPr lang="en-US" sz="3307" strike="noStrike" u="none">
                <a:solidFill>
                  <a:srgbClr val="000000"/>
                </a:solidFill>
                <a:latin typeface="Rokkitt"/>
                <a:ea typeface="Rokkitt"/>
                <a:cs typeface="Rokkitt"/>
                <a:sym typeface="Rokkitt"/>
              </a:rPr>
              <a:t> hình AI</a:t>
            </a:r>
            <a:r>
              <a:rPr lang="en-US" sz="3307" strike="noStrike" u="none">
                <a:solidFill>
                  <a:srgbClr val="000000"/>
                </a:solidFill>
                <a:latin typeface="Rokkitt"/>
                <a:ea typeface="Rokkitt"/>
                <a:cs typeface="Rokkitt"/>
                <a:sym typeface="Rokkitt"/>
              </a:rPr>
              <a:t> c</a:t>
            </a:r>
            <a:r>
              <a:rPr lang="en-US" sz="3307" strike="noStrike" u="none">
                <a:solidFill>
                  <a:srgbClr val="000000"/>
                </a:solidFill>
                <a:latin typeface="Rokkitt"/>
                <a:ea typeface="Rokkitt"/>
                <a:cs typeface="Rokkitt"/>
                <a:sym typeface="Rokkitt"/>
              </a:rPr>
              <a:t>huyê</a:t>
            </a:r>
            <a:r>
              <a:rPr lang="en-US" sz="3307" strike="noStrike" u="none">
                <a:solidFill>
                  <a:srgbClr val="000000"/>
                </a:solidFill>
                <a:latin typeface="Rokkitt"/>
                <a:ea typeface="Rokkitt"/>
                <a:cs typeface="Rokkitt"/>
                <a:sym typeface="Rokkitt"/>
              </a:rPr>
              <a:t>n b</a:t>
            </a:r>
            <a:r>
              <a:rPr lang="en-US" sz="3307" strike="noStrike" u="none">
                <a:solidFill>
                  <a:srgbClr val="000000"/>
                </a:solidFill>
                <a:latin typeface="Rokkitt"/>
                <a:ea typeface="Rokkitt"/>
                <a:cs typeface="Rokkitt"/>
                <a:sym typeface="Rokkitt"/>
              </a:rPr>
              <a:t>iệt.</a:t>
            </a:r>
          </a:p>
          <a:p>
            <a:pPr algn="l">
              <a:lnSpc>
                <a:spcPts val="4629"/>
              </a:lnSpc>
            </a:pPr>
          </a:p>
        </p:txBody>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18433" y="1181100"/>
            <a:ext cx="17032187" cy="2166641"/>
            <a:chOff x="0" y="0"/>
            <a:chExt cx="1324559" cy="168495"/>
          </a:xfrm>
        </p:grpSpPr>
        <p:sp>
          <p:nvSpPr>
            <p:cNvPr name="Freeform 3" id="3"/>
            <p:cNvSpPr/>
            <p:nvPr/>
          </p:nvSpPr>
          <p:spPr>
            <a:xfrm flipH="false" flipV="false" rot="0">
              <a:off x="0" y="0"/>
              <a:ext cx="1324559" cy="168495"/>
            </a:xfrm>
            <a:custGeom>
              <a:avLst/>
              <a:gdLst/>
              <a:ahLst/>
              <a:cxnLst/>
              <a:rect r="r" b="b" t="t" l="l"/>
              <a:pathLst>
                <a:path h="168495" w="1324559">
                  <a:moveTo>
                    <a:pt x="0" y="0"/>
                  </a:moveTo>
                  <a:lnTo>
                    <a:pt x="1324559" y="0"/>
                  </a:lnTo>
                  <a:lnTo>
                    <a:pt x="1324559" y="168495"/>
                  </a:lnTo>
                  <a:lnTo>
                    <a:pt x="0" y="168495"/>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235170"/>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2186165" y="1201746"/>
            <a:ext cx="14096724" cy="3922379"/>
          </a:xfrm>
          <a:prstGeom prst="rect">
            <a:avLst/>
          </a:prstGeom>
        </p:spPr>
        <p:txBody>
          <a:bodyPr anchor="t" rtlCol="false" tIns="0" lIns="0" bIns="0" rIns="0">
            <a:spAutoFit/>
          </a:bodyPr>
          <a:lstStyle/>
          <a:p>
            <a:pPr algn="ctr">
              <a:lnSpc>
                <a:spcPts val="7845"/>
              </a:lnSpc>
            </a:pPr>
            <a:r>
              <a:rPr lang="en-US" sz="5336" b="true">
                <a:solidFill>
                  <a:srgbClr val="000000"/>
                </a:solidFill>
                <a:latin typeface="Tomorrow Bold"/>
                <a:ea typeface="Tomorrow Bold"/>
                <a:cs typeface="Tomorrow Bold"/>
                <a:sym typeface="Tomorrow Bold"/>
              </a:rPr>
              <a:t>10.2. Các kỹ thuật Refactoring chủ chốt hỗ trợ bởi GenAI</a:t>
            </a:r>
          </a:p>
          <a:p>
            <a:pPr algn="ctr">
              <a:lnSpc>
                <a:spcPts val="7845"/>
              </a:lnSpc>
            </a:pPr>
          </a:p>
          <a:p>
            <a:pPr algn="ctr">
              <a:lnSpc>
                <a:spcPts val="7845"/>
              </a:lnSpc>
            </a:pPr>
          </a:p>
        </p:txBody>
      </p:sp>
      <p:sp>
        <p:nvSpPr>
          <p:cNvPr name="TextBox 6" id="6"/>
          <p:cNvSpPr txBox="true"/>
          <p:nvPr/>
        </p:nvSpPr>
        <p:spPr>
          <a:xfrm rot="0">
            <a:off x="453587" y="3638708"/>
            <a:ext cx="17561880" cy="5211666"/>
          </a:xfrm>
          <a:prstGeom prst="rect">
            <a:avLst/>
          </a:prstGeom>
        </p:spPr>
        <p:txBody>
          <a:bodyPr anchor="t" rtlCol="false" tIns="0" lIns="0" bIns="0" rIns="0">
            <a:spAutoFit/>
          </a:bodyPr>
          <a:lstStyle/>
          <a:p>
            <a:pPr algn="l">
              <a:lnSpc>
                <a:spcPts val="4629"/>
              </a:lnSpc>
            </a:pPr>
            <a:r>
              <a:rPr lang="en-US" sz="3307">
                <a:solidFill>
                  <a:srgbClr val="000000"/>
                </a:solidFill>
                <a:latin typeface="Rokkitt"/>
                <a:ea typeface="Rokkitt"/>
                <a:cs typeface="Rokkitt"/>
                <a:sym typeface="Rokkitt"/>
              </a:rPr>
              <a:t>GenAI đóng vai trò như một chuyên gia đánh giá mã nguồn,</a:t>
            </a:r>
            <a:r>
              <a:rPr lang="en-US" sz="3307" strike="noStrike" u="none">
                <a:solidFill>
                  <a:srgbClr val="000000"/>
                </a:solidFill>
                <a:latin typeface="Rokkitt"/>
                <a:ea typeface="Rokkitt"/>
                <a:cs typeface="Rokkitt"/>
                <a:sym typeface="Rokkitt"/>
              </a:rPr>
              <a:t> hỗ trợ thực hiện các kỹ thuật phức tạp:</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Trích xuất hàm (Extract Function</a:t>
            </a:r>
            <a:r>
              <a:rPr lang="en-US" b="true" sz="3307" strike="noStrike" u="none">
                <a:solidFill>
                  <a:srgbClr val="000000"/>
                </a:solidFill>
                <a:latin typeface="Rokkitt Bold"/>
                <a:ea typeface="Rokkitt Bold"/>
                <a:cs typeface="Rokkitt Bold"/>
                <a:sym typeface="Rokkitt Bold"/>
              </a:rPr>
              <a:t>):</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AI</a:t>
            </a:r>
            <a:r>
              <a:rPr lang="en-US" sz="3307" strike="noStrike" u="none">
                <a:solidFill>
                  <a:srgbClr val="000000"/>
                </a:solidFill>
                <a:latin typeface="Rokkitt"/>
                <a:ea typeface="Rokkitt"/>
                <a:cs typeface="Rokkitt"/>
                <a:sym typeface="Rokkitt"/>
              </a:rPr>
              <a:t> nhận diện các khối </a:t>
            </a:r>
            <a:r>
              <a:rPr lang="en-US" sz="3307" strike="noStrike" u="none">
                <a:solidFill>
                  <a:srgbClr val="000000"/>
                </a:solidFill>
                <a:latin typeface="Rokkitt"/>
                <a:ea typeface="Rokkitt"/>
                <a:cs typeface="Rokkitt"/>
                <a:sym typeface="Rokkitt"/>
              </a:rPr>
              <a:t>mã</a:t>
            </a:r>
            <a:r>
              <a:rPr lang="en-US" sz="3307" strike="noStrike" u="none">
                <a:solidFill>
                  <a:srgbClr val="000000"/>
                </a:solidFill>
                <a:latin typeface="Rokkitt"/>
                <a:ea typeface="Rokkitt"/>
                <a:cs typeface="Rokkitt"/>
                <a:sym typeface="Rokkitt"/>
              </a:rPr>
              <a:t> thực hiện nhiệm vụ riêng biệt trong một hàm lớn và đề xuất tách chúng </a:t>
            </a:r>
            <a:r>
              <a:rPr lang="en-US" sz="3307" strike="noStrike" u="none">
                <a:solidFill>
                  <a:srgbClr val="000000"/>
                </a:solidFill>
                <a:latin typeface="Rokkitt"/>
                <a:ea typeface="Rokkitt"/>
                <a:cs typeface="Rokkitt"/>
                <a:sym typeface="Rokkitt"/>
              </a:rPr>
              <a:t>thành</a:t>
            </a:r>
            <a:r>
              <a:rPr lang="en-US" sz="3307" strike="noStrike" u="none">
                <a:solidFill>
                  <a:srgbClr val="000000"/>
                </a:solidFill>
                <a:latin typeface="Rokkitt"/>
                <a:ea typeface="Rokkitt"/>
                <a:cs typeface="Rokkitt"/>
                <a:sym typeface="Rokkitt"/>
              </a:rPr>
              <a:t> các hàm con có tên gọi mang tín</a:t>
            </a:r>
            <a:r>
              <a:rPr lang="en-US" sz="3307" strike="noStrike" u="none">
                <a:solidFill>
                  <a:srgbClr val="000000"/>
                </a:solidFill>
                <a:latin typeface="Rokkitt"/>
                <a:ea typeface="Rokkitt"/>
                <a:cs typeface="Rokkitt"/>
                <a:sym typeface="Rokkitt"/>
              </a:rPr>
              <a:t>h mô tả</a:t>
            </a:r>
            <a:r>
              <a:rPr lang="en-US" sz="3307" strike="noStrike" u="none">
                <a:solidFill>
                  <a:srgbClr val="000000"/>
                </a:solidFill>
                <a:latin typeface="Rokkitt"/>
                <a:ea typeface="Rokkitt"/>
                <a:cs typeface="Rokkitt"/>
                <a:sym typeface="Rokkitt"/>
              </a:rPr>
              <a:t> cao</a:t>
            </a:r>
            <a:r>
              <a:rPr lang="en-US" sz="3307" strike="noStrike" u="none">
                <a:solidFill>
                  <a:srgbClr val="000000"/>
                </a:solidFill>
                <a:latin typeface="Rokkitt"/>
                <a:ea typeface="Rokkitt"/>
                <a:cs typeface="Rokkitt"/>
                <a:sym typeface="Rokkitt"/>
              </a:rPr>
              <a:t>.</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Hiện đ</a:t>
            </a:r>
            <a:r>
              <a:rPr lang="en-US" b="true" sz="3307" strike="noStrike" u="none">
                <a:solidFill>
                  <a:srgbClr val="000000"/>
                </a:solidFill>
                <a:latin typeface="Rokkitt Bold"/>
                <a:ea typeface="Rokkitt Bold"/>
                <a:cs typeface="Rokkitt Bold"/>
                <a:sym typeface="Rokkitt Bold"/>
              </a:rPr>
              <a:t>ại</a:t>
            </a:r>
            <a:r>
              <a:rPr lang="en-US" b="true" sz="3307" strike="noStrike" u="none">
                <a:solidFill>
                  <a:srgbClr val="000000"/>
                </a:solidFill>
                <a:latin typeface="Rokkitt Bold"/>
                <a:ea typeface="Rokkitt Bold"/>
                <a:cs typeface="Rokkitt Bold"/>
                <a:sym typeface="Rokkitt Bold"/>
              </a:rPr>
              <a:t> hóa ngôn ngữ (Language Modernization):</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Hỗ trợ c</a:t>
            </a:r>
            <a:r>
              <a:rPr lang="en-US" sz="3307" strike="noStrike" u="none">
                <a:solidFill>
                  <a:srgbClr val="000000"/>
                </a:solidFill>
                <a:latin typeface="Rokkitt"/>
                <a:ea typeface="Rokkitt"/>
                <a:cs typeface="Rokkitt"/>
                <a:sym typeface="Rokkitt"/>
              </a:rPr>
              <a:t>huyể</a:t>
            </a:r>
            <a:r>
              <a:rPr lang="en-US" sz="3307" strike="noStrike" u="none">
                <a:solidFill>
                  <a:srgbClr val="000000"/>
                </a:solidFill>
                <a:latin typeface="Rokkitt"/>
                <a:ea typeface="Rokkitt"/>
                <a:cs typeface="Rokkitt"/>
                <a:sym typeface="Rokkitt"/>
              </a:rPr>
              <a:t>n </a:t>
            </a:r>
            <a:r>
              <a:rPr lang="en-US" sz="3307" strike="noStrike" u="none">
                <a:solidFill>
                  <a:srgbClr val="000000"/>
                </a:solidFill>
                <a:latin typeface="Rokkitt"/>
                <a:ea typeface="Rokkitt"/>
                <a:cs typeface="Rokkitt"/>
                <a:sym typeface="Rokkitt"/>
              </a:rPr>
              <a:t>đổi</a:t>
            </a:r>
            <a:r>
              <a:rPr lang="en-US" sz="3307" strike="noStrike" u="none">
                <a:solidFill>
                  <a:srgbClr val="000000"/>
                </a:solidFill>
                <a:latin typeface="Rokkitt"/>
                <a:ea typeface="Rokkitt"/>
                <a:cs typeface="Rokkitt"/>
                <a:sym typeface="Rokkitt"/>
              </a:rPr>
              <a:t> mã nguồn từ c</a:t>
            </a:r>
            <a:r>
              <a:rPr lang="en-US" sz="3307" strike="noStrike" u="none">
                <a:solidFill>
                  <a:srgbClr val="000000"/>
                </a:solidFill>
                <a:latin typeface="Rokkitt"/>
                <a:ea typeface="Rokkitt"/>
                <a:cs typeface="Rokkitt"/>
                <a:sym typeface="Rokkitt"/>
              </a:rPr>
              <a:t>á</a:t>
            </a:r>
            <a:r>
              <a:rPr lang="en-US" sz="3307" strike="noStrike" u="none">
                <a:solidFill>
                  <a:srgbClr val="000000"/>
                </a:solidFill>
                <a:latin typeface="Rokkitt"/>
                <a:ea typeface="Rokkitt"/>
                <a:cs typeface="Rokkitt"/>
                <a:sym typeface="Rokkitt"/>
              </a:rPr>
              <a:t>c phiên bản cũ (Legacy) sang các phiên</a:t>
            </a:r>
            <a:r>
              <a:rPr lang="en-US" sz="3307" strike="noStrike" u="none">
                <a:solidFill>
                  <a:srgbClr val="000000"/>
                </a:solidFill>
                <a:latin typeface="Rokkitt"/>
                <a:ea typeface="Rokkitt"/>
                <a:cs typeface="Rokkitt"/>
                <a:sym typeface="Rokkitt"/>
              </a:rPr>
              <a:t> bản</a:t>
            </a:r>
            <a:r>
              <a:rPr lang="en-US" sz="3307" strike="noStrike" u="none">
                <a:solidFill>
                  <a:srgbClr val="000000"/>
                </a:solidFill>
                <a:latin typeface="Rokkitt"/>
                <a:ea typeface="Rokkitt"/>
                <a:cs typeface="Rokkitt"/>
                <a:sym typeface="Rokkitt"/>
              </a:rPr>
              <a:t> hoặc ngôn ngữ lập trì</a:t>
            </a:r>
            <a:r>
              <a:rPr lang="en-US" sz="3307" strike="noStrike" u="none">
                <a:solidFill>
                  <a:srgbClr val="000000"/>
                </a:solidFill>
                <a:latin typeface="Rokkitt"/>
                <a:ea typeface="Rokkitt"/>
                <a:cs typeface="Rokkitt"/>
                <a:sym typeface="Rokkitt"/>
              </a:rPr>
              <a:t>nh</a:t>
            </a:r>
            <a:r>
              <a:rPr lang="en-US" sz="3307" strike="noStrike" u="none">
                <a:solidFill>
                  <a:srgbClr val="000000"/>
                </a:solidFill>
                <a:latin typeface="Rokkitt"/>
                <a:ea typeface="Rokkitt"/>
                <a:cs typeface="Rokkitt"/>
                <a:sym typeface="Rokkitt"/>
              </a:rPr>
              <a:t> hiện đại hơn mà vẫn đảm bảo tính logic.</a:t>
            </a:r>
          </a:p>
          <a:p>
            <a:pPr algn="l" marL="713995" indent="-356998" lvl="1">
              <a:lnSpc>
                <a:spcPts val="4629"/>
              </a:lnSpc>
              <a:buFont typeface="Arial"/>
              <a:buChar char="•"/>
            </a:pPr>
            <a:r>
              <a:rPr lang="en-US" b="true" sz="3307" strike="noStrike" u="none">
                <a:solidFill>
                  <a:srgbClr val="000000"/>
                </a:solidFill>
                <a:latin typeface="Rokkitt Bold"/>
                <a:ea typeface="Rokkitt Bold"/>
                <a:cs typeface="Rokkitt Bold"/>
                <a:sym typeface="Rokkitt Bold"/>
              </a:rPr>
              <a:t>Tố</a:t>
            </a:r>
            <a:r>
              <a:rPr lang="en-US" b="true" sz="3307" strike="noStrike" u="none">
                <a:solidFill>
                  <a:srgbClr val="000000"/>
                </a:solidFill>
                <a:latin typeface="Rokkitt Bold"/>
                <a:ea typeface="Rokkitt Bold"/>
                <a:cs typeface="Rokkitt Bold"/>
                <a:sym typeface="Rokkitt Bold"/>
              </a:rPr>
              <a:t>i ưu hóa thuật toán:</a:t>
            </a:r>
            <a:r>
              <a:rPr lang="en-US" sz="3307" strike="noStrike" u="none">
                <a:solidFill>
                  <a:srgbClr val="000000"/>
                </a:solidFill>
                <a:latin typeface="Rokkitt"/>
                <a:ea typeface="Rokkitt"/>
                <a:cs typeface="Rokkitt"/>
                <a:sym typeface="Rokkitt"/>
              </a:rPr>
              <a:t> AI gợi ý thay thế</a:t>
            </a:r>
            <a:r>
              <a:rPr lang="en-US" sz="3307" strike="noStrike" u="none">
                <a:solidFill>
                  <a:srgbClr val="000000"/>
                </a:solidFill>
                <a:latin typeface="Rokkitt"/>
                <a:ea typeface="Rokkitt"/>
                <a:cs typeface="Rokkitt"/>
                <a:sym typeface="Rokkitt"/>
              </a:rPr>
              <a:t> các</a:t>
            </a:r>
            <a:r>
              <a:rPr lang="en-US" sz="3307" strike="noStrike" u="none">
                <a:solidFill>
                  <a:srgbClr val="000000"/>
                </a:solidFill>
                <a:latin typeface="Rokkitt"/>
                <a:ea typeface="Rokkitt"/>
                <a:cs typeface="Rokkitt"/>
                <a:sym typeface="Rokkitt"/>
              </a:rPr>
              <a:t> vòng lặp thủ c</a:t>
            </a:r>
            <a:r>
              <a:rPr lang="en-US" sz="3307" strike="noStrike" u="none">
                <a:solidFill>
                  <a:srgbClr val="000000"/>
                </a:solidFill>
                <a:latin typeface="Rokkitt"/>
                <a:ea typeface="Rokkitt"/>
                <a:cs typeface="Rokkitt"/>
                <a:sym typeface="Rokkitt"/>
              </a:rPr>
              <a:t>ô</a:t>
            </a:r>
            <a:r>
              <a:rPr lang="en-US" sz="3307" strike="noStrike" u="none">
                <a:solidFill>
                  <a:srgbClr val="000000"/>
                </a:solidFill>
                <a:latin typeface="Rokkitt"/>
                <a:ea typeface="Rokkitt"/>
                <a:cs typeface="Rokkitt"/>
                <a:sym typeface="Rokkitt"/>
              </a:rPr>
              <a:t>ng</a:t>
            </a:r>
            <a:r>
              <a:rPr lang="en-US" sz="3307" strike="noStrike" u="none">
                <a:solidFill>
                  <a:srgbClr val="000000"/>
                </a:solidFill>
                <a:latin typeface="Rokkitt"/>
                <a:ea typeface="Rokkitt"/>
                <a:cs typeface="Rokkitt"/>
                <a:sym typeface="Rokkitt"/>
              </a:rPr>
              <a:t> bằ</a:t>
            </a:r>
            <a:r>
              <a:rPr lang="en-US" sz="3307" strike="noStrike" u="none">
                <a:solidFill>
                  <a:srgbClr val="000000"/>
                </a:solidFill>
                <a:latin typeface="Rokkitt"/>
                <a:ea typeface="Rokkitt"/>
                <a:cs typeface="Rokkitt"/>
                <a:sym typeface="Rokkitt"/>
              </a:rPr>
              <a:t>ng </a:t>
            </a:r>
            <a:r>
              <a:rPr lang="en-US" sz="3307" strike="noStrike" u="none">
                <a:solidFill>
                  <a:srgbClr val="000000"/>
                </a:solidFill>
                <a:latin typeface="Rokkitt"/>
                <a:ea typeface="Rokkitt"/>
                <a:cs typeface="Rokkitt"/>
                <a:sym typeface="Rokkitt"/>
              </a:rPr>
              <a:t>các</a:t>
            </a:r>
            <a:r>
              <a:rPr lang="en-US" sz="3307" strike="noStrike" u="none">
                <a:solidFill>
                  <a:srgbClr val="000000"/>
                </a:solidFill>
                <a:latin typeface="Rokkitt"/>
                <a:ea typeface="Rokkitt"/>
                <a:cs typeface="Rokkitt"/>
                <a:sym typeface="Rokkitt"/>
              </a:rPr>
              <a:t> thư viện</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tối</a:t>
            </a:r>
            <a:r>
              <a:rPr lang="en-US" sz="3307" strike="noStrike" u="none">
                <a:solidFill>
                  <a:srgbClr val="000000"/>
                </a:solidFill>
                <a:latin typeface="Rokkitt"/>
                <a:ea typeface="Rokkitt"/>
                <a:cs typeface="Rokkitt"/>
                <a:sym typeface="Rokkitt"/>
              </a:rPr>
              <a:t> ưu (như NumPy cho</a:t>
            </a:r>
            <a:r>
              <a:rPr lang="en-US" sz="3307" strike="noStrike" u="none">
                <a:solidFill>
                  <a:srgbClr val="000000"/>
                </a:solidFill>
                <a:latin typeface="Rokkitt"/>
                <a:ea typeface="Rokkitt"/>
                <a:cs typeface="Rokkitt"/>
                <a:sym typeface="Rokkitt"/>
              </a:rPr>
              <a:t> Python) để</a:t>
            </a:r>
            <a:r>
              <a:rPr lang="en-US" sz="3307" strike="noStrike" u="none">
                <a:solidFill>
                  <a:srgbClr val="000000"/>
                </a:solidFill>
                <a:latin typeface="Rokkitt"/>
                <a:ea typeface="Rokkitt"/>
                <a:cs typeface="Rokkitt"/>
                <a:sym typeface="Rokkitt"/>
              </a:rPr>
              <a:t> tăng </a:t>
            </a:r>
            <a:r>
              <a:rPr lang="en-US" sz="3307" strike="noStrike" u="none">
                <a:solidFill>
                  <a:srgbClr val="000000"/>
                </a:solidFill>
                <a:latin typeface="Rokkitt"/>
                <a:ea typeface="Rokkitt"/>
                <a:cs typeface="Rokkitt"/>
                <a:sym typeface="Rokkitt"/>
              </a:rPr>
              <a:t>tốc độ xử lý.</a:t>
            </a:r>
          </a:p>
          <a:p>
            <a:pPr algn="l">
              <a:lnSpc>
                <a:spcPts val="4629"/>
              </a:lnSpc>
            </a:pP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27907" y="597956"/>
            <a:ext cx="17032187" cy="1443074"/>
            <a:chOff x="0" y="0"/>
            <a:chExt cx="1324559" cy="112225"/>
          </a:xfrm>
        </p:grpSpPr>
        <p:sp>
          <p:nvSpPr>
            <p:cNvPr name="Freeform 3" id="3"/>
            <p:cNvSpPr/>
            <p:nvPr/>
          </p:nvSpPr>
          <p:spPr>
            <a:xfrm flipH="false" flipV="false" rot="0">
              <a:off x="0" y="0"/>
              <a:ext cx="1324559" cy="112225"/>
            </a:xfrm>
            <a:custGeom>
              <a:avLst/>
              <a:gdLst/>
              <a:ahLst/>
              <a:cxnLst/>
              <a:rect r="r" b="b" t="t" l="l"/>
              <a:pathLst>
                <a:path h="112225" w="1324559">
                  <a:moveTo>
                    <a:pt x="0" y="0"/>
                  </a:moveTo>
                  <a:lnTo>
                    <a:pt x="1324559" y="0"/>
                  </a:lnTo>
                  <a:lnTo>
                    <a:pt x="1324559" y="112225"/>
                  </a:lnTo>
                  <a:lnTo>
                    <a:pt x="0" y="112225"/>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178900"/>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844901" y="823469"/>
            <a:ext cx="16598199" cy="1941127"/>
          </a:xfrm>
          <a:prstGeom prst="rect">
            <a:avLst/>
          </a:prstGeom>
        </p:spPr>
        <p:txBody>
          <a:bodyPr anchor="t" rtlCol="false" tIns="0" lIns="0" bIns="0" rIns="0">
            <a:spAutoFit/>
          </a:bodyPr>
          <a:lstStyle/>
          <a:p>
            <a:pPr algn="ctr">
              <a:lnSpc>
                <a:spcPts val="7845"/>
              </a:lnSpc>
            </a:pPr>
            <a:r>
              <a:rPr lang="en-US" b="true" sz="5336">
                <a:solidFill>
                  <a:srgbClr val="000000"/>
                </a:solidFill>
                <a:latin typeface="Tomorrow Bold"/>
                <a:ea typeface="Tomorrow Bold"/>
                <a:cs typeface="Tomorrow Bold"/>
                <a:sym typeface="Tomorrow Bold"/>
              </a:rPr>
              <a:t>10.3. Quy trình Refactoring An toàn với GenAI</a:t>
            </a:r>
          </a:p>
          <a:p>
            <a:pPr algn="ctr">
              <a:lnSpc>
                <a:spcPts val="7845"/>
              </a:lnSpc>
            </a:pPr>
          </a:p>
        </p:txBody>
      </p:sp>
      <p:sp>
        <p:nvSpPr>
          <p:cNvPr name="TextBox 6" id="6"/>
          <p:cNvSpPr txBox="true"/>
          <p:nvPr/>
        </p:nvSpPr>
        <p:spPr>
          <a:xfrm rot="0">
            <a:off x="363060" y="2303637"/>
            <a:ext cx="17561880" cy="6954663"/>
          </a:xfrm>
          <a:prstGeom prst="rect">
            <a:avLst/>
          </a:prstGeom>
        </p:spPr>
        <p:txBody>
          <a:bodyPr anchor="t" rtlCol="false" tIns="0" lIns="0" bIns="0" rIns="0">
            <a:spAutoFit/>
          </a:bodyPr>
          <a:lstStyle/>
          <a:p>
            <a:pPr algn="l" marL="713995" indent="-356998" lvl="1">
              <a:lnSpc>
                <a:spcPts val="4629"/>
              </a:lnSpc>
              <a:buFont typeface="Arial"/>
              <a:buChar char="•"/>
            </a:pPr>
            <a:r>
              <a:rPr lang="en-US" sz="3307">
                <a:solidFill>
                  <a:srgbClr val="000000"/>
                </a:solidFill>
                <a:latin typeface="Rokkitt"/>
                <a:ea typeface="Rokkitt"/>
                <a:cs typeface="Rokkitt"/>
                <a:sym typeface="Rokkitt"/>
              </a:rPr>
              <a:t>Quy trình 3 bước để refactor với AI, giảm rủi ro hallucinations</a:t>
            </a:r>
            <a:r>
              <a:rPr lang="en-US" sz="3307" strike="noStrike" u="none">
                <a:solidFill>
                  <a:srgbClr val="000000"/>
                </a:solidFill>
                <a:latin typeface="Rokkitt"/>
                <a:ea typeface="Rokkitt"/>
                <a:cs typeface="Rokkitt"/>
                <a:sym typeface="Rokkitt"/>
              </a:rPr>
              <a:t> và thay đổi logic nghiệp vụ:</a:t>
            </a:r>
          </a:p>
          <a:p>
            <a:pPr algn="l" marL="1427991" indent="-475997" lvl="2">
              <a:lnSpc>
                <a:spcPts val="4629"/>
              </a:lnSpc>
              <a:buAutoNum type="alphaLcPeriod" startAt="1"/>
            </a:pPr>
            <a:r>
              <a:rPr lang="en-US" b="true" sz="3307" strike="noStrike" u="none">
                <a:solidFill>
                  <a:srgbClr val="000000"/>
                </a:solidFill>
                <a:latin typeface="Rokkitt Bold"/>
                <a:ea typeface="Rokkitt Bold"/>
                <a:cs typeface="Rokkitt Bold"/>
                <a:sym typeface="Rokkitt Bold"/>
              </a:rPr>
              <a:t>Thiết lập Unit Testing:</a:t>
            </a:r>
            <a:r>
              <a:rPr lang="en-US" sz="3307" strike="noStrike" u="none">
                <a:solidFill>
                  <a:srgbClr val="000000"/>
                </a:solidFill>
                <a:latin typeface="Rokkitt"/>
                <a:ea typeface="Rokkitt"/>
                <a:cs typeface="Rokkitt"/>
                <a:sym typeface="Rokkitt"/>
              </a:rPr>
              <a:t> Tr</a:t>
            </a:r>
            <a:r>
              <a:rPr lang="en-US" sz="3307" strike="noStrike" u="none">
                <a:solidFill>
                  <a:srgbClr val="000000"/>
                </a:solidFill>
                <a:latin typeface="Rokkitt"/>
                <a:ea typeface="Rokkitt"/>
                <a:cs typeface="Rokkitt"/>
                <a:sym typeface="Rokkitt"/>
              </a:rPr>
              <a:t>ướ</a:t>
            </a:r>
            <a:r>
              <a:rPr lang="en-US" sz="3307" strike="noStrike" u="none">
                <a:solidFill>
                  <a:srgbClr val="000000"/>
                </a:solidFill>
                <a:latin typeface="Rokkitt"/>
                <a:ea typeface="Rokkitt"/>
                <a:cs typeface="Rokkitt"/>
                <a:sym typeface="Rokkitt"/>
              </a:rPr>
              <a:t>c </a:t>
            </a:r>
            <a:r>
              <a:rPr lang="en-US" sz="3307" strike="noStrike" u="none">
                <a:solidFill>
                  <a:srgbClr val="000000"/>
                </a:solidFill>
                <a:latin typeface="Rokkitt"/>
                <a:ea typeface="Rokkitt"/>
                <a:cs typeface="Rokkitt"/>
                <a:sym typeface="Rokkitt"/>
              </a:rPr>
              <a:t>k</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i</a:t>
            </a:r>
            <a:r>
              <a:rPr lang="en-US" sz="3307" strike="noStrike" u="none">
                <a:solidFill>
                  <a:srgbClr val="000000"/>
                </a:solidFill>
                <a:latin typeface="Rokkitt"/>
                <a:ea typeface="Rokkitt"/>
                <a:cs typeface="Rokkitt"/>
                <a:sym typeface="Rokkitt"/>
              </a:rPr>
              <a:t> r</a:t>
            </a:r>
            <a:r>
              <a:rPr lang="en-US" sz="3307" strike="noStrike" u="none">
                <a:solidFill>
                  <a:srgbClr val="000000"/>
                </a:solidFill>
                <a:latin typeface="Rokkitt"/>
                <a:ea typeface="Rokkitt"/>
                <a:cs typeface="Rokkitt"/>
                <a:sym typeface="Rokkitt"/>
              </a:rPr>
              <a:t>ef</a:t>
            </a:r>
            <a:r>
              <a:rPr lang="en-US" sz="3307" strike="noStrike" u="none">
                <a:solidFill>
                  <a:srgbClr val="000000"/>
                </a:solidFill>
                <a:latin typeface="Rokkitt"/>
                <a:ea typeface="Rokkitt"/>
                <a:cs typeface="Rokkitt"/>
                <a:sym typeface="Rokkitt"/>
              </a:rPr>
              <a:t>act</a:t>
            </a:r>
            <a:r>
              <a:rPr lang="en-US" sz="3307" strike="noStrike" u="none">
                <a:solidFill>
                  <a:srgbClr val="000000"/>
                </a:solidFill>
                <a:latin typeface="Rokkitt"/>
                <a:ea typeface="Rokkitt"/>
                <a:cs typeface="Rokkitt"/>
                <a:sym typeface="Rokkitt"/>
              </a:rPr>
              <a:t>or,</a:t>
            </a:r>
            <a:r>
              <a:rPr lang="en-US" sz="3307" strike="noStrike" u="none">
                <a:solidFill>
                  <a:srgbClr val="000000"/>
                </a:solidFill>
                <a:latin typeface="Rokkitt"/>
                <a:ea typeface="Rokkitt"/>
                <a:cs typeface="Rokkitt"/>
                <a:sym typeface="Rokkitt"/>
              </a:rPr>
              <a:t> c</a:t>
            </a:r>
            <a:r>
              <a:rPr lang="en-US" sz="3307" strike="noStrike" u="none">
                <a:solidFill>
                  <a:srgbClr val="000000"/>
                </a:solidFill>
                <a:latin typeface="Rokkitt"/>
                <a:ea typeface="Rokkitt"/>
                <a:cs typeface="Rokkitt"/>
                <a:sym typeface="Rokkitt"/>
              </a:rPr>
              <a:t>ó bộ </a:t>
            </a:r>
            <a:r>
              <a:rPr lang="en-US" sz="3307" strike="noStrike" u="none">
                <a:solidFill>
                  <a:srgbClr val="000000"/>
                </a:solidFill>
                <a:latin typeface="Rokkitt"/>
                <a:ea typeface="Rokkitt"/>
                <a:cs typeface="Rokkitt"/>
                <a:sym typeface="Rokkitt"/>
              </a:rPr>
              <a:t>t</a:t>
            </a:r>
            <a:r>
              <a:rPr lang="en-US" sz="3307" strike="noStrike" u="none">
                <a:solidFill>
                  <a:srgbClr val="000000"/>
                </a:solidFill>
                <a:latin typeface="Rokkitt"/>
                <a:ea typeface="Rokkitt"/>
                <a:cs typeface="Rokkitt"/>
                <a:sym typeface="Rokkitt"/>
              </a:rPr>
              <a:t>est</a:t>
            </a:r>
            <a:r>
              <a:rPr lang="en-US" sz="3307" strike="noStrike" u="none">
                <a:solidFill>
                  <a:srgbClr val="000000"/>
                </a:solidFill>
                <a:latin typeface="Rokkitt"/>
                <a:ea typeface="Rokkitt"/>
                <a:cs typeface="Rokkitt"/>
                <a:sym typeface="Rokkitt"/>
              </a:rPr>
              <a:t> bao phủ các kịch bản hiện tại làm mốc đối chiếu</a:t>
            </a:r>
          </a:p>
          <a:p>
            <a:pPr algn="l" marL="1427991" indent="-475997" lvl="2">
              <a:lnSpc>
                <a:spcPts val="4629"/>
              </a:lnSpc>
              <a:buAutoNum type="alphaLcPeriod" startAt="1"/>
            </a:pPr>
            <a:r>
              <a:rPr lang="en-US" b="true" sz="3307" strike="noStrike" u="none">
                <a:solidFill>
                  <a:srgbClr val="000000"/>
                </a:solidFill>
                <a:latin typeface="Rokkitt Bold"/>
                <a:ea typeface="Rokkitt Bold"/>
                <a:cs typeface="Rokkitt Bold"/>
                <a:sym typeface="Rokkitt Bold"/>
              </a:rPr>
              <a:t>Thay đổi từng bước nhỏ (Small Incremental Steps):</a:t>
            </a:r>
            <a:r>
              <a:rPr lang="en-US" sz="3307" strike="noStrike" u="none">
                <a:solidFill>
                  <a:srgbClr val="000000"/>
                </a:solidFill>
                <a:latin typeface="Rokkitt"/>
                <a:ea typeface="Rokkitt"/>
                <a:cs typeface="Rokkitt"/>
                <a:sym typeface="Rokkitt"/>
              </a:rPr>
              <a:t> Không refact</a:t>
            </a:r>
            <a:r>
              <a:rPr lang="en-US" sz="3307" strike="noStrike" u="none">
                <a:solidFill>
                  <a:srgbClr val="000000"/>
                </a:solidFill>
                <a:latin typeface="Rokkitt"/>
                <a:ea typeface="Rokkitt"/>
                <a:cs typeface="Rokkitt"/>
                <a:sym typeface="Rokkitt"/>
              </a:rPr>
              <a:t>or to</a:t>
            </a:r>
            <a:r>
              <a:rPr lang="en-US" sz="3307" strike="noStrike" u="none">
                <a:solidFill>
                  <a:srgbClr val="000000"/>
                </a:solidFill>
                <a:latin typeface="Rokkitt"/>
                <a:ea typeface="Rokkitt"/>
                <a:cs typeface="Rokkitt"/>
                <a:sym typeface="Rokkitt"/>
              </a:rPr>
              <a:t>àn bộ dự án cùng lúc; c</a:t>
            </a:r>
            <a:r>
              <a:rPr lang="en-US" sz="3307" strike="noStrike" u="none">
                <a:solidFill>
                  <a:srgbClr val="000000"/>
                </a:solidFill>
                <a:latin typeface="Rokkitt"/>
                <a:ea typeface="Rokkitt"/>
                <a:cs typeface="Rokkitt"/>
                <a:sym typeface="Rokkitt"/>
              </a:rPr>
              <a:t>hạy lại test</a:t>
            </a:r>
            <a:r>
              <a:rPr lang="en-US" sz="3307" strike="noStrike" u="none">
                <a:solidFill>
                  <a:srgbClr val="000000"/>
                </a:solidFill>
                <a:latin typeface="Rokkitt"/>
                <a:ea typeface="Rokkitt"/>
                <a:cs typeface="Rokkitt"/>
                <a:sym typeface="Rokkitt"/>
              </a:rPr>
              <a:t> sau </a:t>
            </a:r>
            <a:r>
              <a:rPr lang="en-US" sz="3307" strike="noStrike" u="none">
                <a:solidFill>
                  <a:srgbClr val="000000"/>
                </a:solidFill>
                <a:latin typeface="Rokkitt"/>
                <a:ea typeface="Rokkitt"/>
                <a:cs typeface="Rokkitt"/>
                <a:sym typeface="Rokkitt"/>
              </a:rPr>
              <a:t>mỗ</a:t>
            </a:r>
            <a:r>
              <a:rPr lang="en-US" sz="3307" strike="noStrike" u="none">
                <a:solidFill>
                  <a:srgbClr val="000000"/>
                </a:solidFill>
                <a:latin typeface="Rokkitt"/>
                <a:ea typeface="Rokkitt"/>
                <a:cs typeface="Rokkitt"/>
                <a:sym typeface="Rokkitt"/>
              </a:rPr>
              <a:t>i </a:t>
            </a:r>
            <a:r>
              <a:rPr lang="en-US" sz="3307" strike="noStrike" u="none">
                <a:solidFill>
                  <a:srgbClr val="000000"/>
                </a:solidFill>
                <a:latin typeface="Rokkitt"/>
                <a:ea typeface="Rokkitt"/>
                <a:cs typeface="Rokkitt"/>
                <a:sym typeface="Rokkitt"/>
              </a:rPr>
              <a:t>bước</a:t>
            </a:r>
          </a:p>
          <a:p>
            <a:pPr algn="l" marL="1427991" indent="-475997" lvl="2">
              <a:lnSpc>
                <a:spcPts val="4629"/>
              </a:lnSpc>
              <a:buAutoNum type="alphaLcPeriod" startAt="1"/>
            </a:pPr>
            <a:r>
              <a:rPr lang="en-US" b="true" sz="3307" strike="noStrike" u="none">
                <a:solidFill>
                  <a:srgbClr val="000000"/>
                </a:solidFill>
                <a:latin typeface="Rokkitt Bold"/>
                <a:ea typeface="Rokkitt Bold"/>
                <a:cs typeface="Rokkitt Bold"/>
                <a:sym typeface="Rokkitt Bold"/>
              </a:rPr>
              <a:t>Sử dụng Prompt Chaining: </a:t>
            </a:r>
            <a:r>
              <a:rPr lang="en-US" sz="3307" strike="noStrike" u="none">
                <a:solidFill>
                  <a:srgbClr val="000000"/>
                </a:solidFill>
                <a:latin typeface="Rokkitt"/>
                <a:ea typeface="Rokkitt"/>
                <a:cs typeface="Rokkitt"/>
                <a:sym typeface="Rokkitt"/>
              </a:rPr>
              <a:t>Kế</a:t>
            </a:r>
            <a:r>
              <a:rPr lang="en-US" sz="3307" strike="noStrike" u="none">
                <a:solidFill>
                  <a:srgbClr val="000000"/>
                </a:solidFill>
                <a:latin typeface="Rokkitt"/>
                <a:ea typeface="Rokkitt"/>
                <a:cs typeface="Rokkitt"/>
                <a:sym typeface="Rokkitt"/>
              </a:rPr>
              <a:t>t hợp c</a:t>
            </a:r>
            <a:r>
              <a:rPr lang="en-US" sz="3307" strike="noStrike" u="none">
                <a:solidFill>
                  <a:srgbClr val="000000"/>
                </a:solidFill>
                <a:latin typeface="Rokkitt"/>
                <a:ea typeface="Rokkitt"/>
                <a:cs typeface="Rokkitt"/>
                <a:sym typeface="Rokkitt"/>
              </a:rPr>
              <a:t>hu</a:t>
            </a:r>
            <a:r>
              <a:rPr lang="en-US" sz="3307" strike="noStrike" u="none">
                <a:solidFill>
                  <a:srgbClr val="000000"/>
                </a:solidFill>
                <a:latin typeface="Rokkitt"/>
                <a:ea typeface="Rokkitt"/>
                <a:cs typeface="Rokkitt"/>
                <a:sym typeface="Rokkitt"/>
              </a:rPr>
              <a:t>ỗi lệ</a:t>
            </a:r>
            <a:r>
              <a:rPr lang="en-US" sz="3307" strike="noStrike" u="none">
                <a:solidFill>
                  <a:srgbClr val="000000"/>
                </a:solidFill>
                <a:latin typeface="Rokkitt"/>
                <a:ea typeface="Rokkitt"/>
                <a:cs typeface="Rokkitt"/>
                <a:sym typeface="Rokkitt"/>
              </a:rPr>
              <a:t>nh đ</a:t>
            </a:r>
            <a:r>
              <a:rPr lang="en-US" sz="3307" strike="noStrike" u="none">
                <a:solidFill>
                  <a:srgbClr val="000000"/>
                </a:solidFill>
                <a:latin typeface="Rokkitt"/>
                <a:ea typeface="Rokkitt"/>
                <a:cs typeface="Rokkitt"/>
                <a:sym typeface="Rokkitt"/>
              </a:rPr>
              <a:t>ể</a:t>
            </a:r>
            <a:r>
              <a:rPr lang="en-US" sz="3307" strike="noStrike" u="none">
                <a:solidFill>
                  <a:srgbClr val="000000"/>
                </a:solidFill>
                <a:latin typeface="Rokkitt"/>
                <a:ea typeface="Rokkitt"/>
                <a:cs typeface="Rokkitt"/>
                <a:sym typeface="Rokkitt"/>
              </a:rPr>
              <a:t> AI thực hiện tuần tự: Giải thích code cũ → Đề xuất phương án sửa → Thực thi sửa đổi</a:t>
            </a:r>
          </a:p>
          <a:p>
            <a:pPr algn="l" marL="713995" indent="-356998" lvl="1">
              <a:lnSpc>
                <a:spcPts val="4629"/>
              </a:lnSpc>
              <a:buFont typeface="Arial"/>
              <a:buChar char="•"/>
            </a:pPr>
            <a:r>
              <a:rPr lang="en-US" sz="3307" strike="noStrike" u="none">
                <a:solidFill>
                  <a:srgbClr val="000000"/>
                </a:solidFill>
                <a:latin typeface="Rokkitt"/>
                <a:ea typeface="Rokkitt"/>
                <a:cs typeface="Rokkitt"/>
                <a:sym typeface="Rokkitt"/>
              </a:rPr>
              <a:t>Đánh giá:</a:t>
            </a:r>
          </a:p>
          <a:p>
            <a:pPr algn="l" marL="1427991" indent="-475997" lvl="2">
              <a:lnSpc>
                <a:spcPts val="4629"/>
              </a:lnSpc>
              <a:buFont typeface="Arial"/>
              <a:buChar char="⚬"/>
            </a:pPr>
            <a:r>
              <a:rPr lang="en-US" b="true" sz="3307" strike="noStrike" u="none">
                <a:solidFill>
                  <a:srgbClr val="000000"/>
                </a:solidFill>
                <a:latin typeface="Rokkitt Bold"/>
                <a:ea typeface="Rokkitt Bold"/>
                <a:cs typeface="Rokkitt Bold"/>
                <a:sym typeface="Rokkitt Bold"/>
              </a:rPr>
              <a:t>Ưu điểm: </a:t>
            </a:r>
            <a:r>
              <a:rPr lang="en-US" sz="3307" strike="noStrike" u="none">
                <a:solidFill>
                  <a:srgbClr val="000000"/>
                </a:solidFill>
                <a:latin typeface="Rokkitt"/>
                <a:ea typeface="Rokkitt"/>
                <a:cs typeface="Rokkitt"/>
                <a:sym typeface="Rokkitt"/>
              </a:rPr>
              <a:t>Tă</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 tốc độ refactoring, giúp lập trì</a:t>
            </a:r>
            <a:r>
              <a:rPr lang="en-US" sz="3307" strike="noStrike" u="none">
                <a:solidFill>
                  <a:srgbClr val="000000"/>
                </a:solidFill>
                <a:latin typeface="Rokkitt"/>
                <a:ea typeface="Rokkitt"/>
                <a:cs typeface="Rokkitt"/>
                <a:sym typeface="Rokkitt"/>
              </a:rPr>
              <a:t>nh</a:t>
            </a:r>
            <a:r>
              <a:rPr lang="en-US" sz="3307" strike="noStrike" u="none">
                <a:solidFill>
                  <a:srgbClr val="000000"/>
                </a:solidFill>
                <a:latin typeface="Rokkitt"/>
                <a:ea typeface="Rokkitt"/>
                <a:cs typeface="Rokkitt"/>
                <a:sym typeface="Rokkitt"/>
              </a:rPr>
              <a:t> viên tiếp cận các best practices </a:t>
            </a:r>
            <a:r>
              <a:rPr lang="en-US" sz="3307" strike="noStrike" u="none">
                <a:solidFill>
                  <a:srgbClr val="000000"/>
                </a:solidFill>
                <a:latin typeface="Rokkitt"/>
                <a:ea typeface="Rokkitt"/>
                <a:cs typeface="Rokkitt"/>
                <a:sym typeface="Rokkitt"/>
              </a:rPr>
              <a:t>q</a:t>
            </a:r>
            <a:r>
              <a:rPr lang="en-US" sz="3307" strike="noStrike" u="none">
                <a:solidFill>
                  <a:srgbClr val="000000"/>
                </a:solidFill>
                <a:latin typeface="Rokkitt"/>
                <a:ea typeface="Rokkitt"/>
                <a:cs typeface="Rokkitt"/>
                <a:sym typeface="Rokkitt"/>
              </a:rPr>
              <a:t>u</a:t>
            </a:r>
            <a:r>
              <a:rPr lang="en-US" sz="3307" strike="noStrike" u="none">
                <a:solidFill>
                  <a:srgbClr val="000000"/>
                </a:solidFill>
                <a:latin typeface="Rokkitt"/>
                <a:ea typeface="Rokkitt"/>
                <a:cs typeface="Rokkitt"/>
                <a:sym typeface="Rokkitt"/>
              </a:rPr>
              <a:t>ốc</a:t>
            </a:r>
            <a:r>
              <a:rPr lang="en-US" sz="3307" strike="noStrike" u="none">
                <a:solidFill>
                  <a:srgbClr val="000000"/>
                </a:solidFill>
                <a:latin typeface="Rokkitt"/>
                <a:ea typeface="Rokkitt"/>
                <a:cs typeface="Rokkitt"/>
                <a:sym typeface="Rokkitt"/>
              </a:rPr>
              <a:t> t</a:t>
            </a:r>
            <a:r>
              <a:rPr lang="en-US" sz="3307" strike="noStrike" u="none">
                <a:solidFill>
                  <a:srgbClr val="000000"/>
                </a:solidFill>
                <a:latin typeface="Rokkitt"/>
                <a:ea typeface="Rokkitt"/>
                <a:cs typeface="Rokkitt"/>
                <a:sym typeface="Rokkitt"/>
              </a:rPr>
              <a:t>ế</a:t>
            </a:r>
            <a:r>
              <a:rPr lang="en-US" sz="3307" strike="noStrike" u="none">
                <a:solidFill>
                  <a:srgbClr val="000000"/>
                </a:solidFill>
                <a:latin typeface="Rokkitt"/>
                <a:ea typeface="Rokkitt"/>
                <a:cs typeface="Rokkitt"/>
                <a:sym typeface="Rokkitt"/>
              </a:rPr>
              <a:t> t</a:t>
            </a:r>
            <a:r>
              <a:rPr lang="en-US" sz="3307" strike="noStrike" u="none">
                <a:solidFill>
                  <a:srgbClr val="000000"/>
                </a:solidFill>
                <a:latin typeface="Rokkitt"/>
                <a:ea typeface="Rokkitt"/>
                <a:cs typeface="Rokkitt"/>
                <a:sym typeface="Rokkitt"/>
              </a:rPr>
              <a:t>hô</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 qua gợi ý AI</a:t>
            </a:r>
          </a:p>
          <a:p>
            <a:pPr algn="l" marL="1427991" indent="-475997" lvl="2">
              <a:lnSpc>
                <a:spcPts val="4629"/>
              </a:lnSpc>
              <a:buFont typeface="Arial"/>
              <a:buChar char="⚬"/>
            </a:pPr>
            <a:r>
              <a:rPr lang="en-US" b="true" sz="3307" strike="noStrike" u="none">
                <a:solidFill>
                  <a:srgbClr val="000000"/>
                </a:solidFill>
                <a:latin typeface="Rokkitt Bold"/>
                <a:ea typeface="Rokkitt Bold"/>
                <a:cs typeface="Rokkitt Bold"/>
                <a:sym typeface="Rokkitt Bold"/>
              </a:rPr>
              <a:t>Hạn chế: </a:t>
            </a:r>
            <a:r>
              <a:rPr lang="en-US" sz="3307" strike="noStrike" u="none">
                <a:solidFill>
                  <a:srgbClr val="000000"/>
                </a:solidFill>
                <a:latin typeface="Rokkitt"/>
                <a:ea typeface="Rokkitt"/>
                <a:cs typeface="Rokkitt"/>
                <a:sym typeface="Rokkitt"/>
              </a:rPr>
              <a:t>AI </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ó</a:t>
            </a:r>
            <a:r>
              <a:rPr lang="en-US" sz="3307" strike="noStrike" u="none">
                <a:solidFill>
                  <a:srgbClr val="000000"/>
                </a:solidFill>
                <a:latin typeface="Rokkitt"/>
                <a:ea typeface="Rokkitt"/>
                <a:cs typeface="Rokkitt"/>
                <a:sym typeface="Rokkitt"/>
              </a:rPr>
              <a:t> thể đề xuất mã chuyên nghiệp</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như</a:t>
            </a:r>
            <a:r>
              <a:rPr lang="en-US" sz="3307" strike="noStrike" u="none">
                <a:solidFill>
                  <a:srgbClr val="000000"/>
                </a:solidFill>
                <a:latin typeface="Rokkitt"/>
                <a:ea typeface="Rokkitt"/>
                <a:cs typeface="Rokkitt"/>
                <a:sym typeface="Rokkitt"/>
              </a:rPr>
              <a:t>ng </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ứa lỗi</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log</a:t>
            </a:r>
            <a:r>
              <a:rPr lang="en-US" sz="3307" strike="noStrike" u="none">
                <a:solidFill>
                  <a:srgbClr val="000000"/>
                </a:solidFill>
                <a:latin typeface="Rokkitt"/>
                <a:ea typeface="Rokkitt"/>
                <a:cs typeface="Rokkitt"/>
                <a:sym typeface="Rokkitt"/>
              </a:rPr>
              <a:t>i</a:t>
            </a:r>
            <a:r>
              <a:rPr lang="en-US" sz="3307" strike="noStrike" u="none">
                <a:solidFill>
                  <a:srgbClr val="000000"/>
                </a:solidFill>
                <a:latin typeface="Rokkitt"/>
                <a:ea typeface="Rokkitt"/>
                <a:cs typeface="Rokkitt"/>
                <a:sym typeface="Rokkitt"/>
              </a:rPr>
              <a:t>c</a:t>
            </a:r>
            <a:r>
              <a:rPr lang="en-US" sz="3307" strike="noStrike" u="none">
                <a:solidFill>
                  <a:srgbClr val="000000"/>
                </a:solidFill>
                <a:latin typeface="Rokkitt"/>
                <a:ea typeface="Rokkitt"/>
                <a:cs typeface="Rokkitt"/>
                <a:sym typeface="Rokkitt"/>
              </a:rPr>
              <a:t> tinh vi hoặc </a:t>
            </a:r>
            <a:r>
              <a:rPr lang="en-US" sz="3307" strike="noStrike" u="none">
                <a:solidFill>
                  <a:srgbClr val="000000"/>
                </a:solidFill>
                <a:latin typeface="Rokkitt"/>
                <a:ea typeface="Rokkitt"/>
                <a:cs typeface="Rokkitt"/>
                <a:sym typeface="Rokkitt"/>
              </a:rPr>
              <a:t>k</a:t>
            </a:r>
            <a:r>
              <a:rPr lang="en-US" sz="3307" strike="noStrike" u="none">
                <a:solidFill>
                  <a:srgbClr val="000000"/>
                </a:solidFill>
                <a:latin typeface="Rokkitt"/>
                <a:ea typeface="Rokkitt"/>
                <a:cs typeface="Rokkitt"/>
                <a:sym typeface="Rokkitt"/>
              </a:rPr>
              <a:t>h</a:t>
            </a:r>
            <a:r>
              <a:rPr lang="en-US" sz="3307" strike="noStrike" u="none">
                <a:solidFill>
                  <a:srgbClr val="000000"/>
                </a:solidFill>
                <a:latin typeface="Rokkitt"/>
                <a:ea typeface="Rokkitt"/>
                <a:cs typeface="Rokkitt"/>
                <a:sym typeface="Rokkitt"/>
              </a:rPr>
              <a:t>ô</a:t>
            </a:r>
            <a:r>
              <a:rPr lang="en-US" sz="3307" strike="noStrike" u="none">
                <a:solidFill>
                  <a:srgbClr val="000000"/>
                </a:solidFill>
                <a:latin typeface="Rokkitt"/>
                <a:ea typeface="Rokkitt"/>
                <a:cs typeface="Rokkitt"/>
                <a:sym typeface="Rokkitt"/>
              </a:rPr>
              <a:t>n</a:t>
            </a:r>
            <a:r>
              <a:rPr lang="en-US" sz="3307" strike="noStrike" u="none">
                <a:solidFill>
                  <a:srgbClr val="000000"/>
                </a:solidFill>
                <a:latin typeface="Rokkitt"/>
                <a:ea typeface="Rokkitt"/>
                <a:cs typeface="Rokkitt"/>
                <a:sym typeface="Rokkitt"/>
              </a:rPr>
              <a:t>g</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phù</a:t>
            </a:r>
            <a:r>
              <a:rPr lang="en-US" sz="3307" strike="noStrike" u="none">
                <a:solidFill>
                  <a:srgbClr val="000000"/>
                </a:solidFill>
                <a:latin typeface="Rokkitt"/>
                <a:ea typeface="Rokkitt"/>
                <a:cs typeface="Rokkitt"/>
                <a:sym typeface="Rokkitt"/>
              </a:rPr>
              <a:t> hợp với kiến t</a:t>
            </a:r>
            <a:r>
              <a:rPr lang="en-US" sz="3307" strike="noStrike" u="none">
                <a:solidFill>
                  <a:srgbClr val="000000"/>
                </a:solidFill>
                <a:latin typeface="Rokkitt"/>
                <a:ea typeface="Rokkitt"/>
                <a:cs typeface="Rokkitt"/>
                <a:sym typeface="Rokkitt"/>
              </a:rPr>
              <a:t>rú</a:t>
            </a:r>
            <a:r>
              <a:rPr lang="en-US" sz="3307" strike="noStrike" u="none">
                <a:solidFill>
                  <a:srgbClr val="000000"/>
                </a:solidFill>
                <a:latin typeface="Rokkitt"/>
                <a:ea typeface="Rokkitt"/>
                <a:cs typeface="Rokkitt"/>
                <a:sym typeface="Rokkitt"/>
              </a:rPr>
              <a:t>c </a:t>
            </a:r>
            <a:r>
              <a:rPr lang="en-US" sz="3307" strike="noStrike" u="none">
                <a:solidFill>
                  <a:srgbClr val="000000"/>
                </a:solidFill>
                <a:latin typeface="Rokkitt"/>
                <a:ea typeface="Rokkitt"/>
                <a:cs typeface="Rokkitt"/>
                <a:sym typeface="Rokkitt"/>
              </a:rPr>
              <a:t>tổng</a:t>
            </a:r>
            <a:r>
              <a:rPr lang="en-US" sz="3307" strike="noStrike" u="none">
                <a:solidFill>
                  <a:srgbClr val="000000"/>
                </a:solidFill>
                <a:latin typeface="Rokkitt"/>
                <a:ea typeface="Rokkitt"/>
                <a:cs typeface="Rokkitt"/>
                <a:sym typeface="Rokkitt"/>
              </a:rPr>
              <a:t> </a:t>
            </a:r>
            <a:r>
              <a:rPr lang="en-US" sz="3307" strike="noStrike" u="none">
                <a:solidFill>
                  <a:srgbClr val="000000"/>
                </a:solidFill>
                <a:latin typeface="Rokkitt"/>
                <a:ea typeface="Rokkitt"/>
                <a:cs typeface="Rokkitt"/>
                <a:sym typeface="Rokkitt"/>
              </a:rPr>
              <a:t>thể</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664014" y="2384472"/>
            <a:ext cx="6959972" cy="3639978"/>
            <a:chOff x="0" y="0"/>
            <a:chExt cx="9279963" cy="4853304"/>
          </a:xfrm>
        </p:grpSpPr>
        <p:grpSp>
          <p:nvGrpSpPr>
            <p:cNvPr name="Group 3" id="3"/>
            <p:cNvGrpSpPr/>
            <p:nvPr/>
          </p:nvGrpSpPr>
          <p:grpSpPr>
            <a:xfrm rot="0">
              <a:off x="122592" y="0"/>
              <a:ext cx="9157370" cy="1791455"/>
              <a:chOff x="0" y="0"/>
              <a:chExt cx="534113" cy="104488"/>
            </a:xfrm>
          </p:grpSpPr>
          <p:sp>
            <p:nvSpPr>
              <p:cNvPr name="Freeform 4" id="4"/>
              <p:cNvSpPr/>
              <p:nvPr/>
            </p:nvSpPr>
            <p:spPr>
              <a:xfrm flipH="false" flipV="false" rot="0">
                <a:off x="0" y="0"/>
                <a:ext cx="534113" cy="104488"/>
              </a:xfrm>
              <a:custGeom>
                <a:avLst/>
                <a:gdLst/>
                <a:ahLst/>
                <a:cxnLst/>
                <a:rect r="r" b="b" t="t" l="l"/>
                <a:pathLst>
                  <a:path h="104488" w="534113">
                    <a:moveTo>
                      <a:pt x="0" y="0"/>
                    </a:moveTo>
                    <a:lnTo>
                      <a:pt x="534113" y="0"/>
                    </a:lnTo>
                    <a:lnTo>
                      <a:pt x="534113" y="104488"/>
                    </a:lnTo>
                    <a:lnTo>
                      <a:pt x="0" y="104488"/>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534113" cy="161638"/>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54136"/>
              <a:ext cx="9279963" cy="4799168"/>
            </a:xfrm>
            <a:prstGeom prst="rect">
              <a:avLst/>
            </a:prstGeom>
          </p:spPr>
          <p:txBody>
            <a:bodyPr anchor="t" rtlCol="false" tIns="0" lIns="0" bIns="0" rIns="0">
              <a:spAutoFit/>
            </a:bodyPr>
            <a:lstStyle/>
            <a:p>
              <a:pPr algn="ctr">
                <a:lnSpc>
                  <a:spcPts val="9756"/>
                </a:lnSpc>
              </a:pPr>
              <a:r>
                <a:rPr lang="en-US" sz="6636" b="true">
                  <a:solidFill>
                    <a:srgbClr val="000000"/>
                  </a:solidFill>
                  <a:latin typeface="Tomorrow Bold"/>
                  <a:ea typeface="Tomorrow Bold"/>
                  <a:cs typeface="Tomorrow Bold"/>
                  <a:sym typeface="Tomorrow Bold"/>
                </a:rPr>
                <a:t>10.4. Kết luận</a:t>
              </a:r>
            </a:p>
            <a:p>
              <a:pPr algn="ctr">
                <a:lnSpc>
                  <a:spcPts val="9756"/>
                </a:lnSpc>
              </a:pPr>
            </a:p>
            <a:p>
              <a:pPr algn="ctr">
                <a:lnSpc>
                  <a:spcPts val="9756"/>
                </a:lnSpc>
              </a:pPr>
            </a:p>
          </p:txBody>
        </p:sp>
      </p:grpSp>
      <p:sp>
        <p:nvSpPr>
          <p:cNvPr name="TextBox 7" id="7"/>
          <p:cNvSpPr txBox="true"/>
          <p:nvPr/>
        </p:nvSpPr>
        <p:spPr>
          <a:xfrm rot="0">
            <a:off x="527170" y="3970748"/>
            <a:ext cx="17481740" cy="3128525"/>
          </a:xfrm>
          <a:prstGeom prst="rect">
            <a:avLst/>
          </a:prstGeom>
        </p:spPr>
        <p:txBody>
          <a:bodyPr anchor="t" rtlCol="false" tIns="0" lIns="0" bIns="0" rIns="0">
            <a:spAutoFit/>
          </a:bodyPr>
          <a:lstStyle/>
          <a:p>
            <a:pPr algn="l">
              <a:lnSpc>
                <a:spcPts val="5004"/>
              </a:lnSpc>
            </a:pPr>
            <a:r>
              <a:rPr lang="en-US" sz="3574">
                <a:solidFill>
                  <a:srgbClr val="000000"/>
                </a:solidFill>
                <a:latin typeface="Rokkitt"/>
                <a:ea typeface="Rokkitt"/>
                <a:cs typeface="Rokkitt"/>
                <a:sym typeface="Rokkitt"/>
              </a:rPr>
              <a:t>Việc tích hợ</a:t>
            </a:r>
            <a:r>
              <a:rPr lang="en-US" sz="3574" strike="noStrike" u="none">
                <a:solidFill>
                  <a:srgbClr val="000000"/>
                </a:solidFill>
                <a:latin typeface="Rokkitt"/>
                <a:ea typeface="Rokkitt"/>
                <a:cs typeface="Rokkitt"/>
                <a:sym typeface="Rokkitt"/>
              </a:rPr>
              <a:t>p GenAI vào quy trình tái cấu tr</a:t>
            </a:r>
            <a:r>
              <a:rPr lang="en-US" sz="3574" strike="noStrike" u="none">
                <a:solidFill>
                  <a:srgbClr val="000000"/>
                </a:solidFill>
                <a:latin typeface="Rokkitt"/>
                <a:ea typeface="Rokkitt"/>
                <a:cs typeface="Rokkitt"/>
                <a:sym typeface="Rokkitt"/>
              </a:rPr>
              <a:t>úc mã</a:t>
            </a:r>
            <a:r>
              <a:rPr lang="en-US" sz="3574" strike="noStrike" u="none">
                <a:solidFill>
                  <a:srgbClr val="000000"/>
                </a:solidFill>
                <a:latin typeface="Rokkitt"/>
                <a:ea typeface="Rokkitt"/>
                <a:cs typeface="Rokkitt"/>
                <a:sym typeface="Rokkitt"/>
              </a:rPr>
              <a:t> nguồn giúp tổ chức duy trì một cơ sở mã nguồn (codebase) khỏe mạnh, dễ bảo trì và sẵn sàng cho các bư</a:t>
            </a:r>
            <a:r>
              <a:rPr lang="en-US" sz="3574" strike="noStrike" u="none">
                <a:solidFill>
                  <a:srgbClr val="000000"/>
                </a:solidFill>
                <a:latin typeface="Rokkitt"/>
                <a:ea typeface="Rokkitt"/>
                <a:cs typeface="Rokkitt"/>
                <a:sym typeface="Rokkitt"/>
              </a:rPr>
              <a:t>ớ</a:t>
            </a:r>
            <a:r>
              <a:rPr lang="en-US" sz="3574" strike="noStrike" u="none">
                <a:solidFill>
                  <a:srgbClr val="000000"/>
                </a:solidFill>
                <a:latin typeface="Rokkitt"/>
                <a:ea typeface="Rokkitt"/>
                <a:cs typeface="Rokkitt"/>
                <a:sym typeface="Rokkitt"/>
              </a:rPr>
              <a:t>c tiến c</a:t>
            </a:r>
            <a:r>
              <a:rPr lang="en-US" sz="3574" strike="noStrike" u="none">
                <a:solidFill>
                  <a:srgbClr val="000000"/>
                </a:solidFill>
                <a:latin typeface="Rokkitt"/>
                <a:ea typeface="Rokkitt"/>
                <a:cs typeface="Rokkitt"/>
                <a:sym typeface="Rokkitt"/>
              </a:rPr>
              <a:t>ô</a:t>
            </a:r>
            <a:r>
              <a:rPr lang="en-US" sz="3574" strike="noStrike" u="none">
                <a:solidFill>
                  <a:srgbClr val="000000"/>
                </a:solidFill>
                <a:latin typeface="Rokkitt"/>
                <a:ea typeface="Rokkitt"/>
                <a:cs typeface="Rokkitt"/>
                <a:sym typeface="Rokkitt"/>
              </a:rPr>
              <a:t>ng nghệ tiếp theo. </a:t>
            </a:r>
          </a:p>
          <a:p>
            <a:pPr algn="l">
              <a:lnSpc>
                <a:spcPts val="5004"/>
              </a:lnSpc>
            </a:pPr>
            <a:r>
              <a:rPr lang="en-US" sz="3574" strike="noStrike" u="none">
                <a:solidFill>
                  <a:srgbClr val="000000"/>
                </a:solidFill>
                <a:latin typeface="Rokkitt"/>
                <a:ea typeface="Rokkitt"/>
                <a:cs typeface="Rokkitt"/>
                <a:sym typeface="Rokkitt"/>
              </a:rPr>
              <a:t>Tuy nhiên, vai trò của con người trong việc rà soát (Code Review) và kiểm thử vẫn là yếu tố quyết định sự thành công.</a:t>
            </a:r>
          </a:p>
          <a:p>
            <a:pPr algn="l">
              <a:lnSpc>
                <a:spcPts val="5004"/>
              </a:lnSpc>
            </a:pPr>
          </a:p>
        </p:txBody>
      </p:sp>
    </p:spTree>
  </p:cSld>
  <p:clrMapOvr>
    <a:masterClrMapping/>
  </p:clrMapOvr>
</p:sld>
</file>

<file path=ppt/slides/slide4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39985" y="3224791"/>
            <a:ext cx="16608030" cy="3916929"/>
            <a:chOff x="0" y="0"/>
            <a:chExt cx="2142977" cy="505412"/>
          </a:xfrm>
        </p:grpSpPr>
        <p:sp>
          <p:nvSpPr>
            <p:cNvPr name="Freeform 3" id="3"/>
            <p:cNvSpPr/>
            <p:nvPr/>
          </p:nvSpPr>
          <p:spPr>
            <a:xfrm flipH="false" flipV="false" rot="0">
              <a:off x="0" y="0"/>
              <a:ext cx="2142977" cy="505412"/>
            </a:xfrm>
            <a:custGeom>
              <a:avLst/>
              <a:gdLst/>
              <a:ahLst/>
              <a:cxnLst/>
              <a:rect r="r" b="b" t="t" l="l"/>
              <a:pathLst>
                <a:path h="505412" w="2142977">
                  <a:moveTo>
                    <a:pt x="0" y="0"/>
                  </a:moveTo>
                  <a:lnTo>
                    <a:pt x="2142977" y="0"/>
                  </a:lnTo>
                  <a:lnTo>
                    <a:pt x="2142977" y="505412"/>
                  </a:lnTo>
                  <a:lnTo>
                    <a:pt x="0" y="505412"/>
                  </a:lnTo>
                  <a:close/>
                </a:path>
              </a:pathLst>
            </a:custGeom>
            <a:ln w="38100" cap="sq">
              <a:solidFill>
                <a:srgbClr val="000000"/>
              </a:solidFill>
              <a:prstDash val="solid"/>
              <a:miter/>
            </a:ln>
          </p:spPr>
        </p:sp>
        <p:sp>
          <p:nvSpPr>
            <p:cNvPr name="TextBox 4" id="4"/>
            <p:cNvSpPr txBox="true"/>
            <p:nvPr/>
          </p:nvSpPr>
          <p:spPr>
            <a:xfrm>
              <a:off x="0" y="-57150"/>
              <a:ext cx="2142977" cy="562562"/>
            </a:xfrm>
            <a:prstGeom prst="rect">
              <a:avLst/>
            </a:prstGeom>
          </p:spPr>
          <p:txBody>
            <a:bodyPr anchor="ctr" rtlCol="false" tIns="50800" lIns="50800" bIns="50800" rIns="50800"/>
            <a:lstStyle/>
            <a:p>
              <a:pPr algn="ctr">
                <a:lnSpc>
                  <a:spcPts val="2926"/>
                </a:lnSpc>
              </a:pPr>
            </a:p>
          </p:txBody>
        </p:sp>
      </p:grpSp>
      <p:grpSp>
        <p:nvGrpSpPr>
          <p:cNvPr name="Group 5" id="5"/>
          <p:cNvGrpSpPr/>
          <p:nvPr/>
        </p:nvGrpSpPr>
        <p:grpSpPr>
          <a:xfrm rot="0">
            <a:off x="839985" y="3224791"/>
            <a:ext cx="16608030" cy="1742925"/>
            <a:chOff x="0" y="0"/>
            <a:chExt cx="2142977" cy="224894"/>
          </a:xfrm>
        </p:grpSpPr>
        <p:sp>
          <p:nvSpPr>
            <p:cNvPr name="Freeform 6" id="6"/>
            <p:cNvSpPr/>
            <p:nvPr/>
          </p:nvSpPr>
          <p:spPr>
            <a:xfrm flipH="false" flipV="false" rot="0">
              <a:off x="0" y="0"/>
              <a:ext cx="2142977" cy="224894"/>
            </a:xfrm>
            <a:custGeom>
              <a:avLst/>
              <a:gdLst/>
              <a:ahLst/>
              <a:cxnLst/>
              <a:rect r="r" b="b" t="t" l="l"/>
              <a:pathLst>
                <a:path h="224894" w="2142977">
                  <a:moveTo>
                    <a:pt x="0" y="0"/>
                  </a:moveTo>
                  <a:lnTo>
                    <a:pt x="2142977" y="0"/>
                  </a:lnTo>
                  <a:lnTo>
                    <a:pt x="2142977" y="224894"/>
                  </a:lnTo>
                  <a:lnTo>
                    <a:pt x="0" y="224894"/>
                  </a:lnTo>
                  <a:close/>
                </a:path>
              </a:pathLst>
            </a:custGeom>
            <a:solidFill>
              <a:srgbClr val="FFFFFF"/>
            </a:solidFill>
            <a:ln w="28575" cap="sq">
              <a:solidFill>
                <a:srgbClr val="000000"/>
              </a:solidFill>
              <a:prstDash val="solid"/>
              <a:miter/>
            </a:ln>
          </p:spPr>
        </p:sp>
        <p:sp>
          <p:nvSpPr>
            <p:cNvPr name="TextBox 7" id="7"/>
            <p:cNvSpPr txBox="true"/>
            <p:nvPr/>
          </p:nvSpPr>
          <p:spPr>
            <a:xfrm>
              <a:off x="0" y="-57150"/>
              <a:ext cx="2142977" cy="282044"/>
            </a:xfrm>
            <a:prstGeom prst="rect">
              <a:avLst/>
            </a:prstGeom>
          </p:spPr>
          <p:txBody>
            <a:bodyPr anchor="ctr" rtlCol="false" tIns="50800" lIns="50800" bIns="50800" rIns="50800"/>
            <a:lstStyle/>
            <a:p>
              <a:pPr algn="ctr">
                <a:lnSpc>
                  <a:spcPts val="2926"/>
                </a:lnSpc>
              </a:pPr>
            </a:p>
          </p:txBody>
        </p:sp>
      </p:grpSp>
      <p:sp>
        <p:nvSpPr>
          <p:cNvPr name="TextBox 8" id="8"/>
          <p:cNvSpPr txBox="true"/>
          <p:nvPr/>
        </p:nvSpPr>
        <p:spPr>
          <a:xfrm rot="0">
            <a:off x="1415328" y="5040381"/>
            <a:ext cx="15457344" cy="1746598"/>
          </a:xfrm>
          <a:prstGeom prst="rect">
            <a:avLst/>
          </a:prstGeom>
        </p:spPr>
        <p:txBody>
          <a:bodyPr anchor="t" rtlCol="false" tIns="0" lIns="0" bIns="0" rIns="0">
            <a:spAutoFit/>
          </a:bodyPr>
          <a:lstStyle/>
          <a:p>
            <a:pPr algn="ctr">
              <a:lnSpc>
                <a:spcPts val="7088"/>
              </a:lnSpc>
            </a:pPr>
            <a:r>
              <a:rPr lang="en-US" b="true" sz="4694" spc="239">
                <a:solidFill>
                  <a:srgbClr val="000000"/>
                </a:solidFill>
                <a:latin typeface="Tomorrow Bold"/>
                <a:ea typeface="Tomorrow Bold"/>
                <a:cs typeface="Tomorrow Bold"/>
                <a:sym typeface="Tomorrow Bold"/>
              </a:rPr>
              <a:t>TINH CHỈNH MÔ HÌNH VỚI OPENAI+ TÓM TẮT LÝ THUYẾT VÀ LAB MINH HỌA</a:t>
            </a:r>
          </a:p>
        </p:txBody>
      </p:sp>
      <p:sp>
        <p:nvSpPr>
          <p:cNvPr name="TextBox 9" id="9"/>
          <p:cNvSpPr txBox="true"/>
          <p:nvPr/>
        </p:nvSpPr>
        <p:spPr>
          <a:xfrm rot="0">
            <a:off x="7744542" y="2690307"/>
            <a:ext cx="2798915" cy="2283457"/>
          </a:xfrm>
          <a:prstGeom prst="rect">
            <a:avLst/>
          </a:prstGeom>
        </p:spPr>
        <p:txBody>
          <a:bodyPr anchor="t" rtlCol="false" tIns="0" lIns="0" bIns="0" rIns="0">
            <a:spAutoFit/>
          </a:bodyPr>
          <a:lstStyle/>
          <a:p>
            <a:pPr algn="ctr">
              <a:lnSpc>
                <a:spcPts val="18891"/>
              </a:lnSpc>
            </a:pPr>
            <a:r>
              <a:rPr lang="en-US" b="true" sz="12851">
                <a:solidFill>
                  <a:srgbClr val="000000"/>
                </a:solidFill>
                <a:latin typeface="Tomorrow Bold"/>
                <a:ea typeface="Tomorrow Bold"/>
                <a:cs typeface="Tomorrow Bold"/>
                <a:sym typeface="Tomorrow Bold"/>
              </a:rPr>
              <a:t>11</a:t>
            </a:r>
          </a:p>
        </p:txBody>
      </p:sp>
    </p:spTree>
  </p:cSld>
  <p:clrMapOvr>
    <a:masterClrMapping/>
  </p:clrMapOvr>
</p:sld>
</file>

<file path=ppt/slides/slide4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69253" y="2484313"/>
            <a:ext cx="17032187" cy="1443074"/>
            <a:chOff x="0" y="0"/>
            <a:chExt cx="1324559" cy="112225"/>
          </a:xfrm>
        </p:grpSpPr>
        <p:sp>
          <p:nvSpPr>
            <p:cNvPr name="Freeform 3" id="3"/>
            <p:cNvSpPr/>
            <p:nvPr/>
          </p:nvSpPr>
          <p:spPr>
            <a:xfrm flipH="false" flipV="false" rot="0">
              <a:off x="0" y="0"/>
              <a:ext cx="1324559" cy="112225"/>
            </a:xfrm>
            <a:custGeom>
              <a:avLst/>
              <a:gdLst/>
              <a:ahLst/>
              <a:cxnLst/>
              <a:rect r="r" b="b" t="t" l="l"/>
              <a:pathLst>
                <a:path h="112225" w="1324559">
                  <a:moveTo>
                    <a:pt x="0" y="0"/>
                  </a:moveTo>
                  <a:lnTo>
                    <a:pt x="1324559" y="0"/>
                  </a:lnTo>
                  <a:lnTo>
                    <a:pt x="1324559" y="112225"/>
                  </a:lnTo>
                  <a:lnTo>
                    <a:pt x="0" y="112225"/>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178900"/>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886247" y="2709827"/>
            <a:ext cx="16598199" cy="1941127"/>
          </a:xfrm>
          <a:prstGeom prst="rect">
            <a:avLst/>
          </a:prstGeom>
        </p:spPr>
        <p:txBody>
          <a:bodyPr anchor="t" rtlCol="false" tIns="0" lIns="0" bIns="0" rIns="0">
            <a:spAutoFit/>
          </a:bodyPr>
          <a:lstStyle/>
          <a:p>
            <a:pPr algn="ctr">
              <a:lnSpc>
                <a:spcPts val="7845"/>
              </a:lnSpc>
            </a:pPr>
            <a:r>
              <a:rPr lang="en-US" b="true" sz="5336">
                <a:solidFill>
                  <a:srgbClr val="000000"/>
                </a:solidFill>
                <a:latin typeface="Tomorrow Bold"/>
                <a:ea typeface="Tomorrow Bold"/>
                <a:cs typeface="Tomorrow Bold"/>
                <a:sym typeface="Tomorrow Bold"/>
              </a:rPr>
              <a:t>11.1. Khái niệm và Vai trò của Fine-Tuning</a:t>
            </a:r>
          </a:p>
          <a:p>
            <a:pPr algn="ctr">
              <a:lnSpc>
                <a:spcPts val="7845"/>
              </a:lnSpc>
            </a:pPr>
          </a:p>
        </p:txBody>
      </p:sp>
      <p:sp>
        <p:nvSpPr>
          <p:cNvPr name="TextBox 6" id="6"/>
          <p:cNvSpPr txBox="true"/>
          <p:nvPr/>
        </p:nvSpPr>
        <p:spPr>
          <a:xfrm rot="0">
            <a:off x="669253" y="4045538"/>
            <a:ext cx="17481740" cy="3757149"/>
          </a:xfrm>
          <a:prstGeom prst="rect">
            <a:avLst/>
          </a:prstGeom>
        </p:spPr>
        <p:txBody>
          <a:bodyPr anchor="t" rtlCol="false" tIns="0" lIns="0" bIns="0" rIns="0">
            <a:spAutoFit/>
          </a:bodyPr>
          <a:lstStyle/>
          <a:p>
            <a:pPr algn="l">
              <a:lnSpc>
                <a:spcPts val="5004"/>
              </a:lnSpc>
              <a:spcBef>
                <a:spcPct val="0"/>
              </a:spcBef>
            </a:pPr>
            <a:r>
              <a:rPr lang="en-US" sz="3574">
                <a:solidFill>
                  <a:srgbClr val="000000"/>
                </a:solidFill>
                <a:latin typeface="Rokkitt"/>
                <a:ea typeface="Rokkitt"/>
                <a:cs typeface="Rokkitt"/>
                <a:sym typeface="Rokkitt"/>
              </a:rPr>
              <a:t>Tinh chỉnh</a:t>
            </a:r>
            <a:r>
              <a:rPr lang="en-US" sz="3574" strike="noStrike" u="none">
                <a:solidFill>
                  <a:srgbClr val="000000"/>
                </a:solidFill>
                <a:latin typeface="Rokkitt"/>
                <a:ea typeface="Rokkitt"/>
                <a:cs typeface="Rokkitt"/>
                <a:sym typeface="Rokkitt"/>
              </a:rPr>
              <a:t> (Fine-tuning) là quá trình huấn luyện bổ sung một m</a:t>
            </a:r>
            <a:r>
              <a:rPr lang="en-US" sz="3574" strike="noStrike" u="none">
                <a:solidFill>
                  <a:srgbClr val="000000"/>
                </a:solidFill>
                <a:latin typeface="Rokkitt"/>
                <a:ea typeface="Rokkitt"/>
                <a:cs typeface="Rokkitt"/>
                <a:sym typeface="Rokkitt"/>
              </a:rPr>
              <a:t>ô hình</a:t>
            </a:r>
            <a:r>
              <a:rPr lang="en-US" sz="3574" strike="noStrike" u="none">
                <a:solidFill>
                  <a:srgbClr val="000000"/>
                </a:solidFill>
                <a:latin typeface="Rokkitt"/>
                <a:ea typeface="Rokkitt"/>
                <a:cs typeface="Rokkitt"/>
                <a:sym typeface="Rokkitt"/>
              </a:rPr>
              <a:t> ngôn ngữ đã được đào tạo trước (Pre-trained model) trên một tập dữ liệu chuyên biệt. </a:t>
            </a:r>
          </a:p>
          <a:p>
            <a:pPr algn="l">
              <a:lnSpc>
                <a:spcPts val="5004"/>
              </a:lnSpc>
            </a:pPr>
            <a:r>
              <a:rPr lang="en-US" sz="3574" strike="noStrike" u="none">
                <a:solidFill>
                  <a:srgbClr val="000000"/>
                </a:solidFill>
                <a:latin typeface="Rokkitt"/>
                <a:ea typeface="Rokkitt"/>
                <a:cs typeface="Rokkitt"/>
                <a:sym typeface="Rokkitt"/>
              </a:rPr>
              <a:t>Trong khi kỹ thuật Prompting (Chương 8, 9) giúp mô hình xử lý tác vụ dựa trên </a:t>
            </a:r>
            <a:r>
              <a:rPr lang="en-US" sz="3574" strike="noStrike" u="none">
                <a:solidFill>
                  <a:srgbClr val="000000"/>
                </a:solidFill>
                <a:latin typeface="Rokkitt"/>
                <a:ea typeface="Rokkitt"/>
                <a:cs typeface="Rokkitt"/>
                <a:sym typeface="Rokkitt"/>
              </a:rPr>
              <a:t>ngữ cảnh tức thời, Fine-tuning thay đổi trực tiếp "trọng số" bên trong mô hình để đạt được sự am hiểu sâu sắc về một lĩnh vực cụ thể .</a:t>
            </a:r>
          </a:p>
          <a:p>
            <a:pPr algn="l">
              <a:lnSpc>
                <a:spcPts val="5004"/>
              </a:lnSpc>
            </a:pPr>
          </a:p>
        </p:txBody>
      </p:sp>
    </p:spTree>
  </p:cSld>
  <p:clrMapOvr>
    <a:masterClrMapping/>
  </p:clrMapOvr>
</p:sld>
</file>

<file path=ppt/slides/slide4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18433" y="1181100"/>
            <a:ext cx="17032187" cy="2166641"/>
            <a:chOff x="0" y="0"/>
            <a:chExt cx="1324559" cy="168495"/>
          </a:xfrm>
        </p:grpSpPr>
        <p:sp>
          <p:nvSpPr>
            <p:cNvPr name="Freeform 3" id="3"/>
            <p:cNvSpPr/>
            <p:nvPr/>
          </p:nvSpPr>
          <p:spPr>
            <a:xfrm flipH="false" flipV="false" rot="0">
              <a:off x="0" y="0"/>
              <a:ext cx="1324559" cy="168495"/>
            </a:xfrm>
            <a:custGeom>
              <a:avLst/>
              <a:gdLst/>
              <a:ahLst/>
              <a:cxnLst/>
              <a:rect r="r" b="b" t="t" l="l"/>
              <a:pathLst>
                <a:path h="168495" w="1324559">
                  <a:moveTo>
                    <a:pt x="0" y="0"/>
                  </a:moveTo>
                  <a:lnTo>
                    <a:pt x="1324559" y="0"/>
                  </a:lnTo>
                  <a:lnTo>
                    <a:pt x="1324559" y="168495"/>
                  </a:lnTo>
                  <a:lnTo>
                    <a:pt x="0" y="168495"/>
                  </a:lnTo>
                  <a:close/>
                </a:path>
              </a:pathLst>
            </a:custGeom>
            <a:solidFill>
              <a:srgbClr val="FFFFFF"/>
            </a:solidFill>
            <a:ln w="28575" cap="sq">
              <a:solidFill>
                <a:srgbClr val="000000"/>
              </a:solidFill>
              <a:prstDash val="solid"/>
              <a:miter/>
            </a:ln>
          </p:spPr>
        </p:sp>
        <p:sp>
          <p:nvSpPr>
            <p:cNvPr name="TextBox 4" id="4"/>
            <p:cNvSpPr txBox="true"/>
            <p:nvPr/>
          </p:nvSpPr>
          <p:spPr>
            <a:xfrm>
              <a:off x="0" y="-66675"/>
              <a:ext cx="1324559" cy="235170"/>
            </a:xfrm>
            <a:prstGeom prst="rect">
              <a:avLst/>
            </a:prstGeom>
          </p:spPr>
          <p:txBody>
            <a:bodyPr anchor="ctr" rtlCol="false" tIns="50800" lIns="50800" bIns="50800" rIns="50800"/>
            <a:lstStyle/>
            <a:p>
              <a:pPr algn="ctr">
                <a:lnSpc>
                  <a:spcPts val="3766"/>
                </a:lnSpc>
              </a:pPr>
            </a:p>
          </p:txBody>
        </p:sp>
      </p:grpSp>
      <p:sp>
        <p:nvSpPr>
          <p:cNvPr name="TextBox 5" id="5"/>
          <p:cNvSpPr txBox="true"/>
          <p:nvPr/>
        </p:nvSpPr>
        <p:spPr>
          <a:xfrm rot="0">
            <a:off x="2186165" y="1201746"/>
            <a:ext cx="14096724" cy="4913005"/>
          </a:xfrm>
          <a:prstGeom prst="rect">
            <a:avLst/>
          </a:prstGeom>
        </p:spPr>
        <p:txBody>
          <a:bodyPr anchor="t" rtlCol="false" tIns="0" lIns="0" bIns="0" rIns="0">
            <a:spAutoFit/>
          </a:bodyPr>
          <a:lstStyle/>
          <a:p>
            <a:pPr algn="ctr">
              <a:lnSpc>
                <a:spcPts val="7845"/>
              </a:lnSpc>
            </a:pPr>
            <a:r>
              <a:rPr lang="en-US" sz="5336" b="true">
                <a:solidFill>
                  <a:srgbClr val="000000"/>
                </a:solidFill>
                <a:latin typeface="Tomorrow Bold"/>
                <a:ea typeface="Tomorrow Bold"/>
                <a:cs typeface="Tomorrow Bold"/>
                <a:sym typeface="Tomorrow Bold"/>
              </a:rPr>
              <a:t>11.2. Sự khác biệt chiến lược giữa Prompting và Fine-Tuning</a:t>
            </a:r>
          </a:p>
          <a:p>
            <a:pPr algn="ctr">
              <a:lnSpc>
                <a:spcPts val="7845"/>
              </a:lnSpc>
            </a:pPr>
          </a:p>
          <a:p>
            <a:pPr algn="ctr">
              <a:lnSpc>
                <a:spcPts val="7845"/>
              </a:lnSpc>
            </a:pPr>
          </a:p>
          <a:p>
            <a:pPr algn="ctr">
              <a:lnSpc>
                <a:spcPts val="7845"/>
              </a:lnSpc>
            </a:pPr>
          </a:p>
        </p:txBody>
      </p:sp>
      <p:sp>
        <p:nvSpPr>
          <p:cNvPr name="TextBox 6" id="6"/>
          <p:cNvSpPr txBox="true"/>
          <p:nvPr/>
        </p:nvSpPr>
        <p:spPr>
          <a:xfrm rot="0">
            <a:off x="449743" y="3386732"/>
            <a:ext cx="17569567" cy="6900268"/>
          </a:xfrm>
          <a:prstGeom prst="rect">
            <a:avLst/>
          </a:prstGeom>
        </p:spPr>
        <p:txBody>
          <a:bodyPr anchor="t" rtlCol="false" tIns="0" lIns="0" bIns="0" rIns="0">
            <a:spAutoFit/>
          </a:bodyPr>
          <a:lstStyle/>
          <a:p>
            <a:pPr algn="l">
              <a:lnSpc>
                <a:spcPts val="5004"/>
              </a:lnSpc>
              <a:spcBef>
                <a:spcPct val="0"/>
              </a:spcBef>
            </a:pPr>
            <a:r>
              <a:rPr lang="en-US" sz="3574">
                <a:solidFill>
                  <a:srgbClr val="000000"/>
                </a:solidFill>
                <a:latin typeface="Rokkitt"/>
                <a:ea typeface="Rokkitt"/>
                <a:cs typeface="Rokkitt"/>
                <a:sym typeface="Rokkitt"/>
              </a:rPr>
              <a:t>Báo cáo cần làm rõ khi nào doanh nghiệp nên chuyển</a:t>
            </a:r>
            <a:r>
              <a:rPr lang="en-US" sz="3574" strike="noStrike" u="none">
                <a:solidFill>
                  <a:srgbClr val="000000"/>
                </a:solidFill>
                <a:latin typeface="Rokkitt"/>
                <a:ea typeface="Rokkitt"/>
                <a:cs typeface="Rokkitt"/>
                <a:sym typeface="Rokkitt"/>
              </a:rPr>
              <a:t> từ Prompting sang Fine-tuning dựa trên các tiêu chí sau:</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Tối ưu hóa chi phí (Cost Efficiency): Fine-tuning cho phép sử dụng các mô hình nhỏ hơn (như GPT-4o mini) để đạt hiệu suất tương đương mô hình lớn, đồng thời tiết kiệm token vì không cần đưa nhiều ví dụ vào Prompt .</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Độ chính xác và Nhất quán: Mô hình được tinh chỉnh có khả năng tuân thủ định dạ</a:t>
            </a:r>
            <a:r>
              <a:rPr lang="en-US" sz="3574" strike="noStrike" u="none">
                <a:solidFill>
                  <a:srgbClr val="000000"/>
                </a:solidFill>
                <a:latin typeface="Rokkitt"/>
                <a:ea typeface="Rokkitt"/>
                <a:cs typeface="Rokkitt"/>
                <a:sym typeface="Rokkitt"/>
              </a:rPr>
              <a:t>ng phản hồi (như JSON) và phong cách viết code chuyên biệt một cách tuyệt đối, giảm thiểu sai sót so với việc chỉ dùng lệnh văn bản .</a:t>
            </a:r>
          </a:p>
          <a:p>
            <a:pPr algn="l" marL="771757" indent="-385879" lvl="1">
              <a:lnSpc>
                <a:spcPts val="5004"/>
              </a:lnSpc>
              <a:buFont typeface="Arial"/>
              <a:buChar char="•"/>
            </a:pPr>
            <a:r>
              <a:rPr lang="en-US" sz="3574" strike="noStrike" u="none">
                <a:solidFill>
                  <a:srgbClr val="000000"/>
                </a:solidFill>
                <a:latin typeface="Rokkitt"/>
                <a:ea typeface="Rokkitt"/>
                <a:cs typeface="Rokkitt"/>
                <a:sym typeface="Rokkitt"/>
              </a:rPr>
              <a:t>Vượt qua giới hạn ngữ cảnh: Giải quyết các tác vụ phức tạp mà số lượng ví dụ mẫu (Few-shot) vượt quá giới hạn cửa sổ ngữ cảnh (Context Window) của mô hình .</a:t>
            </a:r>
          </a:p>
          <a:p>
            <a:pPr algn="l">
              <a:lnSpc>
                <a:spcPts val="5004"/>
              </a:lnSpc>
            </a:pPr>
          </a:p>
        </p:txBody>
      </p:sp>
    </p:spTree>
  </p:cSld>
  <p:clrMapOvr>
    <a:masterClrMapping/>
  </p:clrMapOvr>
</p:sld>
</file>

<file path=ppt/slides/slide4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63411" y="2229124"/>
            <a:ext cx="17508282" cy="2175364"/>
            <a:chOff x="0" y="0"/>
            <a:chExt cx="23344375" cy="2900485"/>
          </a:xfrm>
        </p:grpSpPr>
        <p:grpSp>
          <p:nvGrpSpPr>
            <p:cNvPr name="Group 3" id="3"/>
            <p:cNvGrpSpPr/>
            <p:nvPr/>
          </p:nvGrpSpPr>
          <p:grpSpPr>
            <a:xfrm rot="0">
              <a:off x="308389" y="0"/>
              <a:ext cx="23035986" cy="1563036"/>
              <a:chOff x="0" y="0"/>
              <a:chExt cx="1343597" cy="91166"/>
            </a:xfrm>
          </p:grpSpPr>
          <p:sp>
            <p:nvSpPr>
              <p:cNvPr name="Freeform 4" id="4"/>
              <p:cNvSpPr/>
              <p:nvPr/>
            </p:nvSpPr>
            <p:spPr>
              <a:xfrm flipH="false" flipV="false" rot="0">
                <a:off x="0" y="0"/>
                <a:ext cx="1343597" cy="91166"/>
              </a:xfrm>
              <a:custGeom>
                <a:avLst/>
                <a:gdLst/>
                <a:ahLst/>
                <a:cxnLst/>
                <a:rect r="r" b="b" t="t" l="l"/>
                <a:pathLst>
                  <a:path h="91166" w="1343597">
                    <a:moveTo>
                      <a:pt x="0" y="0"/>
                    </a:moveTo>
                    <a:lnTo>
                      <a:pt x="1343597" y="0"/>
                    </a:lnTo>
                    <a:lnTo>
                      <a:pt x="1343597" y="91166"/>
                    </a:lnTo>
                    <a:lnTo>
                      <a:pt x="0" y="91166"/>
                    </a:lnTo>
                    <a:close/>
                  </a:path>
                </a:pathLst>
              </a:custGeom>
              <a:solidFill>
                <a:srgbClr val="FFFFFF"/>
              </a:solidFill>
              <a:ln w="28575" cap="sq">
                <a:solidFill>
                  <a:srgbClr val="000000"/>
                </a:solidFill>
                <a:prstDash val="solid"/>
                <a:miter/>
              </a:ln>
            </p:spPr>
          </p:sp>
          <p:sp>
            <p:nvSpPr>
              <p:cNvPr name="TextBox 5" id="5"/>
              <p:cNvSpPr txBox="true"/>
              <p:nvPr/>
            </p:nvSpPr>
            <p:spPr>
              <a:xfrm>
                <a:off x="0" y="-57150"/>
                <a:ext cx="1343597" cy="148316"/>
              </a:xfrm>
              <a:prstGeom prst="rect">
                <a:avLst/>
              </a:prstGeom>
            </p:spPr>
            <p:txBody>
              <a:bodyPr anchor="ctr" rtlCol="false" tIns="50800" lIns="50800" bIns="50800" rIns="50800"/>
              <a:lstStyle/>
              <a:p>
                <a:pPr algn="ctr">
                  <a:lnSpc>
                    <a:spcPts val="2926"/>
                  </a:lnSpc>
                </a:pPr>
              </a:p>
            </p:txBody>
          </p:sp>
        </p:grpSp>
        <p:sp>
          <p:nvSpPr>
            <p:cNvPr name="TextBox 6" id="6"/>
            <p:cNvSpPr txBox="true"/>
            <p:nvPr/>
          </p:nvSpPr>
          <p:spPr>
            <a:xfrm rot="0">
              <a:off x="0" y="63661"/>
              <a:ext cx="23344375" cy="2836825"/>
            </a:xfrm>
            <a:prstGeom prst="rect">
              <a:avLst/>
            </a:prstGeom>
          </p:spPr>
          <p:txBody>
            <a:bodyPr anchor="t" rtlCol="false" tIns="0" lIns="0" bIns="0" rIns="0">
              <a:spAutoFit/>
            </a:bodyPr>
            <a:lstStyle/>
            <a:p>
              <a:pPr algn="ctr">
                <a:lnSpc>
                  <a:spcPts val="8727"/>
                </a:lnSpc>
              </a:pPr>
              <a:r>
                <a:rPr lang="en-US" sz="5936" b="true">
                  <a:solidFill>
                    <a:srgbClr val="000000"/>
                  </a:solidFill>
                  <a:latin typeface="Tomorrow Bold"/>
                  <a:ea typeface="Tomorrow Bold"/>
                  <a:cs typeface="Tomorrow Bold"/>
                  <a:sym typeface="Tomorrow Bold"/>
                </a:rPr>
                <a:t>11.4. Các lưu ý về Quản trị rủi ro</a:t>
              </a:r>
            </a:p>
            <a:p>
              <a:pPr algn="ctr">
                <a:lnSpc>
                  <a:spcPts val="8727"/>
                </a:lnSpc>
              </a:pPr>
            </a:p>
          </p:txBody>
        </p:sp>
      </p:grpSp>
      <p:sp>
        <p:nvSpPr>
          <p:cNvPr name="TextBox 7" id="7"/>
          <p:cNvSpPr txBox="true"/>
          <p:nvPr/>
        </p:nvSpPr>
        <p:spPr>
          <a:xfrm rot="0">
            <a:off x="359217" y="3580478"/>
            <a:ext cx="17569567" cy="5014396"/>
          </a:xfrm>
          <a:prstGeom prst="rect">
            <a:avLst/>
          </a:prstGeom>
        </p:spPr>
        <p:txBody>
          <a:bodyPr anchor="t" rtlCol="false" tIns="0" lIns="0" bIns="0" rIns="0">
            <a:spAutoFit/>
          </a:bodyPr>
          <a:lstStyle/>
          <a:p>
            <a:pPr algn="l" marL="771757" indent="-385879" lvl="1">
              <a:lnSpc>
                <a:spcPts val="5004"/>
              </a:lnSpc>
              <a:spcBef>
                <a:spcPct val="0"/>
              </a:spcBef>
              <a:buFont typeface="Arial"/>
              <a:buChar char="•"/>
            </a:pPr>
            <a:r>
              <a:rPr lang="en-US" sz="3574">
                <a:solidFill>
                  <a:srgbClr val="000000"/>
                </a:solidFill>
                <a:latin typeface="Rokkitt"/>
                <a:ea typeface="Rokkitt"/>
                <a:cs typeface="Rokkitt"/>
                <a:sym typeface="Rokkitt"/>
              </a:rPr>
              <a:t>Bảo mật dữ liệu: Dữ liệu dùng để tinh chỉnh được bảo mật trong tài khoản OpenAI của doanh nghiệp và không</a:t>
            </a:r>
            <a:r>
              <a:rPr lang="en-US" sz="3574" strike="noStrike" u="none">
                <a:solidFill>
                  <a:srgbClr val="000000"/>
                </a:solidFill>
                <a:latin typeface="Rokkitt"/>
                <a:ea typeface="Rokkitt"/>
                <a:cs typeface="Rokkitt"/>
                <a:sym typeface="Rokkitt"/>
              </a:rPr>
              <a:t> được dùng để huấn luyện các mô hình công khai khác .</a:t>
            </a:r>
          </a:p>
          <a:p>
            <a:pPr algn="l" marL="771757" indent="-385879" lvl="1">
              <a:lnSpc>
                <a:spcPts val="5004"/>
              </a:lnSpc>
              <a:spcBef>
                <a:spcPct val="0"/>
              </a:spcBef>
              <a:buFont typeface="Arial"/>
              <a:buChar char="•"/>
            </a:pPr>
            <a:r>
              <a:rPr lang="en-US" sz="3574" strike="noStrike" u="none">
                <a:solidFill>
                  <a:srgbClr val="000000"/>
                </a:solidFill>
                <a:latin typeface="Rokkitt"/>
                <a:ea typeface="Rokkitt"/>
                <a:cs typeface="Rokkitt"/>
                <a:sym typeface="Rokkitt"/>
              </a:rPr>
              <a:t>Chi phí duy trì: Fine-tuning đòi hỏi chi phí huấn luyện ban đầu và chi phí gọi API cho mô hình tùy chỉnh thường cao hơn so với mô hình cơ sở .</a:t>
            </a:r>
          </a:p>
          <a:p>
            <a:pPr algn="l">
              <a:lnSpc>
                <a:spcPts val="5004"/>
              </a:lnSpc>
            </a:pPr>
            <a:r>
              <a:rPr lang="en-US" sz="3574" strike="noStrike" u="none">
                <a:solidFill>
                  <a:srgbClr val="000000"/>
                </a:solidFill>
                <a:latin typeface="Rokkitt"/>
                <a:ea typeface="Rokkitt"/>
                <a:cs typeface="Rokkitt"/>
                <a:sym typeface="Rokkitt"/>
              </a:rPr>
              <a:t>Fine-tuning là bước tiến tất yếu khi doanh </a:t>
            </a:r>
            <a:r>
              <a:rPr lang="en-US" sz="3574" strike="noStrike" u="none">
                <a:solidFill>
                  <a:srgbClr val="000000"/>
                </a:solidFill>
                <a:latin typeface="Rokkitt"/>
                <a:ea typeface="Rokkitt"/>
                <a:cs typeface="Rokkitt"/>
                <a:sym typeface="Rokkitt"/>
              </a:rPr>
              <a:t>nghiệp muốn xây dựng các công cụ AI có tính cá nhân hóa cao và tối ưu chi phí vận hành lâu dài. Nó biến AI từ một "người trợ lý tổng quát" thành một "chuyên gia nội bộ" am hiểu sâu sắc quy trình và tiêu chuẩn của tổ chức.</a:t>
            </a:r>
          </a:p>
          <a:p>
            <a:pPr algn="l">
              <a:lnSpc>
                <a:spcPts val="5004"/>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DAHEY0AfksE</dc:identifier>
  <dcterms:modified xsi:type="dcterms:W3CDTF">2011-08-01T06:04:30Z</dcterms:modified>
  <cp:revision>1</cp:revision>
  <dc:title>GENAI</dc:title>
</cp:coreProperties>
</file>